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7" r:id="rId3"/>
    <p:sldId id="258" r:id="rId4"/>
    <p:sldId id="259" r:id="rId5"/>
    <p:sldId id="260" r:id="rId6"/>
    <p:sldId id="277" r:id="rId7"/>
    <p:sldId id="261" r:id="rId8"/>
    <p:sldId id="262" r:id="rId9"/>
    <p:sldId id="276" r:id="rId10"/>
    <p:sldId id="264" r:id="rId11"/>
    <p:sldId id="265" r:id="rId12"/>
    <p:sldId id="269" r:id="rId13"/>
    <p:sldId id="266" r:id="rId14"/>
    <p:sldId id="267" r:id="rId15"/>
    <p:sldId id="268" r:id="rId16"/>
    <p:sldId id="270" r:id="rId17"/>
    <p:sldId id="271" r:id="rId18"/>
    <p:sldId id="273" r:id="rId19"/>
    <p:sldId id="272" r:id="rId20"/>
    <p:sldId id="274" r:id="rId21"/>
    <p:sldId id="27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6" autoAdjust="0"/>
    <p:restoredTop sz="72987" autoAdjust="0"/>
  </p:normalViewPr>
  <p:slideViewPr>
    <p:cSldViewPr snapToGrid="0">
      <p:cViewPr varScale="1">
        <p:scale>
          <a:sx n="75" d="100"/>
          <a:sy n="75" d="100"/>
        </p:scale>
        <p:origin x="1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198CC9A-5F13-4662-846C-D14F1B339C0F}"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E6900A67-43CC-4BC2-9289-541A2EB5164C}">
      <dgm:prSet/>
      <dgm:spPr/>
      <dgm:t>
        <a:bodyPr/>
        <a:lstStyle/>
        <a:p>
          <a:r>
            <a:rPr lang="en-US"/>
            <a:t>Movie Production companies</a:t>
          </a:r>
        </a:p>
      </dgm:t>
    </dgm:pt>
    <dgm:pt modelId="{6A2BE924-8885-4495-8C48-8DB702770ECA}" type="parTrans" cxnId="{BA40AB95-7637-4D42-BAF2-11634BAED32B}">
      <dgm:prSet/>
      <dgm:spPr/>
      <dgm:t>
        <a:bodyPr/>
        <a:lstStyle/>
        <a:p>
          <a:endParaRPr lang="en-US"/>
        </a:p>
      </dgm:t>
    </dgm:pt>
    <dgm:pt modelId="{C33FB3D3-F917-4081-B9C7-4259E3DDDFE0}" type="sibTrans" cxnId="{BA40AB95-7637-4D42-BAF2-11634BAED32B}">
      <dgm:prSet/>
      <dgm:spPr/>
      <dgm:t>
        <a:bodyPr/>
        <a:lstStyle/>
        <a:p>
          <a:endParaRPr lang="en-US"/>
        </a:p>
      </dgm:t>
    </dgm:pt>
    <dgm:pt modelId="{E6F047E7-6C48-44FC-AB02-3495512D0DD1}">
      <dgm:prSet/>
      <dgm:spPr/>
      <dgm:t>
        <a:bodyPr/>
        <a:lstStyle/>
        <a:p>
          <a:r>
            <a:rPr lang="en-US"/>
            <a:t>Actors</a:t>
          </a:r>
        </a:p>
      </dgm:t>
    </dgm:pt>
    <dgm:pt modelId="{B2CB8F88-F575-49CB-A754-55EABEE7EDF2}" type="parTrans" cxnId="{5DE7F146-FB44-4926-B0E7-AB44B382EB27}">
      <dgm:prSet/>
      <dgm:spPr/>
      <dgm:t>
        <a:bodyPr/>
        <a:lstStyle/>
        <a:p>
          <a:endParaRPr lang="en-US"/>
        </a:p>
      </dgm:t>
    </dgm:pt>
    <dgm:pt modelId="{EBAC7BF5-A42E-4055-8A00-4E92EB7F04E3}" type="sibTrans" cxnId="{5DE7F146-FB44-4926-B0E7-AB44B382EB27}">
      <dgm:prSet/>
      <dgm:spPr/>
      <dgm:t>
        <a:bodyPr/>
        <a:lstStyle/>
        <a:p>
          <a:endParaRPr lang="en-US"/>
        </a:p>
      </dgm:t>
    </dgm:pt>
    <dgm:pt modelId="{533D288E-9884-45AC-B266-F7C8CFC29527}">
      <dgm:prSet/>
      <dgm:spPr/>
      <dgm:t>
        <a:bodyPr/>
        <a:lstStyle/>
        <a:p>
          <a:r>
            <a:rPr lang="en-US"/>
            <a:t>Theaters</a:t>
          </a:r>
        </a:p>
      </dgm:t>
    </dgm:pt>
    <dgm:pt modelId="{57502121-2B72-426C-A0DC-8E1115C74786}" type="parTrans" cxnId="{DE27896A-C7F6-4CA3-87E8-373661E5E961}">
      <dgm:prSet/>
      <dgm:spPr/>
      <dgm:t>
        <a:bodyPr/>
        <a:lstStyle/>
        <a:p>
          <a:endParaRPr lang="en-US"/>
        </a:p>
      </dgm:t>
    </dgm:pt>
    <dgm:pt modelId="{7A5F0A60-7812-4B89-8F24-51E728121FE8}" type="sibTrans" cxnId="{DE27896A-C7F6-4CA3-87E8-373661E5E961}">
      <dgm:prSet/>
      <dgm:spPr/>
      <dgm:t>
        <a:bodyPr/>
        <a:lstStyle/>
        <a:p>
          <a:endParaRPr lang="en-US"/>
        </a:p>
      </dgm:t>
    </dgm:pt>
    <dgm:pt modelId="{59C10359-0C3A-4305-8C08-30FD5EE6125F}" type="pres">
      <dgm:prSet presAssocID="{4198CC9A-5F13-4662-846C-D14F1B339C0F}" presName="hierChild1" presStyleCnt="0">
        <dgm:presLayoutVars>
          <dgm:chPref val="1"/>
          <dgm:dir/>
          <dgm:animOne val="branch"/>
          <dgm:animLvl val="lvl"/>
          <dgm:resizeHandles/>
        </dgm:presLayoutVars>
      </dgm:prSet>
      <dgm:spPr/>
    </dgm:pt>
    <dgm:pt modelId="{22845870-4F8E-4FAF-9A59-727A2BD8F100}" type="pres">
      <dgm:prSet presAssocID="{E6900A67-43CC-4BC2-9289-541A2EB5164C}" presName="hierRoot1" presStyleCnt="0"/>
      <dgm:spPr/>
    </dgm:pt>
    <dgm:pt modelId="{01CE1471-F2AE-47F0-80BF-536D09618905}" type="pres">
      <dgm:prSet presAssocID="{E6900A67-43CC-4BC2-9289-541A2EB5164C}" presName="composite" presStyleCnt="0"/>
      <dgm:spPr/>
    </dgm:pt>
    <dgm:pt modelId="{FC26570D-7042-47D0-9D96-28F3C0EAF513}" type="pres">
      <dgm:prSet presAssocID="{E6900A67-43CC-4BC2-9289-541A2EB5164C}" presName="background" presStyleLbl="node0" presStyleIdx="0" presStyleCnt="3"/>
      <dgm:spPr/>
    </dgm:pt>
    <dgm:pt modelId="{9F3C81B8-9521-463E-921B-0A30664A5031}" type="pres">
      <dgm:prSet presAssocID="{E6900A67-43CC-4BC2-9289-541A2EB5164C}" presName="text" presStyleLbl="fgAcc0" presStyleIdx="0" presStyleCnt="3">
        <dgm:presLayoutVars>
          <dgm:chPref val="3"/>
        </dgm:presLayoutVars>
      </dgm:prSet>
      <dgm:spPr/>
    </dgm:pt>
    <dgm:pt modelId="{E9E4AD34-8185-4B78-A23C-B98C8058530E}" type="pres">
      <dgm:prSet presAssocID="{E6900A67-43CC-4BC2-9289-541A2EB5164C}" presName="hierChild2" presStyleCnt="0"/>
      <dgm:spPr/>
    </dgm:pt>
    <dgm:pt modelId="{BAE0AAE0-BEC1-439C-83A6-EAF6ABE12C0B}" type="pres">
      <dgm:prSet presAssocID="{E6F047E7-6C48-44FC-AB02-3495512D0DD1}" presName="hierRoot1" presStyleCnt="0"/>
      <dgm:spPr/>
    </dgm:pt>
    <dgm:pt modelId="{93CEB525-535B-4C3E-8C6F-D6C88AC2D9E5}" type="pres">
      <dgm:prSet presAssocID="{E6F047E7-6C48-44FC-AB02-3495512D0DD1}" presName="composite" presStyleCnt="0"/>
      <dgm:spPr/>
    </dgm:pt>
    <dgm:pt modelId="{75CB367A-28E8-4BE3-A687-171980557A16}" type="pres">
      <dgm:prSet presAssocID="{E6F047E7-6C48-44FC-AB02-3495512D0DD1}" presName="background" presStyleLbl="node0" presStyleIdx="1" presStyleCnt="3"/>
      <dgm:spPr/>
    </dgm:pt>
    <dgm:pt modelId="{4D29EB75-0429-4792-AD7C-CF0AFA00D29B}" type="pres">
      <dgm:prSet presAssocID="{E6F047E7-6C48-44FC-AB02-3495512D0DD1}" presName="text" presStyleLbl="fgAcc0" presStyleIdx="1" presStyleCnt="3">
        <dgm:presLayoutVars>
          <dgm:chPref val="3"/>
        </dgm:presLayoutVars>
      </dgm:prSet>
      <dgm:spPr/>
    </dgm:pt>
    <dgm:pt modelId="{D6790AC5-F66E-419B-A48B-7626319AE4EC}" type="pres">
      <dgm:prSet presAssocID="{E6F047E7-6C48-44FC-AB02-3495512D0DD1}" presName="hierChild2" presStyleCnt="0"/>
      <dgm:spPr/>
    </dgm:pt>
    <dgm:pt modelId="{7F67EAF8-4334-49C7-8747-D0B94A99AB8D}" type="pres">
      <dgm:prSet presAssocID="{533D288E-9884-45AC-B266-F7C8CFC29527}" presName="hierRoot1" presStyleCnt="0"/>
      <dgm:spPr/>
    </dgm:pt>
    <dgm:pt modelId="{B94EB18D-EBC7-4353-9A39-C6D2C5D21EA6}" type="pres">
      <dgm:prSet presAssocID="{533D288E-9884-45AC-B266-F7C8CFC29527}" presName="composite" presStyleCnt="0"/>
      <dgm:spPr/>
    </dgm:pt>
    <dgm:pt modelId="{5D5B27B6-94C8-4572-8989-924758C8A3D1}" type="pres">
      <dgm:prSet presAssocID="{533D288E-9884-45AC-B266-F7C8CFC29527}" presName="background" presStyleLbl="node0" presStyleIdx="2" presStyleCnt="3"/>
      <dgm:spPr/>
    </dgm:pt>
    <dgm:pt modelId="{B1AECC41-86AB-4F2E-8192-B8959098268A}" type="pres">
      <dgm:prSet presAssocID="{533D288E-9884-45AC-B266-F7C8CFC29527}" presName="text" presStyleLbl="fgAcc0" presStyleIdx="2" presStyleCnt="3">
        <dgm:presLayoutVars>
          <dgm:chPref val="3"/>
        </dgm:presLayoutVars>
      </dgm:prSet>
      <dgm:spPr/>
    </dgm:pt>
    <dgm:pt modelId="{90804621-6AFE-47C4-855B-47ACFAD4D141}" type="pres">
      <dgm:prSet presAssocID="{533D288E-9884-45AC-B266-F7C8CFC29527}" presName="hierChild2" presStyleCnt="0"/>
      <dgm:spPr/>
    </dgm:pt>
  </dgm:ptLst>
  <dgm:cxnLst>
    <dgm:cxn modelId="{5DE7F146-FB44-4926-B0E7-AB44B382EB27}" srcId="{4198CC9A-5F13-4662-846C-D14F1B339C0F}" destId="{E6F047E7-6C48-44FC-AB02-3495512D0DD1}" srcOrd="1" destOrd="0" parTransId="{B2CB8F88-F575-49CB-A754-55EABEE7EDF2}" sibTransId="{EBAC7BF5-A42E-4055-8A00-4E92EB7F04E3}"/>
    <dgm:cxn modelId="{DE27896A-C7F6-4CA3-87E8-373661E5E961}" srcId="{4198CC9A-5F13-4662-846C-D14F1B339C0F}" destId="{533D288E-9884-45AC-B266-F7C8CFC29527}" srcOrd="2" destOrd="0" parTransId="{57502121-2B72-426C-A0DC-8E1115C74786}" sibTransId="{7A5F0A60-7812-4B89-8F24-51E728121FE8}"/>
    <dgm:cxn modelId="{7E631572-77D9-435D-903E-84843915043F}" type="presOf" srcId="{E6900A67-43CC-4BC2-9289-541A2EB5164C}" destId="{9F3C81B8-9521-463E-921B-0A30664A5031}" srcOrd="0" destOrd="0" presId="urn:microsoft.com/office/officeart/2005/8/layout/hierarchy1"/>
    <dgm:cxn modelId="{489A3774-BC88-46C4-8B94-192039FF7F16}" type="presOf" srcId="{4198CC9A-5F13-4662-846C-D14F1B339C0F}" destId="{59C10359-0C3A-4305-8C08-30FD5EE6125F}" srcOrd="0" destOrd="0" presId="urn:microsoft.com/office/officeart/2005/8/layout/hierarchy1"/>
    <dgm:cxn modelId="{BA40AB95-7637-4D42-BAF2-11634BAED32B}" srcId="{4198CC9A-5F13-4662-846C-D14F1B339C0F}" destId="{E6900A67-43CC-4BC2-9289-541A2EB5164C}" srcOrd="0" destOrd="0" parTransId="{6A2BE924-8885-4495-8C48-8DB702770ECA}" sibTransId="{C33FB3D3-F917-4081-B9C7-4259E3DDDFE0}"/>
    <dgm:cxn modelId="{42A9B6D1-10C9-4728-B1A8-9F9FFC7E880F}" type="presOf" srcId="{533D288E-9884-45AC-B266-F7C8CFC29527}" destId="{B1AECC41-86AB-4F2E-8192-B8959098268A}" srcOrd="0" destOrd="0" presId="urn:microsoft.com/office/officeart/2005/8/layout/hierarchy1"/>
    <dgm:cxn modelId="{443CD0FF-1FAD-4EFB-BA8E-2C0B9CD3F7FB}" type="presOf" srcId="{E6F047E7-6C48-44FC-AB02-3495512D0DD1}" destId="{4D29EB75-0429-4792-AD7C-CF0AFA00D29B}" srcOrd="0" destOrd="0" presId="urn:microsoft.com/office/officeart/2005/8/layout/hierarchy1"/>
    <dgm:cxn modelId="{77B98FD3-CFE4-4B62-A2EB-E12157FB6CAF}" type="presParOf" srcId="{59C10359-0C3A-4305-8C08-30FD5EE6125F}" destId="{22845870-4F8E-4FAF-9A59-727A2BD8F100}" srcOrd="0" destOrd="0" presId="urn:microsoft.com/office/officeart/2005/8/layout/hierarchy1"/>
    <dgm:cxn modelId="{FD46CE25-2A94-411B-8F6C-C45513BD5A05}" type="presParOf" srcId="{22845870-4F8E-4FAF-9A59-727A2BD8F100}" destId="{01CE1471-F2AE-47F0-80BF-536D09618905}" srcOrd="0" destOrd="0" presId="urn:microsoft.com/office/officeart/2005/8/layout/hierarchy1"/>
    <dgm:cxn modelId="{2CAC4541-4D7F-497F-9B9D-6EB3F77D795D}" type="presParOf" srcId="{01CE1471-F2AE-47F0-80BF-536D09618905}" destId="{FC26570D-7042-47D0-9D96-28F3C0EAF513}" srcOrd="0" destOrd="0" presId="urn:microsoft.com/office/officeart/2005/8/layout/hierarchy1"/>
    <dgm:cxn modelId="{A4C48628-0067-46AE-82E7-7E2BAFA9F935}" type="presParOf" srcId="{01CE1471-F2AE-47F0-80BF-536D09618905}" destId="{9F3C81B8-9521-463E-921B-0A30664A5031}" srcOrd="1" destOrd="0" presId="urn:microsoft.com/office/officeart/2005/8/layout/hierarchy1"/>
    <dgm:cxn modelId="{870ED044-6A82-4C31-AB8C-AB81AF40B520}" type="presParOf" srcId="{22845870-4F8E-4FAF-9A59-727A2BD8F100}" destId="{E9E4AD34-8185-4B78-A23C-B98C8058530E}" srcOrd="1" destOrd="0" presId="urn:microsoft.com/office/officeart/2005/8/layout/hierarchy1"/>
    <dgm:cxn modelId="{F6600523-CC2F-4B48-90FC-06CEF544ED5A}" type="presParOf" srcId="{59C10359-0C3A-4305-8C08-30FD5EE6125F}" destId="{BAE0AAE0-BEC1-439C-83A6-EAF6ABE12C0B}" srcOrd="1" destOrd="0" presId="urn:microsoft.com/office/officeart/2005/8/layout/hierarchy1"/>
    <dgm:cxn modelId="{3E9F1C46-4B36-4F1A-8642-7070BC5A23AF}" type="presParOf" srcId="{BAE0AAE0-BEC1-439C-83A6-EAF6ABE12C0B}" destId="{93CEB525-535B-4C3E-8C6F-D6C88AC2D9E5}" srcOrd="0" destOrd="0" presId="urn:microsoft.com/office/officeart/2005/8/layout/hierarchy1"/>
    <dgm:cxn modelId="{0EB75896-B730-403E-8DD2-960DC8312F0F}" type="presParOf" srcId="{93CEB525-535B-4C3E-8C6F-D6C88AC2D9E5}" destId="{75CB367A-28E8-4BE3-A687-171980557A16}" srcOrd="0" destOrd="0" presId="urn:microsoft.com/office/officeart/2005/8/layout/hierarchy1"/>
    <dgm:cxn modelId="{A1E43AA1-F3BE-447B-A3A1-1C9F71963399}" type="presParOf" srcId="{93CEB525-535B-4C3E-8C6F-D6C88AC2D9E5}" destId="{4D29EB75-0429-4792-AD7C-CF0AFA00D29B}" srcOrd="1" destOrd="0" presId="urn:microsoft.com/office/officeart/2005/8/layout/hierarchy1"/>
    <dgm:cxn modelId="{65551792-E142-4C10-B0AE-19B2833285F9}" type="presParOf" srcId="{BAE0AAE0-BEC1-439C-83A6-EAF6ABE12C0B}" destId="{D6790AC5-F66E-419B-A48B-7626319AE4EC}" srcOrd="1" destOrd="0" presId="urn:microsoft.com/office/officeart/2005/8/layout/hierarchy1"/>
    <dgm:cxn modelId="{B8D23F95-75D3-4593-AE0E-9E94A1F5D2AB}" type="presParOf" srcId="{59C10359-0C3A-4305-8C08-30FD5EE6125F}" destId="{7F67EAF8-4334-49C7-8747-D0B94A99AB8D}" srcOrd="2" destOrd="0" presId="urn:microsoft.com/office/officeart/2005/8/layout/hierarchy1"/>
    <dgm:cxn modelId="{55433438-6FD5-4ECE-BAE5-8EFF29AB63F2}" type="presParOf" srcId="{7F67EAF8-4334-49C7-8747-D0B94A99AB8D}" destId="{B94EB18D-EBC7-4353-9A39-C6D2C5D21EA6}" srcOrd="0" destOrd="0" presId="urn:microsoft.com/office/officeart/2005/8/layout/hierarchy1"/>
    <dgm:cxn modelId="{E73BD4AB-95FF-4276-914F-DB0D6286A88D}" type="presParOf" srcId="{B94EB18D-EBC7-4353-9A39-C6D2C5D21EA6}" destId="{5D5B27B6-94C8-4572-8989-924758C8A3D1}" srcOrd="0" destOrd="0" presId="urn:microsoft.com/office/officeart/2005/8/layout/hierarchy1"/>
    <dgm:cxn modelId="{03375032-DC30-4914-848F-A7F2B11C52C7}" type="presParOf" srcId="{B94EB18D-EBC7-4353-9A39-C6D2C5D21EA6}" destId="{B1AECC41-86AB-4F2E-8192-B8959098268A}" srcOrd="1" destOrd="0" presId="urn:microsoft.com/office/officeart/2005/8/layout/hierarchy1"/>
    <dgm:cxn modelId="{13327DFB-72E5-4EB2-8C86-651394D4CE33}" type="presParOf" srcId="{7F67EAF8-4334-49C7-8747-D0B94A99AB8D}" destId="{90804621-6AFE-47C4-855B-47ACFAD4D14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9EEC0E-1B3E-41F7-A9B8-4D4F8CE730A8}" type="doc">
      <dgm:prSet loTypeId="urn:microsoft.com/office/officeart/2016/7/layout/RepeatingBendingProcessNew" loCatId="process" qsTypeId="urn:microsoft.com/office/officeart/2005/8/quickstyle/simple1" qsCatId="simple" csTypeId="urn:microsoft.com/office/officeart/2005/8/colors/colorful1" csCatId="colorful" phldr="1"/>
      <dgm:spPr/>
      <dgm:t>
        <a:bodyPr/>
        <a:lstStyle/>
        <a:p>
          <a:endParaRPr lang="en-US"/>
        </a:p>
      </dgm:t>
    </dgm:pt>
    <dgm:pt modelId="{4849A061-BA66-476F-8F12-E6FCF189089D}">
      <dgm:prSet/>
      <dgm:spPr/>
      <dgm:t>
        <a:bodyPr/>
        <a:lstStyle/>
        <a:p>
          <a:r>
            <a:rPr lang="en-US"/>
            <a:t>Movie creators want to profit off their movies and many factors influence that</a:t>
          </a:r>
        </a:p>
      </dgm:t>
    </dgm:pt>
    <dgm:pt modelId="{5550B3FE-9477-4147-BA84-EB05404EF17F}" type="parTrans" cxnId="{9632C60F-F152-4762-A0B6-888074BF58A1}">
      <dgm:prSet/>
      <dgm:spPr/>
      <dgm:t>
        <a:bodyPr/>
        <a:lstStyle/>
        <a:p>
          <a:endParaRPr lang="en-US"/>
        </a:p>
      </dgm:t>
    </dgm:pt>
    <dgm:pt modelId="{94FA5C1B-16B2-4304-B233-34468A7D6A97}" type="sibTrans" cxnId="{9632C60F-F152-4762-A0B6-888074BF58A1}">
      <dgm:prSet/>
      <dgm:spPr>
        <a:ln>
          <a:noFill/>
        </a:ln>
      </dgm:spPr>
      <dgm:t>
        <a:bodyPr/>
        <a:lstStyle/>
        <a:p>
          <a:endParaRPr lang="en-US"/>
        </a:p>
      </dgm:t>
    </dgm:pt>
    <dgm:pt modelId="{86D46DE6-2281-4095-BE7C-05E926C129C0}">
      <dgm:prSet/>
      <dgm:spPr/>
      <dgm:t>
        <a:bodyPr/>
        <a:lstStyle/>
        <a:p>
          <a:r>
            <a:rPr lang="en-US" dirty="0"/>
            <a:t>This data set includes</a:t>
          </a:r>
        </a:p>
      </dgm:t>
    </dgm:pt>
    <dgm:pt modelId="{614AD8DF-285E-44DC-AAC4-F9D1ADDF1A96}" type="parTrans" cxnId="{DA453C31-0F87-4028-8A96-5AA75C9A7246}">
      <dgm:prSet/>
      <dgm:spPr/>
      <dgm:t>
        <a:bodyPr/>
        <a:lstStyle/>
        <a:p>
          <a:endParaRPr lang="en-US"/>
        </a:p>
      </dgm:t>
    </dgm:pt>
    <dgm:pt modelId="{76E11B66-1B2B-413D-948F-1D3B2F56815E}" type="sibTrans" cxnId="{DA453C31-0F87-4028-8A96-5AA75C9A7246}">
      <dgm:prSet/>
      <dgm:spPr/>
      <dgm:t>
        <a:bodyPr/>
        <a:lstStyle/>
        <a:p>
          <a:endParaRPr lang="en-US"/>
        </a:p>
      </dgm:t>
    </dgm:pt>
    <dgm:pt modelId="{E4C9F1B7-E927-45BD-8663-4A9725E9AE97}">
      <dgm:prSet/>
      <dgm:spPr/>
      <dgm:t>
        <a:bodyPr/>
        <a:lstStyle/>
        <a:p>
          <a:r>
            <a:rPr lang="en-US" dirty="0"/>
            <a:t>Title</a:t>
          </a:r>
        </a:p>
      </dgm:t>
    </dgm:pt>
    <dgm:pt modelId="{CE7184C8-73F5-41C6-9B19-B0B55060E34F}" type="parTrans" cxnId="{75F15407-1DF3-488D-90E0-6E59E77ACCB7}">
      <dgm:prSet/>
      <dgm:spPr/>
      <dgm:t>
        <a:bodyPr/>
        <a:lstStyle/>
        <a:p>
          <a:endParaRPr lang="en-US"/>
        </a:p>
      </dgm:t>
    </dgm:pt>
    <dgm:pt modelId="{9F7BA586-AF80-4F9F-AF52-7F3BB987FD43}" type="sibTrans" cxnId="{75F15407-1DF3-488D-90E0-6E59E77ACCB7}">
      <dgm:prSet/>
      <dgm:spPr/>
      <dgm:t>
        <a:bodyPr/>
        <a:lstStyle/>
        <a:p>
          <a:endParaRPr lang="en-US"/>
        </a:p>
      </dgm:t>
    </dgm:pt>
    <dgm:pt modelId="{175A3CFF-EC4C-4744-AE1F-2DBC26330EE5}">
      <dgm:prSet/>
      <dgm:spPr/>
      <dgm:t>
        <a:bodyPr/>
        <a:lstStyle/>
        <a:p>
          <a:r>
            <a:rPr lang="en-US" dirty="0"/>
            <a:t>Release dates</a:t>
          </a:r>
        </a:p>
      </dgm:t>
    </dgm:pt>
    <dgm:pt modelId="{48408787-CCD0-4042-BE88-DC9B9E47AC3C}" type="parTrans" cxnId="{7D7DD761-F2A5-49DF-A8A6-5794C7E0E41D}">
      <dgm:prSet/>
      <dgm:spPr/>
      <dgm:t>
        <a:bodyPr/>
        <a:lstStyle/>
        <a:p>
          <a:endParaRPr lang="en-US"/>
        </a:p>
      </dgm:t>
    </dgm:pt>
    <dgm:pt modelId="{D6A03AAA-2A8F-48FD-A153-0EF409ED342B}" type="sibTrans" cxnId="{7D7DD761-F2A5-49DF-A8A6-5794C7E0E41D}">
      <dgm:prSet/>
      <dgm:spPr/>
      <dgm:t>
        <a:bodyPr/>
        <a:lstStyle/>
        <a:p>
          <a:endParaRPr lang="en-US"/>
        </a:p>
      </dgm:t>
    </dgm:pt>
    <dgm:pt modelId="{B2EB3A97-B33D-4111-B5DC-B20D3F216C38}">
      <dgm:prSet/>
      <dgm:spPr/>
      <dgm:t>
        <a:bodyPr/>
        <a:lstStyle/>
        <a:p>
          <a:r>
            <a:rPr lang="en-US" dirty="0"/>
            <a:t>Budget</a:t>
          </a:r>
        </a:p>
      </dgm:t>
    </dgm:pt>
    <dgm:pt modelId="{712DEF30-821B-4DDD-9ACB-CFDE0769A0EE}" type="parTrans" cxnId="{75DEC5A4-A8D6-4302-AEEE-323318C9E8A0}">
      <dgm:prSet/>
      <dgm:spPr/>
      <dgm:t>
        <a:bodyPr/>
        <a:lstStyle/>
        <a:p>
          <a:endParaRPr lang="en-US"/>
        </a:p>
      </dgm:t>
    </dgm:pt>
    <dgm:pt modelId="{EC8C618B-7473-4E0D-8B31-537CF830DA03}" type="sibTrans" cxnId="{75DEC5A4-A8D6-4302-AEEE-323318C9E8A0}">
      <dgm:prSet/>
      <dgm:spPr/>
      <dgm:t>
        <a:bodyPr/>
        <a:lstStyle/>
        <a:p>
          <a:endParaRPr lang="en-US"/>
        </a:p>
      </dgm:t>
    </dgm:pt>
    <dgm:pt modelId="{08530C2B-A5A2-4A22-9095-FE1B4460E2A7}">
      <dgm:prSet/>
      <dgm:spPr/>
      <dgm:t>
        <a:bodyPr/>
        <a:lstStyle/>
        <a:p>
          <a:r>
            <a:rPr lang="en-US"/>
            <a:t>Gross</a:t>
          </a:r>
        </a:p>
      </dgm:t>
    </dgm:pt>
    <dgm:pt modelId="{B12C5DFE-C57D-4F2B-9A8B-435146102E5D}" type="parTrans" cxnId="{ACBADC0E-9D24-4137-887C-53FFADAA9612}">
      <dgm:prSet/>
      <dgm:spPr/>
      <dgm:t>
        <a:bodyPr/>
        <a:lstStyle/>
        <a:p>
          <a:endParaRPr lang="en-US"/>
        </a:p>
      </dgm:t>
    </dgm:pt>
    <dgm:pt modelId="{0D6DCB87-C36B-4F2D-9F47-63ADDE09BEBE}" type="sibTrans" cxnId="{ACBADC0E-9D24-4137-887C-53FFADAA9612}">
      <dgm:prSet/>
      <dgm:spPr/>
      <dgm:t>
        <a:bodyPr/>
        <a:lstStyle/>
        <a:p>
          <a:endParaRPr lang="en-US"/>
        </a:p>
      </dgm:t>
    </dgm:pt>
    <dgm:pt modelId="{19F8023A-0D93-4340-9726-390416669A19}">
      <dgm:prSet/>
      <dgm:spPr/>
      <dgm:t>
        <a:bodyPr/>
        <a:lstStyle/>
        <a:p>
          <a:r>
            <a:rPr lang="en-US" dirty="0"/>
            <a:t>Genre</a:t>
          </a:r>
        </a:p>
      </dgm:t>
    </dgm:pt>
    <dgm:pt modelId="{DB1FBE45-BD92-4B7A-8F82-C3A60B8DAD42}" type="parTrans" cxnId="{217ED548-F8AF-4870-8782-97109359E8B9}">
      <dgm:prSet/>
      <dgm:spPr/>
      <dgm:t>
        <a:bodyPr/>
        <a:lstStyle/>
        <a:p>
          <a:endParaRPr lang="en-US"/>
        </a:p>
      </dgm:t>
    </dgm:pt>
    <dgm:pt modelId="{546D03B2-247C-4C8A-ACB8-E73814AF7AB1}" type="sibTrans" cxnId="{217ED548-F8AF-4870-8782-97109359E8B9}">
      <dgm:prSet/>
      <dgm:spPr/>
      <dgm:t>
        <a:bodyPr/>
        <a:lstStyle/>
        <a:p>
          <a:endParaRPr lang="en-US"/>
        </a:p>
      </dgm:t>
    </dgm:pt>
    <dgm:pt modelId="{3505D9FF-AA4C-4151-B50B-C0EC0EA65D2D}">
      <dgm:prSet/>
      <dgm:spPr/>
      <dgm:t>
        <a:bodyPr/>
        <a:lstStyle/>
        <a:p>
          <a:r>
            <a:rPr lang="en-US" dirty="0"/>
            <a:t>Runtime</a:t>
          </a:r>
        </a:p>
      </dgm:t>
    </dgm:pt>
    <dgm:pt modelId="{5412CD13-2780-47FF-80DC-4A15C548D9BF}" type="parTrans" cxnId="{B6412CE6-57A0-4B9A-82DE-0F1AB16EC94B}">
      <dgm:prSet/>
      <dgm:spPr/>
      <dgm:t>
        <a:bodyPr/>
        <a:lstStyle/>
        <a:p>
          <a:endParaRPr lang="en-US"/>
        </a:p>
      </dgm:t>
    </dgm:pt>
    <dgm:pt modelId="{D828A3DA-DFCC-4777-B0AA-C42EBAEF6A9F}" type="sibTrans" cxnId="{B6412CE6-57A0-4B9A-82DE-0F1AB16EC94B}">
      <dgm:prSet/>
      <dgm:spPr/>
      <dgm:t>
        <a:bodyPr/>
        <a:lstStyle/>
        <a:p>
          <a:endParaRPr lang="en-US"/>
        </a:p>
      </dgm:t>
    </dgm:pt>
    <dgm:pt modelId="{1E901D22-1EC2-4AA9-B281-2FFFAB233C86}">
      <dgm:prSet/>
      <dgm:spPr/>
      <dgm:t>
        <a:bodyPr/>
        <a:lstStyle/>
        <a:p>
          <a:r>
            <a:rPr lang="en-US"/>
            <a:t>MPAA rating</a:t>
          </a:r>
        </a:p>
      </dgm:t>
    </dgm:pt>
    <dgm:pt modelId="{A69AAA66-07BB-43C7-AAD1-111A19CB8285}" type="parTrans" cxnId="{DDC20EBD-DB20-4896-A732-24AE9DC778C1}">
      <dgm:prSet/>
      <dgm:spPr/>
      <dgm:t>
        <a:bodyPr/>
        <a:lstStyle/>
        <a:p>
          <a:endParaRPr lang="en-US"/>
        </a:p>
      </dgm:t>
    </dgm:pt>
    <dgm:pt modelId="{3D02FB74-53A8-46AD-9452-2D69B535DA0E}" type="sibTrans" cxnId="{DDC20EBD-DB20-4896-A732-24AE9DC778C1}">
      <dgm:prSet/>
      <dgm:spPr/>
      <dgm:t>
        <a:bodyPr/>
        <a:lstStyle/>
        <a:p>
          <a:endParaRPr lang="en-US"/>
        </a:p>
      </dgm:t>
    </dgm:pt>
    <dgm:pt modelId="{3170F78F-48DE-408A-BEBF-82B753F41DB6}">
      <dgm:prSet/>
      <dgm:spPr/>
      <dgm:t>
        <a:bodyPr/>
        <a:lstStyle/>
        <a:p>
          <a:r>
            <a:rPr lang="en-US" dirty="0"/>
            <a:t>Review ratings</a:t>
          </a:r>
        </a:p>
      </dgm:t>
    </dgm:pt>
    <dgm:pt modelId="{D02CE8E6-7941-4991-90E8-8AC6C52F77A6}" type="parTrans" cxnId="{FD079A08-0609-427A-8550-E5490291318B}">
      <dgm:prSet/>
      <dgm:spPr/>
      <dgm:t>
        <a:bodyPr/>
        <a:lstStyle/>
        <a:p>
          <a:endParaRPr lang="en-US"/>
        </a:p>
      </dgm:t>
    </dgm:pt>
    <dgm:pt modelId="{4D0F4DC7-09F7-44C1-A020-76304C390234}" type="sibTrans" cxnId="{FD079A08-0609-427A-8550-E5490291318B}">
      <dgm:prSet/>
      <dgm:spPr/>
      <dgm:t>
        <a:bodyPr/>
        <a:lstStyle/>
        <a:p>
          <a:endParaRPr lang="en-US"/>
        </a:p>
      </dgm:t>
    </dgm:pt>
    <dgm:pt modelId="{27517025-4674-49C6-8DD1-5B427084C318}">
      <dgm:prSet/>
      <dgm:spPr/>
      <dgm:t>
        <a:bodyPr/>
        <a:lstStyle/>
        <a:p>
          <a:r>
            <a:rPr lang="en-US" dirty="0"/>
            <a:t>Number of Reviews</a:t>
          </a:r>
        </a:p>
      </dgm:t>
    </dgm:pt>
    <dgm:pt modelId="{DA7A0248-775B-4B4B-A7B5-182E21E9D016}" type="parTrans" cxnId="{2D850ACA-CDE8-4C32-BC3D-115BEED15573}">
      <dgm:prSet/>
      <dgm:spPr/>
      <dgm:t>
        <a:bodyPr/>
        <a:lstStyle/>
        <a:p>
          <a:endParaRPr lang="en-US"/>
        </a:p>
      </dgm:t>
    </dgm:pt>
    <dgm:pt modelId="{612849B1-DC24-414C-A5C1-4473D8B56A47}" type="sibTrans" cxnId="{2D850ACA-CDE8-4C32-BC3D-115BEED15573}">
      <dgm:prSet/>
      <dgm:spPr/>
      <dgm:t>
        <a:bodyPr/>
        <a:lstStyle/>
        <a:p>
          <a:endParaRPr lang="en-US"/>
        </a:p>
      </dgm:t>
    </dgm:pt>
    <dgm:pt modelId="{EC9C84FA-8A52-4EE9-BEB9-93F21CD250FE}" type="pres">
      <dgm:prSet presAssocID="{D19EEC0E-1B3E-41F7-A9B8-4D4F8CE730A8}" presName="Name0" presStyleCnt="0">
        <dgm:presLayoutVars>
          <dgm:dir/>
          <dgm:resizeHandles val="exact"/>
        </dgm:presLayoutVars>
      </dgm:prSet>
      <dgm:spPr/>
    </dgm:pt>
    <dgm:pt modelId="{D3F47D5E-EE7C-49CB-8BAC-FCB6020F42CC}" type="pres">
      <dgm:prSet presAssocID="{4849A061-BA66-476F-8F12-E6FCF189089D}" presName="node" presStyleLbl="node1" presStyleIdx="0" presStyleCnt="2" custScaleX="149954" custScaleY="170325">
        <dgm:presLayoutVars>
          <dgm:bulletEnabled val="1"/>
        </dgm:presLayoutVars>
      </dgm:prSet>
      <dgm:spPr/>
    </dgm:pt>
    <dgm:pt modelId="{79693676-4CFF-4A67-879D-9A8835A2165D}" type="pres">
      <dgm:prSet presAssocID="{94FA5C1B-16B2-4304-B233-34468A7D6A97}" presName="sibTrans" presStyleLbl="sibTrans1D1" presStyleIdx="0" presStyleCnt="1"/>
      <dgm:spPr/>
    </dgm:pt>
    <dgm:pt modelId="{86B14295-23F1-49EF-8750-04E2318B30B4}" type="pres">
      <dgm:prSet presAssocID="{94FA5C1B-16B2-4304-B233-34468A7D6A97}" presName="connectorText" presStyleLbl="sibTrans1D1" presStyleIdx="0" presStyleCnt="1"/>
      <dgm:spPr/>
    </dgm:pt>
    <dgm:pt modelId="{E845C43E-2F78-45C1-B996-B09453BE4446}" type="pres">
      <dgm:prSet presAssocID="{86D46DE6-2281-4095-BE7C-05E926C129C0}" presName="node" presStyleLbl="node1" presStyleIdx="1" presStyleCnt="2" custScaleX="189913" custScaleY="206601">
        <dgm:presLayoutVars>
          <dgm:bulletEnabled val="1"/>
        </dgm:presLayoutVars>
      </dgm:prSet>
      <dgm:spPr/>
    </dgm:pt>
  </dgm:ptLst>
  <dgm:cxnLst>
    <dgm:cxn modelId="{75F15407-1DF3-488D-90E0-6E59E77ACCB7}" srcId="{86D46DE6-2281-4095-BE7C-05E926C129C0}" destId="{E4C9F1B7-E927-45BD-8663-4A9725E9AE97}" srcOrd="0" destOrd="0" parTransId="{CE7184C8-73F5-41C6-9B19-B0B55060E34F}" sibTransId="{9F7BA586-AF80-4F9F-AF52-7F3BB987FD43}"/>
    <dgm:cxn modelId="{FD079A08-0609-427A-8550-E5490291318B}" srcId="{86D46DE6-2281-4095-BE7C-05E926C129C0}" destId="{3170F78F-48DE-408A-BEBF-82B753F41DB6}" srcOrd="7" destOrd="0" parTransId="{D02CE8E6-7941-4991-90E8-8AC6C52F77A6}" sibTransId="{4D0F4DC7-09F7-44C1-A020-76304C390234}"/>
    <dgm:cxn modelId="{ACBADC0E-9D24-4137-887C-53FFADAA9612}" srcId="{86D46DE6-2281-4095-BE7C-05E926C129C0}" destId="{08530C2B-A5A2-4A22-9095-FE1B4460E2A7}" srcOrd="3" destOrd="0" parTransId="{B12C5DFE-C57D-4F2B-9A8B-435146102E5D}" sibTransId="{0D6DCB87-C36B-4F2D-9F47-63ADDE09BEBE}"/>
    <dgm:cxn modelId="{9632C60F-F152-4762-A0B6-888074BF58A1}" srcId="{D19EEC0E-1B3E-41F7-A9B8-4D4F8CE730A8}" destId="{4849A061-BA66-476F-8F12-E6FCF189089D}" srcOrd="0" destOrd="0" parTransId="{5550B3FE-9477-4147-BA84-EB05404EF17F}" sibTransId="{94FA5C1B-16B2-4304-B233-34468A7D6A97}"/>
    <dgm:cxn modelId="{DA453C31-0F87-4028-8A96-5AA75C9A7246}" srcId="{D19EEC0E-1B3E-41F7-A9B8-4D4F8CE730A8}" destId="{86D46DE6-2281-4095-BE7C-05E926C129C0}" srcOrd="1" destOrd="0" parTransId="{614AD8DF-285E-44DC-AAC4-F9D1ADDF1A96}" sibTransId="{76E11B66-1B2B-413D-948F-1D3B2F56815E}"/>
    <dgm:cxn modelId="{DB588832-7810-4718-9FEF-32D167A1A7FF}" type="presOf" srcId="{19F8023A-0D93-4340-9726-390416669A19}" destId="{E845C43E-2F78-45C1-B996-B09453BE4446}" srcOrd="0" destOrd="5" presId="urn:microsoft.com/office/officeart/2016/7/layout/RepeatingBendingProcessNew"/>
    <dgm:cxn modelId="{880CE35D-7A13-4B3C-A161-9D86B8DBF4F2}" type="presOf" srcId="{175A3CFF-EC4C-4744-AE1F-2DBC26330EE5}" destId="{E845C43E-2F78-45C1-B996-B09453BE4446}" srcOrd="0" destOrd="2" presId="urn:microsoft.com/office/officeart/2016/7/layout/RepeatingBendingProcessNew"/>
    <dgm:cxn modelId="{7D7DD761-F2A5-49DF-A8A6-5794C7E0E41D}" srcId="{86D46DE6-2281-4095-BE7C-05E926C129C0}" destId="{175A3CFF-EC4C-4744-AE1F-2DBC26330EE5}" srcOrd="1" destOrd="0" parTransId="{48408787-CCD0-4042-BE88-DC9B9E47AC3C}" sibTransId="{D6A03AAA-2A8F-48FD-A153-0EF409ED342B}"/>
    <dgm:cxn modelId="{217ED548-F8AF-4870-8782-97109359E8B9}" srcId="{86D46DE6-2281-4095-BE7C-05E926C129C0}" destId="{19F8023A-0D93-4340-9726-390416669A19}" srcOrd="4" destOrd="0" parTransId="{DB1FBE45-BD92-4B7A-8F82-C3A60B8DAD42}" sibTransId="{546D03B2-247C-4C8A-ACB8-E73814AF7AB1}"/>
    <dgm:cxn modelId="{36FD8470-2784-4762-AB6C-BD7D76DD2B6F}" type="presOf" srcId="{3505D9FF-AA4C-4151-B50B-C0EC0EA65D2D}" destId="{E845C43E-2F78-45C1-B996-B09453BE4446}" srcOrd="0" destOrd="6" presId="urn:microsoft.com/office/officeart/2016/7/layout/RepeatingBendingProcessNew"/>
    <dgm:cxn modelId="{67D72A52-905B-4789-BB01-D155497D55A2}" type="presOf" srcId="{E4C9F1B7-E927-45BD-8663-4A9725E9AE97}" destId="{E845C43E-2F78-45C1-B996-B09453BE4446}" srcOrd="0" destOrd="1" presId="urn:microsoft.com/office/officeart/2016/7/layout/RepeatingBendingProcessNew"/>
    <dgm:cxn modelId="{85B61053-B65C-4968-B319-7E235D62112A}" type="presOf" srcId="{94FA5C1B-16B2-4304-B233-34468A7D6A97}" destId="{86B14295-23F1-49EF-8750-04E2318B30B4}" srcOrd="1" destOrd="0" presId="urn:microsoft.com/office/officeart/2016/7/layout/RepeatingBendingProcessNew"/>
    <dgm:cxn modelId="{9840AB7B-52D6-4678-A4E5-F37B488891E2}" type="presOf" srcId="{27517025-4674-49C6-8DD1-5B427084C318}" destId="{E845C43E-2F78-45C1-B996-B09453BE4446}" srcOrd="0" destOrd="9" presId="urn:microsoft.com/office/officeart/2016/7/layout/RepeatingBendingProcessNew"/>
    <dgm:cxn modelId="{902D4494-8EC7-45AC-9E0C-4F88DBC456BB}" type="presOf" srcId="{86D46DE6-2281-4095-BE7C-05E926C129C0}" destId="{E845C43E-2F78-45C1-B996-B09453BE4446}" srcOrd="0" destOrd="0" presId="urn:microsoft.com/office/officeart/2016/7/layout/RepeatingBendingProcessNew"/>
    <dgm:cxn modelId="{75DEC5A4-A8D6-4302-AEEE-323318C9E8A0}" srcId="{86D46DE6-2281-4095-BE7C-05E926C129C0}" destId="{B2EB3A97-B33D-4111-B5DC-B20D3F216C38}" srcOrd="2" destOrd="0" parTransId="{712DEF30-821B-4DDD-9ACB-CFDE0769A0EE}" sibTransId="{EC8C618B-7473-4E0D-8B31-537CF830DA03}"/>
    <dgm:cxn modelId="{B2F2B9B4-B7C6-4716-B490-0D102CB71C96}" type="presOf" srcId="{08530C2B-A5A2-4A22-9095-FE1B4460E2A7}" destId="{E845C43E-2F78-45C1-B996-B09453BE4446}" srcOrd="0" destOrd="4" presId="urn:microsoft.com/office/officeart/2016/7/layout/RepeatingBendingProcessNew"/>
    <dgm:cxn modelId="{6F4E6AB7-7639-4F4D-A5C0-BD11CAC9F8B4}" type="presOf" srcId="{1E901D22-1EC2-4AA9-B281-2FFFAB233C86}" destId="{E845C43E-2F78-45C1-B996-B09453BE4446}" srcOrd="0" destOrd="7" presId="urn:microsoft.com/office/officeart/2016/7/layout/RepeatingBendingProcessNew"/>
    <dgm:cxn modelId="{DDC20EBD-DB20-4896-A732-24AE9DC778C1}" srcId="{86D46DE6-2281-4095-BE7C-05E926C129C0}" destId="{1E901D22-1EC2-4AA9-B281-2FFFAB233C86}" srcOrd="6" destOrd="0" parTransId="{A69AAA66-07BB-43C7-AAD1-111A19CB8285}" sibTransId="{3D02FB74-53A8-46AD-9452-2D69B535DA0E}"/>
    <dgm:cxn modelId="{606905C7-0386-42BF-AFC9-95BD187C6D75}" type="presOf" srcId="{94FA5C1B-16B2-4304-B233-34468A7D6A97}" destId="{79693676-4CFF-4A67-879D-9A8835A2165D}" srcOrd="0" destOrd="0" presId="urn:microsoft.com/office/officeart/2016/7/layout/RepeatingBendingProcessNew"/>
    <dgm:cxn modelId="{2D850ACA-CDE8-4C32-BC3D-115BEED15573}" srcId="{86D46DE6-2281-4095-BE7C-05E926C129C0}" destId="{27517025-4674-49C6-8DD1-5B427084C318}" srcOrd="8" destOrd="0" parTransId="{DA7A0248-775B-4B4B-A7B5-182E21E9D016}" sibTransId="{612849B1-DC24-414C-A5C1-4473D8B56A47}"/>
    <dgm:cxn modelId="{2B3666CD-3162-4DEB-9B38-823C6D6F3970}" type="presOf" srcId="{D19EEC0E-1B3E-41F7-A9B8-4D4F8CE730A8}" destId="{EC9C84FA-8A52-4EE9-BEB9-93F21CD250FE}" srcOrd="0" destOrd="0" presId="urn:microsoft.com/office/officeart/2016/7/layout/RepeatingBendingProcessNew"/>
    <dgm:cxn modelId="{30C89CD1-87D6-4265-974B-C42912A1B3BE}" type="presOf" srcId="{B2EB3A97-B33D-4111-B5DC-B20D3F216C38}" destId="{E845C43E-2F78-45C1-B996-B09453BE4446}" srcOrd="0" destOrd="3" presId="urn:microsoft.com/office/officeart/2016/7/layout/RepeatingBendingProcessNew"/>
    <dgm:cxn modelId="{FB5335D4-FB3F-4CA4-BACD-D0A6886CCB71}" type="presOf" srcId="{3170F78F-48DE-408A-BEBF-82B753F41DB6}" destId="{E845C43E-2F78-45C1-B996-B09453BE4446}" srcOrd="0" destOrd="8" presId="urn:microsoft.com/office/officeart/2016/7/layout/RepeatingBendingProcessNew"/>
    <dgm:cxn modelId="{B6412CE6-57A0-4B9A-82DE-0F1AB16EC94B}" srcId="{86D46DE6-2281-4095-BE7C-05E926C129C0}" destId="{3505D9FF-AA4C-4151-B50B-C0EC0EA65D2D}" srcOrd="5" destOrd="0" parTransId="{5412CD13-2780-47FF-80DC-4A15C548D9BF}" sibTransId="{D828A3DA-DFCC-4777-B0AA-C42EBAEF6A9F}"/>
    <dgm:cxn modelId="{0602EDFC-1A8E-4FF0-B098-36B70E7587FB}" type="presOf" srcId="{4849A061-BA66-476F-8F12-E6FCF189089D}" destId="{D3F47D5E-EE7C-49CB-8BAC-FCB6020F42CC}" srcOrd="0" destOrd="0" presId="urn:microsoft.com/office/officeart/2016/7/layout/RepeatingBendingProcessNew"/>
    <dgm:cxn modelId="{090DCD59-5618-444A-A1F8-9371F623F944}" type="presParOf" srcId="{EC9C84FA-8A52-4EE9-BEB9-93F21CD250FE}" destId="{D3F47D5E-EE7C-49CB-8BAC-FCB6020F42CC}" srcOrd="0" destOrd="0" presId="urn:microsoft.com/office/officeart/2016/7/layout/RepeatingBendingProcessNew"/>
    <dgm:cxn modelId="{D4518625-51AF-418B-A081-9D548F80D7C8}" type="presParOf" srcId="{EC9C84FA-8A52-4EE9-BEB9-93F21CD250FE}" destId="{79693676-4CFF-4A67-879D-9A8835A2165D}" srcOrd="1" destOrd="0" presId="urn:microsoft.com/office/officeart/2016/7/layout/RepeatingBendingProcessNew"/>
    <dgm:cxn modelId="{71A822E8-93FA-40AD-85EF-F824325BBF46}" type="presParOf" srcId="{79693676-4CFF-4A67-879D-9A8835A2165D}" destId="{86B14295-23F1-49EF-8750-04E2318B30B4}" srcOrd="0" destOrd="0" presId="urn:microsoft.com/office/officeart/2016/7/layout/RepeatingBendingProcessNew"/>
    <dgm:cxn modelId="{33E2A443-6A6C-4CD2-82BC-E2C897EB0330}" type="presParOf" srcId="{EC9C84FA-8A52-4EE9-BEB9-93F21CD250FE}" destId="{E845C43E-2F78-45C1-B996-B09453BE4446}" srcOrd="2"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784D3C0-723C-4EBA-8DC5-EEFDC630A05F}"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7993E5A-DCD8-4F56-A11D-F52784C64504}">
      <dgm:prSet/>
      <dgm:spPr/>
      <dgm:t>
        <a:bodyPr/>
        <a:lstStyle/>
        <a:p>
          <a:r>
            <a:rPr lang="en-US"/>
            <a:t>Kaggle Movie data set</a:t>
          </a:r>
        </a:p>
      </dgm:t>
    </dgm:pt>
    <dgm:pt modelId="{98786CDB-4EC8-413E-A176-90C61E3078D3}" type="parTrans" cxnId="{026E2714-D3D2-42FB-86AE-0533DA564E35}">
      <dgm:prSet/>
      <dgm:spPr/>
      <dgm:t>
        <a:bodyPr/>
        <a:lstStyle/>
        <a:p>
          <a:endParaRPr lang="en-US"/>
        </a:p>
      </dgm:t>
    </dgm:pt>
    <dgm:pt modelId="{F935025E-8F51-439D-9EE0-E645A4766A7A}" type="sibTrans" cxnId="{026E2714-D3D2-42FB-86AE-0533DA564E35}">
      <dgm:prSet/>
      <dgm:spPr/>
      <dgm:t>
        <a:bodyPr/>
        <a:lstStyle/>
        <a:p>
          <a:endParaRPr lang="en-US"/>
        </a:p>
      </dgm:t>
    </dgm:pt>
    <dgm:pt modelId="{9329B9F6-B9ED-4CCD-AB8B-BEAC48A6CD5C}">
      <dgm:prSet/>
      <dgm:spPr/>
      <dgm:t>
        <a:bodyPr/>
        <a:lstStyle/>
        <a:p>
          <a:r>
            <a:rPr lang="en-US"/>
            <a:t>500 Blockbuster Movies</a:t>
          </a:r>
        </a:p>
      </dgm:t>
    </dgm:pt>
    <dgm:pt modelId="{140BCA21-18BA-4E94-BE32-AD6809AA8E48}" type="parTrans" cxnId="{F551A93D-B0A0-45CB-8A21-C2F232D071E1}">
      <dgm:prSet/>
      <dgm:spPr/>
      <dgm:t>
        <a:bodyPr/>
        <a:lstStyle/>
        <a:p>
          <a:endParaRPr lang="en-US"/>
        </a:p>
      </dgm:t>
    </dgm:pt>
    <dgm:pt modelId="{BE2BA7E9-08DE-4E72-B26F-408E6469161A}" type="sibTrans" cxnId="{F551A93D-B0A0-45CB-8A21-C2F232D071E1}">
      <dgm:prSet/>
      <dgm:spPr/>
      <dgm:t>
        <a:bodyPr/>
        <a:lstStyle/>
        <a:p>
          <a:endParaRPr lang="en-US"/>
        </a:p>
      </dgm:t>
    </dgm:pt>
    <dgm:pt modelId="{AAAF4A0E-B5FF-4858-A8AF-2D5300D82A52}">
      <dgm:prSet/>
      <dgm:spPr/>
      <dgm:t>
        <a:bodyPr/>
        <a:lstStyle/>
        <a:p>
          <a:r>
            <a:rPr lang="en-US"/>
            <a:t>1988 to 2014</a:t>
          </a:r>
        </a:p>
      </dgm:t>
    </dgm:pt>
    <dgm:pt modelId="{B6CA0E31-022D-4DA1-842F-12563A5B27E0}" type="parTrans" cxnId="{7F3F5EF4-6656-4D31-B294-CEFBE3C34ED5}">
      <dgm:prSet/>
      <dgm:spPr/>
      <dgm:t>
        <a:bodyPr/>
        <a:lstStyle/>
        <a:p>
          <a:endParaRPr lang="en-US"/>
        </a:p>
      </dgm:t>
    </dgm:pt>
    <dgm:pt modelId="{5C45D342-BE4A-4A64-B1A6-6040F538E8C6}" type="sibTrans" cxnId="{7F3F5EF4-6656-4D31-B294-CEFBE3C34ED5}">
      <dgm:prSet/>
      <dgm:spPr/>
      <dgm:t>
        <a:bodyPr/>
        <a:lstStyle/>
        <a:p>
          <a:endParaRPr lang="en-US"/>
        </a:p>
      </dgm:t>
    </dgm:pt>
    <dgm:pt modelId="{D853AB44-A651-4036-A656-5688AEFC7003}" type="pres">
      <dgm:prSet presAssocID="{2784D3C0-723C-4EBA-8DC5-EEFDC630A05F}" presName="linear" presStyleCnt="0">
        <dgm:presLayoutVars>
          <dgm:animLvl val="lvl"/>
          <dgm:resizeHandles val="exact"/>
        </dgm:presLayoutVars>
      </dgm:prSet>
      <dgm:spPr/>
    </dgm:pt>
    <dgm:pt modelId="{5BFBE37F-9FEE-4BA7-B3B0-CFFF0DC63C38}" type="pres">
      <dgm:prSet presAssocID="{D7993E5A-DCD8-4F56-A11D-F52784C64504}" presName="parentText" presStyleLbl="node1" presStyleIdx="0" presStyleCnt="3">
        <dgm:presLayoutVars>
          <dgm:chMax val="0"/>
          <dgm:bulletEnabled val="1"/>
        </dgm:presLayoutVars>
      </dgm:prSet>
      <dgm:spPr/>
    </dgm:pt>
    <dgm:pt modelId="{F4DF2CDC-964D-4985-BCE2-2084F75800A5}" type="pres">
      <dgm:prSet presAssocID="{F935025E-8F51-439D-9EE0-E645A4766A7A}" presName="spacer" presStyleCnt="0"/>
      <dgm:spPr/>
    </dgm:pt>
    <dgm:pt modelId="{B2FEAA1C-03C9-4487-92AD-6B64C50EB2A0}" type="pres">
      <dgm:prSet presAssocID="{9329B9F6-B9ED-4CCD-AB8B-BEAC48A6CD5C}" presName="parentText" presStyleLbl="node1" presStyleIdx="1" presStyleCnt="3">
        <dgm:presLayoutVars>
          <dgm:chMax val="0"/>
          <dgm:bulletEnabled val="1"/>
        </dgm:presLayoutVars>
      </dgm:prSet>
      <dgm:spPr/>
    </dgm:pt>
    <dgm:pt modelId="{749B6480-EB59-40DC-BCD0-176983E58722}" type="pres">
      <dgm:prSet presAssocID="{BE2BA7E9-08DE-4E72-B26F-408E6469161A}" presName="spacer" presStyleCnt="0"/>
      <dgm:spPr/>
    </dgm:pt>
    <dgm:pt modelId="{B39880DA-99E7-44A0-8118-51769FA5F318}" type="pres">
      <dgm:prSet presAssocID="{AAAF4A0E-B5FF-4858-A8AF-2D5300D82A52}" presName="parentText" presStyleLbl="node1" presStyleIdx="2" presStyleCnt="3">
        <dgm:presLayoutVars>
          <dgm:chMax val="0"/>
          <dgm:bulletEnabled val="1"/>
        </dgm:presLayoutVars>
      </dgm:prSet>
      <dgm:spPr/>
    </dgm:pt>
  </dgm:ptLst>
  <dgm:cxnLst>
    <dgm:cxn modelId="{026E2714-D3D2-42FB-86AE-0533DA564E35}" srcId="{2784D3C0-723C-4EBA-8DC5-EEFDC630A05F}" destId="{D7993E5A-DCD8-4F56-A11D-F52784C64504}" srcOrd="0" destOrd="0" parTransId="{98786CDB-4EC8-413E-A176-90C61E3078D3}" sibTransId="{F935025E-8F51-439D-9EE0-E645A4766A7A}"/>
    <dgm:cxn modelId="{224CBB24-67DC-475C-8C99-9DE62CEB5996}" type="presOf" srcId="{2784D3C0-723C-4EBA-8DC5-EEFDC630A05F}" destId="{D853AB44-A651-4036-A656-5688AEFC7003}" srcOrd="0" destOrd="0" presId="urn:microsoft.com/office/officeart/2005/8/layout/vList2"/>
    <dgm:cxn modelId="{F551A93D-B0A0-45CB-8A21-C2F232D071E1}" srcId="{2784D3C0-723C-4EBA-8DC5-EEFDC630A05F}" destId="{9329B9F6-B9ED-4CCD-AB8B-BEAC48A6CD5C}" srcOrd="1" destOrd="0" parTransId="{140BCA21-18BA-4E94-BE32-AD6809AA8E48}" sibTransId="{BE2BA7E9-08DE-4E72-B26F-408E6469161A}"/>
    <dgm:cxn modelId="{740E546C-0942-4CD8-80A6-91176587AFD2}" type="presOf" srcId="{AAAF4A0E-B5FF-4858-A8AF-2D5300D82A52}" destId="{B39880DA-99E7-44A0-8118-51769FA5F318}" srcOrd="0" destOrd="0" presId="urn:microsoft.com/office/officeart/2005/8/layout/vList2"/>
    <dgm:cxn modelId="{3F2A2171-9C34-4172-A59F-8669B20D3BC8}" type="presOf" srcId="{D7993E5A-DCD8-4F56-A11D-F52784C64504}" destId="{5BFBE37F-9FEE-4BA7-B3B0-CFFF0DC63C38}" srcOrd="0" destOrd="0" presId="urn:microsoft.com/office/officeart/2005/8/layout/vList2"/>
    <dgm:cxn modelId="{D4B8FBDA-5AD8-4B8B-BD07-B73E9AA0EA8A}" type="presOf" srcId="{9329B9F6-B9ED-4CCD-AB8B-BEAC48A6CD5C}" destId="{B2FEAA1C-03C9-4487-92AD-6B64C50EB2A0}" srcOrd="0" destOrd="0" presId="urn:microsoft.com/office/officeart/2005/8/layout/vList2"/>
    <dgm:cxn modelId="{7F3F5EF4-6656-4D31-B294-CEFBE3C34ED5}" srcId="{2784D3C0-723C-4EBA-8DC5-EEFDC630A05F}" destId="{AAAF4A0E-B5FF-4858-A8AF-2D5300D82A52}" srcOrd="2" destOrd="0" parTransId="{B6CA0E31-022D-4DA1-842F-12563A5B27E0}" sibTransId="{5C45D342-BE4A-4A64-B1A6-6040F538E8C6}"/>
    <dgm:cxn modelId="{181B1B53-1B27-4DDD-AD8C-B9A94FF612AB}" type="presParOf" srcId="{D853AB44-A651-4036-A656-5688AEFC7003}" destId="{5BFBE37F-9FEE-4BA7-B3B0-CFFF0DC63C38}" srcOrd="0" destOrd="0" presId="urn:microsoft.com/office/officeart/2005/8/layout/vList2"/>
    <dgm:cxn modelId="{B1271382-EB89-493A-901F-E6C147D0FC62}" type="presParOf" srcId="{D853AB44-A651-4036-A656-5688AEFC7003}" destId="{F4DF2CDC-964D-4985-BCE2-2084F75800A5}" srcOrd="1" destOrd="0" presId="urn:microsoft.com/office/officeart/2005/8/layout/vList2"/>
    <dgm:cxn modelId="{0B1D3761-2430-4792-9258-89F7A0503579}" type="presParOf" srcId="{D853AB44-A651-4036-A656-5688AEFC7003}" destId="{B2FEAA1C-03C9-4487-92AD-6B64C50EB2A0}" srcOrd="2" destOrd="0" presId="urn:microsoft.com/office/officeart/2005/8/layout/vList2"/>
    <dgm:cxn modelId="{CD1BB9F4-E889-45DD-BEB6-522278772393}" type="presParOf" srcId="{D853AB44-A651-4036-A656-5688AEFC7003}" destId="{749B6480-EB59-40DC-BCD0-176983E58722}" srcOrd="3" destOrd="0" presId="urn:microsoft.com/office/officeart/2005/8/layout/vList2"/>
    <dgm:cxn modelId="{93E96871-6303-484C-B2E3-9315266FB763}" type="presParOf" srcId="{D853AB44-A651-4036-A656-5688AEFC7003}" destId="{B39880DA-99E7-44A0-8118-51769FA5F318}" srcOrd="4"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0F8A8FE-2662-4382-B208-9FB1BA55DDB4}" type="doc">
      <dgm:prSet loTypeId="urn:microsoft.com/office/officeart/2005/8/layout/vProcess5" loCatId="process" qsTypeId="urn:microsoft.com/office/officeart/2005/8/quickstyle/simple1" qsCatId="simple" csTypeId="urn:microsoft.com/office/officeart/2005/8/colors/colorful1" csCatId="colorful" phldr="1"/>
      <dgm:spPr/>
      <dgm:t>
        <a:bodyPr/>
        <a:lstStyle/>
        <a:p>
          <a:endParaRPr lang="en-US"/>
        </a:p>
      </dgm:t>
    </dgm:pt>
    <dgm:pt modelId="{1CFF1BED-C49F-4585-8A78-B76ACC714B53}">
      <dgm:prSet/>
      <dgm:spPr/>
      <dgm:t>
        <a:bodyPr/>
        <a:lstStyle/>
        <a:p>
          <a:r>
            <a:rPr lang="en-US" dirty="0"/>
            <a:t>There were three predictive variables, Gross, ROI and Net Profit. </a:t>
          </a:r>
        </a:p>
        <a:p>
          <a:r>
            <a:rPr lang="en-US" dirty="0"/>
            <a:t>The Log of the Gross was chosen to be used for modeling</a:t>
          </a:r>
        </a:p>
      </dgm:t>
    </dgm:pt>
    <dgm:pt modelId="{F9A1BD31-BA09-4E53-A248-6E7A3295978C}" type="parTrans" cxnId="{ADFB26CE-7EAB-451A-9950-93012DF4B653}">
      <dgm:prSet/>
      <dgm:spPr/>
      <dgm:t>
        <a:bodyPr/>
        <a:lstStyle/>
        <a:p>
          <a:endParaRPr lang="en-US"/>
        </a:p>
      </dgm:t>
    </dgm:pt>
    <dgm:pt modelId="{75BB8BC0-8105-4CB2-9EDF-58DE16922EA8}" type="sibTrans" cxnId="{ADFB26CE-7EAB-451A-9950-93012DF4B653}">
      <dgm:prSet/>
      <dgm:spPr>
        <a:noFill/>
        <a:ln>
          <a:noFill/>
        </a:ln>
      </dgm:spPr>
      <dgm:t>
        <a:bodyPr/>
        <a:lstStyle/>
        <a:p>
          <a:endParaRPr lang="en-US"/>
        </a:p>
      </dgm:t>
    </dgm:pt>
    <dgm:pt modelId="{9C00837A-B5EE-4E2F-BD96-C967B5F4FFCC}">
      <dgm:prSet/>
      <dgm:spPr/>
      <dgm:t>
        <a:bodyPr/>
        <a:lstStyle/>
        <a:p>
          <a:r>
            <a:rPr lang="en-US" dirty="0"/>
            <a:t>The month was encoded as a sine/cosine feature.</a:t>
          </a:r>
        </a:p>
      </dgm:t>
    </dgm:pt>
    <dgm:pt modelId="{243A9005-5AF5-48C6-AFDA-245606BB278B}" type="parTrans" cxnId="{69928AFE-5752-49B8-BAA4-705C9E5FBA66}">
      <dgm:prSet/>
      <dgm:spPr/>
      <dgm:t>
        <a:bodyPr/>
        <a:lstStyle/>
        <a:p>
          <a:endParaRPr lang="en-US"/>
        </a:p>
      </dgm:t>
    </dgm:pt>
    <dgm:pt modelId="{2E0963A0-1726-492D-B7AB-6599FD272D57}" type="sibTrans" cxnId="{69928AFE-5752-49B8-BAA4-705C9E5FBA66}">
      <dgm:prSet/>
      <dgm:spPr>
        <a:noFill/>
        <a:ln>
          <a:noFill/>
        </a:ln>
      </dgm:spPr>
      <dgm:t>
        <a:bodyPr/>
        <a:lstStyle/>
        <a:p>
          <a:endParaRPr lang="en-US"/>
        </a:p>
      </dgm:t>
    </dgm:pt>
    <dgm:pt modelId="{8597418A-58DB-4F55-9E06-2F34CAFAA3C9}">
      <dgm:prSet/>
      <dgm:spPr/>
      <dgm:t>
        <a:bodyPr/>
        <a:lstStyle/>
        <a:p>
          <a:r>
            <a:rPr lang="en-US"/>
            <a:t>Linear, XGBoost, Random Forest, and SVR was testing for modeling</a:t>
          </a:r>
        </a:p>
      </dgm:t>
    </dgm:pt>
    <dgm:pt modelId="{7AA1E586-7993-433F-9C0B-22C0D15CBE0A}" type="parTrans" cxnId="{51EEA6ED-65BB-4F8A-94AD-8E31F29FCDF2}">
      <dgm:prSet/>
      <dgm:spPr/>
      <dgm:t>
        <a:bodyPr/>
        <a:lstStyle/>
        <a:p>
          <a:endParaRPr lang="en-US"/>
        </a:p>
      </dgm:t>
    </dgm:pt>
    <dgm:pt modelId="{7CDBED70-78C8-459A-B77C-3790DEAB9F63}" type="sibTrans" cxnId="{51EEA6ED-65BB-4F8A-94AD-8E31F29FCDF2}">
      <dgm:prSet/>
      <dgm:spPr/>
      <dgm:t>
        <a:bodyPr/>
        <a:lstStyle/>
        <a:p>
          <a:endParaRPr lang="en-US"/>
        </a:p>
      </dgm:t>
    </dgm:pt>
    <dgm:pt modelId="{C762A673-6664-42A1-93BC-45B14173FF87}" type="pres">
      <dgm:prSet presAssocID="{D0F8A8FE-2662-4382-B208-9FB1BA55DDB4}" presName="outerComposite" presStyleCnt="0">
        <dgm:presLayoutVars>
          <dgm:chMax val="5"/>
          <dgm:dir/>
          <dgm:resizeHandles val="exact"/>
        </dgm:presLayoutVars>
      </dgm:prSet>
      <dgm:spPr/>
    </dgm:pt>
    <dgm:pt modelId="{A71F7BA6-AB14-4A97-A5FC-9245FFEBEACB}" type="pres">
      <dgm:prSet presAssocID="{D0F8A8FE-2662-4382-B208-9FB1BA55DDB4}" presName="dummyMaxCanvas" presStyleCnt="0">
        <dgm:presLayoutVars/>
      </dgm:prSet>
      <dgm:spPr/>
    </dgm:pt>
    <dgm:pt modelId="{C12650D5-11AB-49B1-89BC-2E4116E8B936}" type="pres">
      <dgm:prSet presAssocID="{D0F8A8FE-2662-4382-B208-9FB1BA55DDB4}" presName="ThreeNodes_1" presStyleLbl="node1" presStyleIdx="0" presStyleCnt="3">
        <dgm:presLayoutVars>
          <dgm:bulletEnabled val="1"/>
        </dgm:presLayoutVars>
      </dgm:prSet>
      <dgm:spPr/>
    </dgm:pt>
    <dgm:pt modelId="{5CA61895-7D2F-42C1-9AA9-FD89B1BEDF58}" type="pres">
      <dgm:prSet presAssocID="{D0F8A8FE-2662-4382-B208-9FB1BA55DDB4}" presName="ThreeNodes_2" presStyleLbl="node1" presStyleIdx="1" presStyleCnt="3">
        <dgm:presLayoutVars>
          <dgm:bulletEnabled val="1"/>
        </dgm:presLayoutVars>
      </dgm:prSet>
      <dgm:spPr/>
    </dgm:pt>
    <dgm:pt modelId="{11100BF0-1F19-4C4E-9F05-548488AA7B9D}" type="pres">
      <dgm:prSet presAssocID="{D0F8A8FE-2662-4382-B208-9FB1BA55DDB4}" presName="ThreeNodes_3" presStyleLbl="node1" presStyleIdx="2" presStyleCnt="3">
        <dgm:presLayoutVars>
          <dgm:bulletEnabled val="1"/>
        </dgm:presLayoutVars>
      </dgm:prSet>
      <dgm:spPr/>
    </dgm:pt>
    <dgm:pt modelId="{BC4841FF-2F0D-41BB-B827-25CF43BE72DE}" type="pres">
      <dgm:prSet presAssocID="{D0F8A8FE-2662-4382-B208-9FB1BA55DDB4}" presName="ThreeConn_1-2" presStyleLbl="fgAccFollowNode1" presStyleIdx="0" presStyleCnt="2" custLinFactX="62484" custLinFactNeighborX="100000" custLinFactNeighborY="-2932">
        <dgm:presLayoutVars>
          <dgm:bulletEnabled val="1"/>
        </dgm:presLayoutVars>
      </dgm:prSet>
      <dgm:spPr/>
    </dgm:pt>
    <dgm:pt modelId="{63E458FB-74B9-4407-8055-289841C1AA6C}" type="pres">
      <dgm:prSet presAssocID="{D0F8A8FE-2662-4382-B208-9FB1BA55DDB4}" presName="ThreeConn_2-3" presStyleLbl="fgAccFollowNode1" presStyleIdx="1" presStyleCnt="2">
        <dgm:presLayoutVars>
          <dgm:bulletEnabled val="1"/>
        </dgm:presLayoutVars>
      </dgm:prSet>
      <dgm:spPr/>
    </dgm:pt>
    <dgm:pt modelId="{2F4FF948-8882-48D2-A414-78B78B65B4BE}" type="pres">
      <dgm:prSet presAssocID="{D0F8A8FE-2662-4382-B208-9FB1BA55DDB4}" presName="ThreeNodes_1_text" presStyleLbl="node1" presStyleIdx="2" presStyleCnt="3">
        <dgm:presLayoutVars>
          <dgm:bulletEnabled val="1"/>
        </dgm:presLayoutVars>
      </dgm:prSet>
      <dgm:spPr/>
    </dgm:pt>
    <dgm:pt modelId="{B925A882-8A54-4A94-AABD-88A059912FF2}" type="pres">
      <dgm:prSet presAssocID="{D0F8A8FE-2662-4382-B208-9FB1BA55DDB4}" presName="ThreeNodes_2_text" presStyleLbl="node1" presStyleIdx="2" presStyleCnt="3">
        <dgm:presLayoutVars>
          <dgm:bulletEnabled val="1"/>
        </dgm:presLayoutVars>
      </dgm:prSet>
      <dgm:spPr/>
    </dgm:pt>
    <dgm:pt modelId="{3D76B189-9BF7-4729-8763-7D04BBDD062E}" type="pres">
      <dgm:prSet presAssocID="{D0F8A8FE-2662-4382-B208-9FB1BA55DDB4}" presName="ThreeNodes_3_text" presStyleLbl="node1" presStyleIdx="2" presStyleCnt="3">
        <dgm:presLayoutVars>
          <dgm:bulletEnabled val="1"/>
        </dgm:presLayoutVars>
      </dgm:prSet>
      <dgm:spPr/>
    </dgm:pt>
  </dgm:ptLst>
  <dgm:cxnLst>
    <dgm:cxn modelId="{D948A500-CECD-40A0-B1E9-7D8D37F95192}" type="presOf" srcId="{75BB8BC0-8105-4CB2-9EDF-58DE16922EA8}" destId="{BC4841FF-2F0D-41BB-B827-25CF43BE72DE}" srcOrd="0" destOrd="0" presId="urn:microsoft.com/office/officeart/2005/8/layout/vProcess5"/>
    <dgm:cxn modelId="{46DC7526-6C0A-4461-8889-FC44721367A0}" type="presOf" srcId="{9C00837A-B5EE-4E2F-BD96-C967B5F4FFCC}" destId="{5CA61895-7D2F-42C1-9AA9-FD89B1BEDF58}" srcOrd="0" destOrd="0" presId="urn:microsoft.com/office/officeart/2005/8/layout/vProcess5"/>
    <dgm:cxn modelId="{19EC9A26-D9C9-4F9D-9B12-B8D981812D36}" type="presOf" srcId="{8597418A-58DB-4F55-9E06-2F34CAFAA3C9}" destId="{3D76B189-9BF7-4729-8763-7D04BBDD062E}" srcOrd="1" destOrd="0" presId="urn:microsoft.com/office/officeart/2005/8/layout/vProcess5"/>
    <dgm:cxn modelId="{81968848-D1DD-403B-A968-04E73EE7EA18}" type="presOf" srcId="{D0F8A8FE-2662-4382-B208-9FB1BA55DDB4}" destId="{C762A673-6664-42A1-93BC-45B14173FF87}" srcOrd="0" destOrd="0" presId="urn:microsoft.com/office/officeart/2005/8/layout/vProcess5"/>
    <dgm:cxn modelId="{0051F149-E975-4642-80A4-A733D24B4419}" type="presOf" srcId="{9C00837A-B5EE-4E2F-BD96-C967B5F4FFCC}" destId="{B925A882-8A54-4A94-AABD-88A059912FF2}" srcOrd="1" destOrd="0" presId="urn:microsoft.com/office/officeart/2005/8/layout/vProcess5"/>
    <dgm:cxn modelId="{1F2A9F83-8D92-49A0-98C4-BCFD2F2AF9D0}" type="presOf" srcId="{1CFF1BED-C49F-4585-8A78-B76ACC714B53}" destId="{C12650D5-11AB-49B1-89BC-2E4116E8B936}" srcOrd="0" destOrd="0" presId="urn:microsoft.com/office/officeart/2005/8/layout/vProcess5"/>
    <dgm:cxn modelId="{E335E69A-50F6-41BA-A236-31642CA144B2}" type="presOf" srcId="{1CFF1BED-C49F-4585-8A78-B76ACC714B53}" destId="{2F4FF948-8882-48D2-A414-78B78B65B4BE}" srcOrd="1" destOrd="0" presId="urn:microsoft.com/office/officeart/2005/8/layout/vProcess5"/>
    <dgm:cxn modelId="{ADFB26CE-7EAB-451A-9950-93012DF4B653}" srcId="{D0F8A8FE-2662-4382-B208-9FB1BA55DDB4}" destId="{1CFF1BED-C49F-4585-8A78-B76ACC714B53}" srcOrd="0" destOrd="0" parTransId="{F9A1BD31-BA09-4E53-A248-6E7A3295978C}" sibTransId="{75BB8BC0-8105-4CB2-9EDF-58DE16922EA8}"/>
    <dgm:cxn modelId="{51EEA6ED-65BB-4F8A-94AD-8E31F29FCDF2}" srcId="{D0F8A8FE-2662-4382-B208-9FB1BA55DDB4}" destId="{8597418A-58DB-4F55-9E06-2F34CAFAA3C9}" srcOrd="2" destOrd="0" parTransId="{7AA1E586-7993-433F-9C0B-22C0D15CBE0A}" sibTransId="{7CDBED70-78C8-459A-B77C-3790DEAB9F63}"/>
    <dgm:cxn modelId="{FCADBFEF-2E02-4246-8B7D-07A456DC857A}" type="presOf" srcId="{2E0963A0-1726-492D-B7AB-6599FD272D57}" destId="{63E458FB-74B9-4407-8055-289841C1AA6C}" srcOrd="0" destOrd="0" presId="urn:microsoft.com/office/officeart/2005/8/layout/vProcess5"/>
    <dgm:cxn modelId="{69928AFE-5752-49B8-BAA4-705C9E5FBA66}" srcId="{D0F8A8FE-2662-4382-B208-9FB1BA55DDB4}" destId="{9C00837A-B5EE-4E2F-BD96-C967B5F4FFCC}" srcOrd="1" destOrd="0" parTransId="{243A9005-5AF5-48C6-AFDA-245606BB278B}" sibTransId="{2E0963A0-1726-492D-B7AB-6599FD272D57}"/>
    <dgm:cxn modelId="{3CD9B1FE-25BB-4EDC-80ED-33F7ABCC35C7}" type="presOf" srcId="{8597418A-58DB-4F55-9E06-2F34CAFAA3C9}" destId="{11100BF0-1F19-4C4E-9F05-548488AA7B9D}" srcOrd="0" destOrd="0" presId="urn:microsoft.com/office/officeart/2005/8/layout/vProcess5"/>
    <dgm:cxn modelId="{37C638AB-BD74-4ED0-B0BD-4B18D20864E6}" type="presParOf" srcId="{C762A673-6664-42A1-93BC-45B14173FF87}" destId="{A71F7BA6-AB14-4A97-A5FC-9245FFEBEACB}" srcOrd="0" destOrd="0" presId="urn:microsoft.com/office/officeart/2005/8/layout/vProcess5"/>
    <dgm:cxn modelId="{D344E8CB-4432-4087-8624-313AA7F4CEC1}" type="presParOf" srcId="{C762A673-6664-42A1-93BC-45B14173FF87}" destId="{C12650D5-11AB-49B1-89BC-2E4116E8B936}" srcOrd="1" destOrd="0" presId="urn:microsoft.com/office/officeart/2005/8/layout/vProcess5"/>
    <dgm:cxn modelId="{F45BA14F-D0BD-4107-B398-A140C005E036}" type="presParOf" srcId="{C762A673-6664-42A1-93BC-45B14173FF87}" destId="{5CA61895-7D2F-42C1-9AA9-FD89B1BEDF58}" srcOrd="2" destOrd="0" presId="urn:microsoft.com/office/officeart/2005/8/layout/vProcess5"/>
    <dgm:cxn modelId="{CF29165D-440E-44CC-A419-AF2DF9053EBE}" type="presParOf" srcId="{C762A673-6664-42A1-93BC-45B14173FF87}" destId="{11100BF0-1F19-4C4E-9F05-548488AA7B9D}" srcOrd="3" destOrd="0" presId="urn:microsoft.com/office/officeart/2005/8/layout/vProcess5"/>
    <dgm:cxn modelId="{F1602A07-C297-4A49-922C-E2CA8C4992B4}" type="presParOf" srcId="{C762A673-6664-42A1-93BC-45B14173FF87}" destId="{BC4841FF-2F0D-41BB-B827-25CF43BE72DE}" srcOrd="4" destOrd="0" presId="urn:microsoft.com/office/officeart/2005/8/layout/vProcess5"/>
    <dgm:cxn modelId="{DB4C4488-8834-464D-B384-6DAAA532A71B}" type="presParOf" srcId="{C762A673-6664-42A1-93BC-45B14173FF87}" destId="{63E458FB-74B9-4407-8055-289841C1AA6C}" srcOrd="5" destOrd="0" presId="urn:microsoft.com/office/officeart/2005/8/layout/vProcess5"/>
    <dgm:cxn modelId="{8B0CD8C6-F814-4D42-B412-D5CC1EA2ECA6}" type="presParOf" srcId="{C762A673-6664-42A1-93BC-45B14173FF87}" destId="{2F4FF948-8882-48D2-A414-78B78B65B4BE}" srcOrd="6" destOrd="0" presId="urn:microsoft.com/office/officeart/2005/8/layout/vProcess5"/>
    <dgm:cxn modelId="{09C93752-5948-4100-B178-FF9A943A5265}" type="presParOf" srcId="{C762A673-6664-42A1-93BC-45B14173FF87}" destId="{B925A882-8A54-4A94-AABD-88A059912FF2}" srcOrd="7" destOrd="0" presId="urn:microsoft.com/office/officeart/2005/8/layout/vProcess5"/>
    <dgm:cxn modelId="{4BA205E6-4F9C-467F-BCF6-3BFC4BF6FA02}" type="presParOf" srcId="{C762A673-6664-42A1-93BC-45B14173FF87}" destId="{3D76B189-9BF7-4729-8763-7D04BBDD062E}" srcOrd="8"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C129C5E-215D-478C-A45D-44BB5B6B34AE}"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F23C0251-009E-4F72-8027-949AB9C3F9DC}">
      <dgm:prSet/>
      <dgm:spPr/>
      <dgm:t>
        <a:bodyPr/>
        <a:lstStyle/>
        <a:p>
          <a:r>
            <a:rPr lang="en-US"/>
            <a:t>Should include</a:t>
          </a:r>
        </a:p>
      </dgm:t>
    </dgm:pt>
    <dgm:pt modelId="{3681B1C6-B61F-411B-B466-56E7B59CED2B}" type="parTrans" cxnId="{4CEC2DB5-7207-426F-8179-8544644918E1}">
      <dgm:prSet/>
      <dgm:spPr/>
      <dgm:t>
        <a:bodyPr/>
        <a:lstStyle/>
        <a:p>
          <a:endParaRPr lang="en-US"/>
        </a:p>
      </dgm:t>
    </dgm:pt>
    <dgm:pt modelId="{B5E3BB98-3A95-4ACE-BC93-68E48D4F16EA}" type="sibTrans" cxnId="{4CEC2DB5-7207-426F-8179-8544644918E1}">
      <dgm:prSet/>
      <dgm:spPr/>
      <dgm:t>
        <a:bodyPr/>
        <a:lstStyle/>
        <a:p>
          <a:endParaRPr lang="en-US"/>
        </a:p>
      </dgm:t>
    </dgm:pt>
    <dgm:pt modelId="{C709C3F6-F611-47A3-863E-2ABAEBF96747}">
      <dgm:prSet/>
      <dgm:spPr/>
      <dgm:t>
        <a:bodyPr/>
        <a:lstStyle/>
        <a:p>
          <a:r>
            <a:rPr lang="en-US" dirty="0"/>
            <a:t>larger sample size</a:t>
          </a:r>
        </a:p>
      </dgm:t>
    </dgm:pt>
    <dgm:pt modelId="{CAE1C4F0-DA01-46A9-9548-B8D8B178CAFD}" type="parTrans" cxnId="{4BCA8FA3-05BD-4E2C-8429-684DA5E2AC73}">
      <dgm:prSet/>
      <dgm:spPr/>
      <dgm:t>
        <a:bodyPr/>
        <a:lstStyle/>
        <a:p>
          <a:endParaRPr lang="en-US"/>
        </a:p>
      </dgm:t>
    </dgm:pt>
    <dgm:pt modelId="{2EF702EF-4A09-4BCD-9D2C-9D119AF8B294}" type="sibTrans" cxnId="{4BCA8FA3-05BD-4E2C-8429-684DA5E2AC73}">
      <dgm:prSet/>
      <dgm:spPr/>
      <dgm:t>
        <a:bodyPr/>
        <a:lstStyle/>
        <a:p>
          <a:endParaRPr lang="en-US"/>
        </a:p>
      </dgm:t>
    </dgm:pt>
    <dgm:pt modelId="{91642333-B187-40EE-8433-9175BF2B3092}">
      <dgm:prSet/>
      <dgm:spPr/>
      <dgm:t>
        <a:bodyPr/>
        <a:lstStyle/>
        <a:p>
          <a:r>
            <a:rPr lang="en-US" dirty="0"/>
            <a:t>movie flops and blockbuster hits. </a:t>
          </a:r>
        </a:p>
      </dgm:t>
    </dgm:pt>
    <dgm:pt modelId="{20B34AAB-C4F0-4AB7-AB53-233DF0099163}" type="parTrans" cxnId="{B5600570-12E6-498F-81EA-5055BBA6231E}">
      <dgm:prSet/>
      <dgm:spPr/>
      <dgm:t>
        <a:bodyPr/>
        <a:lstStyle/>
        <a:p>
          <a:endParaRPr lang="en-US"/>
        </a:p>
      </dgm:t>
    </dgm:pt>
    <dgm:pt modelId="{A1F391D4-C9EE-46EC-9B06-80DABE4BC268}" type="sibTrans" cxnId="{B5600570-12E6-498F-81EA-5055BBA6231E}">
      <dgm:prSet/>
      <dgm:spPr/>
      <dgm:t>
        <a:bodyPr/>
        <a:lstStyle/>
        <a:p>
          <a:endParaRPr lang="en-US"/>
        </a:p>
      </dgm:t>
    </dgm:pt>
    <dgm:pt modelId="{3B6D2577-B114-4CD5-9C8E-BA2D26896943}">
      <dgm:prSet/>
      <dgm:spPr/>
      <dgm:t>
        <a:bodyPr/>
        <a:lstStyle/>
        <a:p>
          <a:r>
            <a:rPr lang="en-US" dirty="0"/>
            <a:t>Future features</a:t>
          </a:r>
        </a:p>
      </dgm:t>
    </dgm:pt>
    <dgm:pt modelId="{B1664B8B-4C54-488C-879F-27A26B5A2185}" type="parTrans" cxnId="{40C237D7-E9A0-417F-B3D8-4D5CA30997B7}">
      <dgm:prSet/>
      <dgm:spPr/>
      <dgm:t>
        <a:bodyPr/>
        <a:lstStyle/>
        <a:p>
          <a:endParaRPr lang="en-US"/>
        </a:p>
      </dgm:t>
    </dgm:pt>
    <dgm:pt modelId="{5BC27EED-7D09-4C95-970B-8192D3364F4D}" type="sibTrans" cxnId="{40C237D7-E9A0-417F-B3D8-4D5CA30997B7}">
      <dgm:prSet/>
      <dgm:spPr/>
      <dgm:t>
        <a:bodyPr/>
        <a:lstStyle/>
        <a:p>
          <a:endParaRPr lang="en-US"/>
        </a:p>
      </dgm:t>
    </dgm:pt>
    <dgm:pt modelId="{6748475B-7D72-4528-B995-25EB881BDD04}">
      <dgm:prSet/>
      <dgm:spPr/>
      <dgm:t>
        <a:bodyPr/>
        <a:lstStyle/>
        <a:p>
          <a:r>
            <a:rPr lang="en-US" dirty="0"/>
            <a:t>Directors</a:t>
          </a:r>
        </a:p>
      </dgm:t>
    </dgm:pt>
    <dgm:pt modelId="{3886F5E6-BE24-4754-8538-5379E365F887}" type="parTrans" cxnId="{5570F1A9-D46C-4C06-8DFB-363C3F9C9198}">
      <dgm:prSet/>
      <dgm:spPr/>
      <dgm:t>
        <a:bodyPr/>
        <a:lstStyle/>
        <a:p>
          <a:endParaRPr lang="en-US"/>
        </a:p>
      </dgm:t>
    </dgm:pt>
    <dgm:pt modelId="{A210F0A8-B360-4BF6-B566-CC6B56ECCEC0}" type="sibTrans" cxnId="{5570F1A9-D46C-4C06-8DFB-363C3F9C9198}">
      <dgm:prSet/>
      <dgm:spPr/>
      <dgm:t>
        <a:bodyPr/>
        <a:lstStyle/>
        <a:p>
          <a:endParaRPr lang="en-US"/>
        </a:p>
      </dgm:t>
    </dgm:pt>
    <dgm:pt modelId="{80CA78EB-7801-4F63-9C8B-AE39CE483B81}">
      <dgm:prSet/>
      <dgm:spPr/>
      <dgm:t>
        <a:bodyPr/>
        <a:lstStyle/>
        <a:p>
          <a:r>
            <a:rPr lang="en-US"/>
            <a:t>Production companies</a:t>
          </a:r>
        </a:p>
      </dgm:t>
    </dgm:pt>
    <dgm:pt modelId="{AE99EEDC-47C5-4138-B7C9-6A100A6F5692}" type="parTrans" cxnId="{8D7285D0-3DE2-478D-8D5F-46AF98BF1A53}">
      <dgm:prSet/>
      <dgm:spPr/>
      <dgm:t>
        <a:bodyPr/>
        <a:lstStyle/>
        <a:p>
          <a:endParaRPr lang="en-US"/>
        </a:p>
      </dgm:t>
    </dgm:pt>
    <dgm:pt modelId="{DD47329F-8676-4A0D-B8A2-5954871D05C9}" type="sibTrans" cxnId="{8D7285D0-3DE2-478D-8D5F-46AF98BF1A53}">
      <dgm:prSet/>
      <dgm:spPr/>
      <dgm:t>
        <a:bodyPr/>
        <a:lstStyle/>
        <a:p>
          <a:endParaRPr lang="en-US"/>
        </a:p>
      </dgm:t>
    </dgm:pt>
    <dgm:pt modelId="{9F7379B3-ED9B-43BE-B564-13D115C909BE}">
      <dgm:prSet/>
      <dgm:spPr/>
      <dgm:t>
        <a:bodyPr/>
        <a:lstStyle/>
        <a:p>
          <a:r>
            <a:rPr lang="en-US"/>
            <a:t>Production time</a:t>
          </a:r>
        </a:p>
      </dgm:t>
    </dgm:pt>
    <dgm:pt modelId="{4E5AC1A2-2361-4077-9DFC-A4ADD60FFF7F}" type="parTrans" cxnId="{125C32EE-F49F-423A-AB42-FEB1D76C1255}">
      <dgm:prSet/>
      <dgm:spPr/>
      <dgm:t>
        <a:bodyPr/>
        <a:lstStyle/>
        <a:p>
          <a:endParaRPr lang="en-US"/>
        </a:p>
      </dgm:t>
    </dgm:pt>
    <dgm:pt modelId="{6C154EF8-6C66-4DCB-94AF-B94F8D10E6A7}" type="sibTrans" cxnId="{125C32EE-F49F-423A-AB42-FEB1D76C1255}">
      <dgm:prSet/>
      <dgm:spPr/>
      <dgm:t>
        <a:bodyPr/>
        <a:lstStyle/>
        <a:p>
          <a:endParaRPr lang="en-US"/>
        </a:p>
      </dgm:t>
    </dgm:pt>
    <dgm:pt modelId="{C29A64A2-6E40-456E-BD6F-79AC1343415B}">
      <dgm:prSet/>
      <dgm:spPr/>
      <dgm:t>
        <a:bodyPr/>
        <a:lstStyle/>
        <a:p>
          <a:r>
            <a:rPr lang="en-US"/>
            <a:t>Cast </a:t>
          </a:r>
        </a:p>
      </dgm:t>
    </dgm:pt>
    <dgm:pt modelId="{061C00BA-9039-4293-81D4-7DE49D9B127C}" type="parTrans" cxnId="{51DBF0B7-E6AF-4E63-9442-3234276335F1}">
      <dgm:prSet/>
      <dgm:spPr/>
      <dgm:t>
        <a:bodyPr/>
        <a:lstStyle/>
        <a:p>
          <a:endParaRPr lang="en-US"/>
        </a:p>
      </dgm:t>
    </dgm:pt>
    <dgm:pt modelId="{A95390E0-2D40-4AF7-9F10-EC042E48B9EF}" type="sibTrans" cxnId="{51DBF0B7-E6AF-4E63-9442-3234276335F1}">
      <dgm:prSet/>
      <dgm:spPr/>
      <dgm:t>
        <a:bodyPr/>
        <a:lstStyle/>
        <a:p>
          <a:endParaRPr lang="en-US"/>
        </a:p>
      </dgm:t>
    </dgm:pt>
    <dgm:pt modelId="{092EFAEE-9A03-4539-B27F-859E030C0C14}">
      <dgm:prSet/>
      <dgm:spPr/>
      <dgm:t>
        <a:bodyPr/>
        <a:lstStyle/>
        <a:p>
          <a:r>
            <a:rPr lang="en-US" dirty="0" err="1"/>
            <a:t>ect</a:t>
          </a:r>
          <a:r>
            <a:rPr lang="en-US" dirty="0"/>
            <a:t>.</a:t>
          </a:r>
        </a:p>
      </dgm:t>
    </dgm:pt>
    <dgm:pt modelId="{1C0F1376-5BEE-40DA-99AB-F9312F7F037E}" type="parTrans" cxnId="{9079B052-480C-4C74-8514-9686DD458FAD}">
      <dgm:prSet/>
      <dgm:spPr/>
      <dgm:t>
        <a:bodyPr/>
        <a:lstStyle/>
        <a:p>
          <a:endParaRPr lang="en-US"/>
        </a:p>
      </dgm:t>
    </dgm:pt>
    <dgm:pt modelId="{D46F3689-A366-4B3B-8F41-77C45C3C74E3}" type="sibTrans" cxnId="{9079B052-480C-4C74-8514-9686DD458FAD}">
      <dgm:prSet/>
      <dgm:spPr/>
      <dgm:t>
        <a:bodyPr/>
        <a:lstStyle/>
        <a:p>
          <a:endParaRPr lang="en-US"/>
        </a:p>
      </dgm:t>
    </dgm:pt>
    <dgm:pt modelId="{9FFD52C4-0CA9-46D1-BDEC-8F8E0CFD411C}">
      <dgm:prSet/>
      <dgm:spPr/>
      <dgm:t>
        <a:bodyPr/>
        <a:lstStyle/>
        <a:p>
          <a:r>
            <a:rPr lang="en-US" dirty="0"/>
            <a:t>more robust data set</a:t>
          </a:r>
        </a:p>
      </dgm:t>
    </dgm:pt>
    <dgm:pt modelId="{DEE8C4EA-43AB-4751-85AE-2EF8F69D4328}" type="parTrans" cxnId="{EE835D7B-BB65-41F4-A93E-A987A9E46596}">
      <dgm:prSet/>
      <dgm:spPr/>
      <dgm:t>
        <a:bodyPr/>
        <a:lstStyle/>
        <a:p>
          <a:endParaRPr lang="en-US"/>
        </a:p>
      </dgm:t>
    </dgm:pt>
    <dgm:pt modelId="{BAABA577-068F-4968-B5A9-9668CD2CD535}" type="sibTrans" cxnId="{EE835D7B-BB65-41F4-A93E-A987A9E46596}">
      <dgm:prSet/>
      <dgm:spPr/>
      <dgm:t>
        <a:bodyPr/>
        <a:lstStyle/>
        <a:p>
          <a:endParaRPr lang="en-US"/>
        </a:p>
      </dgm:t>
    </dgm:pt>
    <dgm:pt modelId="{B225E0DB-B1F6-4116-9DBF-B6748B4F04C9}" type="pres">
      <dgm:prSet presAssocID="{9C129C5E-215D-478C-A45D-44BB5B6B34AE}" presName="linear" presStyleCnt="0">
        <dgm:presLayoutVars>
          <dgm:dir/>
          <dgm:animLvl val="lvl"/>
          <dgm:resizeHandles val="exact"/>
        </dgm:presLayoutVars>
      </dgm:prSet>
      <dgm:spPr/>
    </dgm:pt>
    <dgm:pt modelId="{18662112-7268-486E-9F88-7FE2D343707C}" type="pres">
      <dgm:prSet presAssocID="{F23C0251-009E-4F72-8027-949AB9C3F9DC}" presName="parentLin" presStyleCnt="0"/>
      <dgm:spPr/>
    </dgm:pt>
    <dgm:pt modelId="{07934888-2297-43D4-B374-538278879A06}" type="pres">
      <dgm:prSet presAssocID="{F23C0251-009E-4F72-8027-949AB9C3F9DC}" presName="parentLeftMargin" presStyleLbl="node1" presStyleIdx="0" presStyleCnt="2"/>
      <dgm:spPr/>
    </dgm:pt>
    <dgm:pt modelId="{25FC7017-F6C2-43BE-9756-6A5ACB97CFBC}" type="pres">
      <dgm:prSet presAssocID="{F23C0251-009E-4F72-8027-949AB9C3F9DC}" presName="parentText" presStyleLbl="node1" presStyleIdx="0" presStyleCnt="2">
        <dgm:presLayoutVars>
          <dgm:chMax val="0"/>
          <dgm:bulletEnabled val="1"/>
        </dgm:presLayoutVars>
      </dgm:prSet>
      <dgm:spPr/>
    </dgm:pt>
    <dgm:pt modelId="{0768A7BE-F634-405A-AA94-F4E5D76734EA}" type="pres">
      <dgm:prSet presAssocID="{F23C0251-009E-4F72-8027-949AB9C3F9DC}" presName="negativeSpace" presStyleCnt="0"/>
      <dgm:spPr/>
    </dgm:pt>
    <dgm:pt modelId="{0D3DC2C5-B655-402C-B9C0-8C5C0E47400B}" type="pres">
      <dgm:prSet presAssocID="{F23C0251-009E-4F72-8027-949AB9C3F9DC}" presName="childText" presStyleLbl="conFgAcc1" presStyleIdx="0" presStyleCnt="2">
        <dgm:presLayoutVars>
          <dgm:bulletEnabled val="1"/>
        </dgm:presLayoutVars>
      </dgm:prSet>
      <dgm:spPr/>
    </dgm:pt>
    <dgm:pt modelId="{A6EA6503-9BE2-4349-AEC3-9D089D4512B2}" type="pres">
      <dgm:prSet presAssocID="{B5E3BB98-3A95-4ACE-BC93-68E48D4F16EA}" presName="spaceBetweenRectangles" presStyleCnt="0"/>
      <dgm:spPr/>
    </dgm:pt>
    <dgm:pt modelId="{D1077D5B-0F8C-4129-8947-9C960858B1AF}" type="pres">
      <dgm:prSet presAssocID="{3B6D2577-B114-4CD5-9C8E-BA2D26896943}" presName="parentLin" presStyleCnt="0"/>
      <dgm:spPr/>
    </dgm:pt>
    <dgm:pt modelId="{7B0189EE-AC4D-446B-AFC0-F38E81BB24FE}" type="pres">
      <dgm:prSet presAssocID="{3B6D2577-B114-4CD5-9C8E-BA2D26896943}" presName="parentLeftMargin" presStyleLbl="node1" presStyleIdx="0" presStyleCnt="2"/>
      <dgm:spPr/>
    </dgm:pt>
    <dgm:pt modelId="{AEF5501D-D70A-4733-B01D-3037D8948D2E}" type="pres">
      <dgm:prSet presAssocID="{3B6D2577-B114-4CD5-9C8E-BA2D26896943}" presName="parentText" presStyleLbl="node1" presStyleIdx="1" presStyleCnt="2">
        <dgm:presLayoutVars>
          <dgm:chMax val="0"/>
          <dgm:bulletEnabled val="1"/>
        </dgm:presLayoutVars>
      </dgm:prSet>
      <dgm:spPr/>
    </dgm:pt>
    <dgm:pt modelId="{E6662749-B159-42EF-8C33-72A48DDDCC91}" type="pres">
      <dgm:prSet presAssocID="{3B6D2577-B114-4CD5-9C8E-BA2D26896943}" presName="negativeSpace" presStyleCnt="0"/>
      <dgm:spPr/>
    </dgm:pt>
    <dgm:pt modelId="{8DED2AAA-9DE9-4393-B179-601BECB9C388}" type="pres">
      <dgm:prSet presAssocID="{3B6D2577-B114-4CD5-9C8E-BA2D26896943}" presName="childText" presStyleLbl="conFgAcc1" presStyleIdx="1" presStyleCnt="2">
        <dgm:presLayoutVars>
          <dgm:bulletEnabled val="1"/>
        </dgm:presLayoutVars>
      </dgm:prSet>
      <dgm:spPr/>
    </dgm:pt>
  </dgm:ptLst>
  <dgm:cxnLst>
    <dgm:cxn modelId="{7AE39724-9C42-4D8F-AC3B-B94A30D1EACE}" type="presOf" srcId="{C709C3F6-F611-47A3-863E-2ABAEBF96747}" destId="{0D3DC2C5-B655-402C-B9C0-8C5C0E47400B}" srcOrd="0" destOrd="0" presId="urn:microsoft.com/office/officeart/2005/8/layout/list1"/>
    <dgm:cxn modelId="{6F86F125-CCFC-46C2-82ED-F23468BC3B4F}" type="presOf" srcId="{9FFD52C4-0CA9-46D1-BDEC-8F8E0CFD411C}" destId="{0D3DC2C5-B655-402C-B9C0-8C5C0E47400B}" srcOrd="0" destOrd="1" presId="urn:microsoft.com/office/officeart/2005/8/layout/list1"/>
    <dgm:cxn modelId="{5049213D-0A61-4736-A5D4-2C104E9239E9}" type="presOf" srcId="{91642333-B187-40EE-8433-9175BF2B3092}" destId="{0D3DC2C5-B655-402C-B9C0-8C5C0E47400B}" srcOrd="0" destOrd="2" presId="urn:microsoft.com/office/officeart/2005/8/layout/list1"/>
    <dgm:cxn modelId="{FE17135D-C32A-4EF0-8DA0-02074A52BAEB}" type="presOf" srcId="{80CA78EB-7801-4F63-9C8B-AE39CE483B81}" destId="{8DED2AAA-9DE9-4393-B179-601BECB9C388}" srcOrd="0" destOrd="1" presId="urn:microsoft.com/office/officeart/2005/8/layout/list1"/>
    <dgm:cxn modelId="{780E3067-0797-485E-B175-7B3641662961}" type="presOf" srcId="{9C129C5E-215D-478C-A45D-44BB5B6B34AE}" destId="{B225E0DB-B1F6-4116-9DBF-B6748B4F04C9}" srcOrd="0" destOrd="0" presId="urn:microsoft.com/office/officeart/2005/8/layout/list1"/>
    <dgm:cxn modelId="{060BD868-A7E7-4EF1-A4EB-2511683731B2}" type="presOf" srcId="{6748475B-7D72-4528-B995-25EB881BDD04}" destId="{8DED2AAA-9DE9-4393-B179-601BECB9C388}" srcOrd="0" destOrd="0" presId="urn:microsoft.com/office/officeart/2005/8/layout/list1"/>
    <dgm:cxn modelId="{B5600570-12E6-498F-81EA-5055BBA6231E}" srcId="{9FFD52C4-0CA9-46D1-BDEC-8F8E0CFD411C}" destId="{91642333-B187-40EE-8433-9175BF2B3092}" srcOrd="0" destOrd="0" parTransId="{20B34AAB-C4F0-4AB7-AB53-233DF0099163}" sibTransId="{A1F391D4-C9EE-46EC-9B06-80DABE4BC268}"/>
    <dgm:cxn modelId="{D3F03A52-9BFF-4D91-9755-769CC6B14EBF}" type="presOf" srcId="{092EFAEE-9A03-4539-B27F-859E030C0C14}" destId="{8DED2AAA-9DE9-4393-B179-601BECB9C388}" srcOrd="0" destOrd="4" presId="urn:microsoft.com/office/officeart/2005/8/layout/list1"/>
    <dgm:cxn modelId="{9079B052-480C-4C74-8514-9686DD458FAD}" srcId="{3B6D2577-B114-4CD5-9C8E-BA2D26896943}" destId="{092EFAEE-9A03-4539-B27F-859E030C0C14}" srcOrd="4" destOrd="0" parTransId="{1C0F1376-5BEE-40DA-99AB-F9312F7F037E}" sibTransId="{D46F3689-A366-4B3B-8F41-77C45C3C74E3}"/>
    <dgm:cxn modelId="{EE835D7B-BB65-41F4-A93E-A987A9E46596}" srcId="{F23C0251-009E-4F72-8027-949AB9C3F9DC}" destId="{9FFD52C4-0CA9-46D1-BDEC-8F8E0CFD411C}" srcOrd="1" destOrd="0" parTransId="{DEE8C4EA-43AB-4751-85AE-2EF8F69D4328}" sibTransId="{BAABA577-068F-4968-B5A9-9668CD2CD535}"/>
    <dgm:cxn modelId="{AC21947E-27FF-4823-A594-1A598FDD3804}" type="presOf" srcId="{9F7379B3-ED9B-43BE-B564-13D115C909BE}" destId="{8DED2AAA-9DE9-4393-B179-601BECB9C388}" srcOrd="0" destOrd="2" presId="urn:microsoft.com/office/officeart/2005/8/layout/list1"/>
    <dgm:cxn modelId="{CF5F7E82-3B75-4F92-A0A1-E2B3A8C70A5A}" type="presOf" srcId="{C29A64A2-6E40-456E-BD6F-79AC1343415B}" destId="{8DED2AAA-9DE9-4393-B179-601BECB9C388}" srcOrd="0" destOrd="3" presId="urn:microsoft.com/office/officeart/2005/8/layout/list1"/>
    <dgm:cxn modelId="{4BCA8FA3-05BD-4E2C-8429-684DA5E2AC73}" srcId="{F23C0251-009E-4F72-8027-949AB9C3F9DC}" destId="{C709C3F6-F611-47A3-863E-2ABAEBF96747}" srcOrd="0" destOrd="0" parTransId="{CAE1C4F0-DA01-46A9-9548-B8D8B178CAFD}" sibTransId="{2EF702EF-4A09-4BCD-9D2C-9D119AF8B294}"/>
    <dgm:cxn modelId="{5570F1A9-D46C-4C06-8DFB-363C3F9C9198}" srcId="{3B6D2577-B114-4CD5-9C8E-BA2D26896943}" destId="{6748475B-7D72-4528-B995-25EB881BDD04}" srcOrd="0" destOrd="0" parTransId="{3886F5E6-BE24-4754-8538-5379E365F887}" sibTransId="{A210F0A8-B360-4BF6-B566-CC6B56ECCEC0}"/>
    <dgm:cxn modelId="{744274AD-74ED-4539-93ED-E103F7DA13D8}" type="presOf" srcId="{F23C0251-009E-4F72-8027-949AB9C3F9DC}" destId="{07934888-2297-43D4-B374-538278879A06}" srcOrd="0" destOrd="0" presId="urn:microsoft.com/office/officeart/2005/8/layout/list1"/>
    <dgm:cxn modelId="{4CEC2DB5-7207-426F-8179-8544644918E1}" srcId="{9C129C5E-215D-478C-A45D-44BB5B6B34AE}" destId="{F23C0251-009E-4F72-8027-949AB9C3F9DC}" srcOrd="0" destOrd="0" parTransId="{3681B1C6-B61F-411B-B466-56E7B59CED2B}" sibTransId="{B5E3BB98-3A95-4ACE-BC93-68E48D4F16EA}"/>
    <dgm:cxn modelId="{51DBF0B7-E6AF-4E63-9442-3234276335F1}" srcId="{3B6D2577-B114-4CD5-9C8E-BA2D26896943}" destId="{C29A64A2-6E40-456E-BD6F-79AC1343415B}" srcOrd="3" destOrd="0" parTransId="{061C00BA-9039-4293-81D4-7DE49D9B127C}" sibTransId="{A95390E0-2D40-4AF7-9F10-EC042E48B9EF}"/>
    <dgm:cxn modelId="{A64955BD-8545-4B9A-A1BC-0A98570755B5}" type="presOf" srcId="{3B6D2577-B114-4CD5-9C8E-BA2D26896943}" destId="{AEF5501D-D70A-4733-B01D-3037D8948D2E}" srcOrd="1" destOrd="0" presId="urn:microsoft.com/office/officeart/2005/8/layout/list1"/>
    <dgm:cxn modelId="{B5837CC7-2BC0-41E2-9EE7-2E657B3D79F4}" type="presOf" srcId="{3B6D2577-B114-4CD5-9C8E-BA2D26896943}" destId="{7B0189EE-AC4D-446B-AFC0-F38E81BB24FE}" srcOrd="0" destOrd="0" presId="urn:microsoft.com/office/officeart/2005/8/layout/list1"/>
    <dgm:cxn modelId="{8D7285D0-3DE2-478D-8D5F-46AF98BF1A53}" srcId="{3B6D2577-B114-4CD5-9C8E-BA2D26896943}" destId="{80CA78EB-7801-4F63-9C8B-AE39CE483B81}" srcOrd="1" destOrd="0" parTransId="{AE99EEDC-47C5-4138-B7C9-6A100A6F5692}" sibTransId="{DD47329F-8676-4A0D-B8A2-5954871D05C9}"/>
    <dgm:cxn modelId="{40C237D7-E9A0-417F-B3D8-4D5CA30997B7}" srcId="{9C129C5E-215D-478C-A45D-44BB5B6B34AE}" destId="{3B6D2577-B114-4CD5-9C8E-BA2D26896943}" srcOrd="1" destOrd="0" parTransId="{B1664B8B-4C54-488C-879F-27A26B5A2185}" sibTransId="{5BC27EED-7D09-4C95-970B-8192D3364F4D}"/>
    <dgm:cxn modelId="{EE58ABDF-FB63-4FAC-BC25-2A85BC972E76}" type="presOf" srcId="{F23C0251-009E-4F72-8027-949AB9C3F9DC}" destId="{25FC7017-F6C2-43BE-9756-6A5ACB97CFBC}" srcOrd="1" destOrd="0" presId="urn:microsoft.com/office/officeart/2005/8/layout/list1"/>
    <dgm:cxn modelId="{125C32EE-F49F-423A-AB42-FEB1D76C1255}" srcId="{3B6D2577-B114-4CD5-9C8E-BA2D26896943}" destId="{9F7379B3-ED9B-43BE-B564-13D115C909BE}" srcOrd="2" destOrd="0" parTransId="{4E5AC1A2-2361-4077-9DFC-A4ADD60FFF7F}" sibTransId="{6C154EF8-6C66-4DCB-94AF-B94F8D10E6A7}"/>
    <dgm:cxn modelId="{498A4ECA-0D80-4529-9633-0C9C86447094}" type="presParOf" srcId="{B225E0DB-B1F6-4116-9DBF-B6748B4F04C9}" destId="{18662112-7268-486E-9F88-7FE2D343707C}" srcOrd="0" destOrd="0" presId="urn:microsoft.com/office/officeart/2005/8/layout/list1"/>
    <dgm:cxn modelId="{91E903C0-C57B-4F1B-BFDE-085EC77A7AA3}" type="presParOf" srcId="{18662112-7268-486E-9F88-7FE2D343707C}" destId="{07934888-2297-43D4-B374-538278879A06}" srcOrd="0" destOrd="0" presId="urn:microsoft.com/office/officeart/2005/8/layout/list1"/>
    <dgm:cxn modelId="{929341CB-6356-486D-B3DA-BDA4971D167D}" type="presParOf" srcId="{18662112-7268-486E-9F88-7FE2D343707C}" destId="{25FC7017-F6C2-43BE-9756-6A5ACB97CFBC}" srcOrd="1" destOrd="0" presId="urn:microsoft.com/office/officeart/2005/8/layout/list1"/>
    <dgm:cxn modelId="{5CCD79BB-92DC-4DFF-83A6-AAF52915812E}" type="presParOf" srcId="{B225E0DB-B1F6-4116-9DBF-B6748B4F04C9}" destId="{0768A7BE-F634-405A-AA94-F4E5D76734EA}" srcOrd="1" destOrd="0" presId="urn:microsoft.com/office/officeart/2005/8/layout/list1"/>
    <dgm:cxn modelId="{16F07563-DB58-488C-9278-4BB05DF6914B}" type="presParOf" srcId="{B225E0DB-B1F6-4116-9DBF-B6748B4F04C9}" destId="{0D3DC2C5-B655-402C-B9C0-8C5C0E47400B}" srcOrd="2" destOrd="0" presId="urn:microsoft.com/office/officeart/2005/8/layout/list1"/>
    <dgm:cxn modelId="{12F7354C-06F3-46D4-A42E-54DFB4D7AA66}" type="presParOf" srcId="{B225E0DB-B1F6-4116-9DBF-B6748B4F04C9}" destId="{A6EA6503-9BE2-4349-AEC3-9D089D4512B2}" srcOrd="3" destOrd="0" presId="urn:microsoft.com/office/officeart/2005/8/layout/list1"/>
    <dgm:cxn modelId="{B345F919-1165-4E2F-8623-A159A0F70F95}" type="presParOf" srcId="{B225E0DB-B1F6-4116-9DBF-B6748B4F04C9}" destId="{D1077D5B-0F8C-4129-8947-9C960858B1AF}" srcOrd="4" destOrd="0" presId="urn:microsoft.com/office/officeart/2005/8/layout/list1"/>
    <dgm:cxn modelId="{A6EA82F8-ED0A-4A82-A5AB-FA6D2119DFE8}" type="presParOf" srcId="{D1077D5B-0F8C-4129-8947-9C960858B1AF}" destId="{7B0189EE-AC4D-446B-AFC0-F38E81BB24FE}" srcOrd="0" destOrd="0" presId="urn:microsoft.com/office/officeart/2005/8/layout/list1"/>
    <dgm:cxn modelId="{FA8F1332-0027-4F39-AD7F-BE7FDE06DA01}" type="presParOf" srcId="{D1077D5B-0F8C-4129-8947-9C960858B1AF}" destId="{AEF5501D-D70A-4733-B01D-3037D8948D2E}" srcOrd="1" destOrd="0" presId="urn:microsoft.com/office/officeart/2005/8/layout/list1"/>
    <dgm:cxn modelId="{FDD20931-0601-4DA1-A9EB-9F5587A8CEE3}" type="presParOf" srcId="{B225E0DB-B1F6-4116-9DBF-B6748B4F04C9}" destId="{E6662749-B159-42EF-8C33-72A48DDDCC91}" srcOrd="5" destOrd="0" presId="urn:microsoft.com/office/officeart/2005/8/layout/list1"/>
    <dgm:cxn modelId="{0B74559B-8DD0-4667-A628-B17A770E75A2}" type="presParOf" srcId="{B225E0DB-B1F6-4116-9DBF-B6748B4F04C9}" destId="{8DED2AAA-9DE9-4393-B179-601BECB9C388}"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26570D-7042-47D0-9D96-28F3C0EAF513}">
      <dsp:nvSpPr>
        <dsp:cNvPr id="0" name=""/>
        <dsp:cNvSpPr/>
      </dsp:nvSpPr>
      <dsp:spPr>
        <a:xfrm>
          <a:off x="0"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F3C81B8-9521-463E-921B-0A30664A5031}">
      <dsp:nvSpPr>
        <dsp:cNvPr id="0" name=""/>
        <dsp:cNvSpPr/>
      </dsp:nvSpPr>
      <dsp:spPr>
        <a:xfrm>
          <a:off x="341494"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Movie Production companies</a:t>
          </a:r>
        </a:p>
      </dsp:txBody>
      <dsp:txXfrm>
        <a:off x="398656" y="1088253"/>
        <a:ext cx="2959127" cy="1837317"/>
      </dsp:txXfrm>
    </dsp:sp>
    <dsp:sp modelId="{75CB367A-28E8-4BE3-A687-171980557A16}">
      <dsp:nvSpPr>
        <dsp:cNvPr id="0" name=""/>
        <dsp:cNvSpPr/>
      </dsp:nvSpPr>
      <dsp:spPr>
        <a:xfrm>
          <a:off x="3756441"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29EB75-0429-4792-AD7C-CF0AFA00D29B}">
      <dsp:nvSpPr>
        <dsp:cNvPr id="0" name=""/>
        <dsp:cNvSpPr/>
      </dsp:nvSpPr>
      <dsp:spPr>
        <a:xfrm>
          <a:off x="4097935"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Actors</a:t>
          </a:r>
        </a:p>
      </dsp:txBody>
      <dsp:txXfrm>
        <a:off x="4155097" y="1088253"/>
        <a:ext cx="2959127" cy="1837317"/>
      </dsp:txXfrm>
    </dsp:sp>
    <dsp:sp modelId="{5D5B27B6-94C8-4572-8989-924758C8A3D1}">
      <dsp:nvSpPr>
        <dsp:cNvPr id="0" name=""/>
        <dsp:cNvSpPr/>
      </dsp:nvSpPr>
      <dsp:spPr>
        <a:xfrm>
          <a:off x="7512882"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AECC41-86AB-4F2E-8192-B8959098268A}">
      <dsp:nvSpPr>
        <dsp:cNvPr id="0" name=""/>
        <dsp:cNvSpPr/>
      </dsp:nvSpPr>
      <dsp:spPr>
        <a:xfrm>
          <a:off x="7854377"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Theaters</a:t>
          </a:r>
        </a:p>
      </dsp:txBody>
      <dsp:txXfrm>
        <a:off x="7911539" y="1088253"/>
        <a:ext cx="2959127" cy="18373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693676-4CFF-4A67-879D-9A8835A2165D}">
      <dsp:nvSpPr>
        <dsp:cNvPr id="0" name=""/>
        <dsp:cNvSpPr/>
      </dsp:nvSpPr>
      <dsp:spPr>
        <a:xfrm>
          <a:off x="4514763" y="2050682"/>
          <a:ext cx="661566" cy="91440"/>
        </a:xfrm>
        <a:custGeom>
          <a:avLst/>
          <a:gdLst/>
          <a:ahLst/>
          <a:cxnLst/>
          <a:rect l="0" t="0" r="0" b="0"/>
          <a:pathLst>
            <a:path>
              <a:moveTo>
                <a:pt x="0" y="45720"/>
              </a:moveTo>
              <a:lnTo>
                <a:pt x="661566" y="45720"/>
              </a:lnTo>
            </a:path>
          </a:pathLst>
        </a:custGeom>
        <a:noFill/>
        <a:ln w="12700" cap="flat" cmpd="sng" algn="ctr">
          <a:no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828242" y="2092941"/>
        <a:ext cx="34608" cy="6921"/>
      </dsp:txXfrm>
    </dsp:sp>
    <dsp:sp modelId="{D3F47D5E-EE7C-49CB-8BAC-FCB6020F42CC}">
      <dsp:nvSpPr>
        <dsp:cNvPr id="0" name=""/>
        <dsp:cNvSpPr/>
      </dsp:nvSpPr>
      <dsp:spPr>
        <a:xfrm>
          <a:off x="3815" y="558663"/>
          <a:ext cx="4512748" cy="3075478"/>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7464" tIns="154790" rIns="147464" bIns="154790" numCol="1" spcCol="1270" anchor="ctr" anchorCtr="0">
          <a:noAutofit/>
        </a:bodyPr>
        <a:lstStyle/>
        <a:p>
          <a:pPr marL="0" lvl="0" indent="0" algn="ctr" defTabSz="1066800">
            <a:lnSpc>
              <a:spcPct val="90000"/>
            </a:lnSpc>
            <a:spcBef>
              <a:spcPct val="0"/>
            </a:spcBef>
            <a:spcAft>
              <a:spcPct val="35000"/>
            </a:spcAft>
            <a:buNone/>
          </a:pPr>
          <a:r>
            <a:rPr lang="en-US" sz="2400" kern="1200"/>
            <a:t>Movie creators want to profit off their movies and many factors influence that</a:t>
          </a:r>
        </a:p>
      </dsp:txBody>
      <dsp:txXfrm>
        <a:off x="3815" y="558663"/>
        <a:ext cx="4512748" cy="3075478"/>
      </dsp:txXfrm>
    </dsp:sp>
    <dsp:sp modelId="{E845C43E-2F78-45C1-B996-B09453BE4446}">
      <dsp:nvSpPr>
        <dsp:cNvPr id="0" name=""/>
        <dsp:cNvSpPr/>
      </dsp:nvSpPr>
      <dsp:spPr>
        <a:xfrm>
          <a:off x="5208730" y="231153"/>
          <a:ext cx="5715282" cy="37304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7464" tIns="154790" rIns="147464" bIns="154790" numCol="1" spcCol="1270" anchor="t" anchorCtr="0">
          <a:noAutofit/>
        </a:bodyPr>
        <a:lstStyle/>
        <a:p>
          <a:pPr marL="0" lvl="0" indent="0" algn="l" defTabSz="1022350">
            <a:lnSpc>
              <a:spcPct val="90000"/>
            </a:lnSpc>
            <a:spcBef>
              <a:spcPct val="0"/>
            </a:spcBef>
            <a:spcAft>
              <a:spcPct val="35000"/>
            </a:spcAft>
            <a:buNone/>
          </a:pPr>
          <a:r>
            <a:rPr lang="en-US" sz="2300" kern="1200" dirty="0"/>
            <a:t>This data set includes</a:t>
          </a:r>
        </a:p>
        <a:p>
          <a:pPr marL="171450" lvl="1" indent="-171450" algn="l" defTabSz="800100">
            <a:lnSpc>
              <a:spcPct val="90000"/>
            </a:lnSpc>
            <a:spcBef>
              <a:spcPct val="0"/>
            </a:spcBef>
            <a:spcAft>
              <a:spcPct val="15000"/>
            </a:spcAft>
            <a:buChar char="•"/>
          </a:pPr>
          <a:r>
            <a:rPr lang="en-US" sz="1800" kern="1200" dirty="0"/>
            <a:t>Title</a:t>
          </a:r>
        </a:p>
        <a:p>
          <a:pPr marL="171450" lvl="1" indent="-171450" algn="l" defTabSz="800100">
            <a:lnSpc>
              <a:spcPct val="90000"/>
            </a:lnSpc>
            <a:spcBef>
              <a:spcPct val="0"/>
            </a:spcBef>
            <a:spcAft>
              <a:spcPct val="15000"/>
            </a:spcAft>
            <a:buChar char="•"/>
          </a:pPr>
          <a:r>
            <a:rPr lang="en-US" sz="1800" kern="1200" dirty="0"/>
            <a:t>Release dates</a:t>
          </a:r>
        </a:p>
        <a:p>
          <a:pPr marL="171450" lvl="1" indent="-171450" algn="l" defTabSz="800100">
            <a:lnSpc>
              <a:spcPct val="90000"/>
            </a:lnSpc>
            <a:spcBef>
              <a:spcPct val="0"/>
            </a:spcBef>
            <a:spcAft>
              <a:spcPct val="15000"/>
            </a:spcAft>
            <a:buChar char="•"/>
          </a:pPr>
          <a:r>
            <a:rPr lang="en-US" sz="1800" kern="1200" dirty="0"/>
            <a:t>Budget</a:t>
          </a:r>
        </a:p>
        <a:p>
          <a:pPr marL="171450" lvl="1" indent="-171450" algn="l" defTabSz="800100">
            <a:lnSpc>
              <a:spcPct val="90000"/>
            </a:lnSpc>
            <a:spcBef>
              <a:spcPct val="0"/>
            </a:spcBef>
            <a:spcAft>
              <a:spcPct val="15000"/>
            </a:spcAft>
            <a:buChar char="•"/>
          </a:pPr>
          <a:r>
            <a:rPr lang="en-US" sz="1800" kern="1200"/>
            <a:t>Gross</a:t>
          </a:r>
        </a:p>
        <a:p>
          <a:pPr marL="171450" lvl="1" indent="-171450" algn="l" defTabSz="800100">
            <a:lnSpc>
              <a:spcPct val="90000"/>
            </a:lnSpc>
            <a:spcBef>
              <a:spcPct val="0"/>
            </a:spcBef>
            <a:spcAft>
              <a:spcPct val="15000"/>
            </a:spcAft>
            <a:buChar char="•"/>
          </a:pPr>
          <a:r>
            <a:rPr lang="en-US" sz="1800" kern="1200" dirty="0"/>
            <a:t>Genre</a:t>
          </a:r>
        </a:p>
        <a:p>
          <a:pPr marL="171450" lvl="1" indent="-171450" algn="l" defTabSz="800100">
            <a:lnSpc>
              <a:spcPct val="90000"/>
            </a:lnSpc>
            <a:spcBef>
              <a:spcPct val="0"/>
            </a:spcBef>
            <a:spcAft>
              <a:spcPct val="15000"/>
            </a:spcAft>
            <a:buChar char="•"/>
          </a:pPr>
          <a:r>
            <a:rPr lang="en-US" sz="1800" kern="1200" dirty="0"/>
            <a:t>Runtime</a:t>
          </a:r>
        </a:p>
        <a:p>
          <a:pPr marL="171450" lvl="1" indent="-171450" algn="l" defTabSz="800100">
            <a:lnSpc>
              <a:spcPct val="90000"/>
            </a:lnSpc>
            <a:spcBef>
              <a:spcPct val="0"/>
            </a:spcBef>
            <a:spcAft>
              <a:spcPct val="15000"/>
            </a:spcAft>
            <a:buChar char="•"/>
          </a:pPr>
          <a:r>
            <a:rPr lang="en-US" sz="1800" kern="1200"/>
            <a:t>MPAA rating</a:t>
          </a:r>
        </a:p>
        <a:p>
          <a:pPr marL="171450" lvl="1" indent="-171450" algn="l" defTabSz="800100">
            <a:lnSpc>
              <a:spcPct val="90000"/>
            </a:lnSpc>
            <a:spcBef>
              <a:spcPct val="0"/>
            </a:spcBef>
            <a:spcAft>
              <a:spcPct val="15000"/>
            </a:spcAft>
            <a:buChar char="•"/>
          </a:pPr>
          <a:r>
            <a:rPr lang="en-US" sz="1800" kern="1200" dirty="0"/>
            <a:t>Review ratings</a:t>
          </a:r>
        </a:p>
        <a:p>
          <a:pPr marL="171450" lvl="1" indent="-171450" algn="l" defTabSz="800100">
            <a:lnSpc>
              <a:spcPct val="90000"/>
            </a:lnSpc>
            <a:spcBef>
              <a:spcPct val="0"/>
            </a:spcBef>
            <a:spcAft>
              <a:spcPct val="15000"/>
            </a:spcAft>
            <a:buChar char="•"/>
          </a:pPr>
          <a:r>
            <a:rPr lang="en-US" sz="1800" kern="1200" dirty="0"/>
            <a:t>Number of Reviews</a:t>
          </a:r>
        </a:p>
      </dsp:txBody>
      <dsp:txXfrm>
        <a:off x="5208730" y="231153"/>
        <a:ext cx="5715282" cy="373049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FBE37F-9FEE-4BA7-B3B0-CFFF0DC63C38}">
      <dsp:nvSpPr>
        <dsp:cNvPr id="0" name=""/>
        <dsp:cNvSpPr/>
      </dsp:nvSpPr>
      <dsp:spPr>
        <a:xfrm>
          <a:off x="0" y="35065"/>
          <a:ext cx="3455821" cy="10740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Kaggle Movie data set</a:t>
          </a:r>
        </a:p>
      </dsp:txBody>
      <dsp:txXfrm>
        <a:off x="52431" y="87496"/>
        <a:ext cx="3350959" cy="969198"/>
      </dsp:txXfrm>
    </dsp:sp>
    <dsp:sp modelId="{B2FEAA1C-03C9-4487-92AD-6B64C50EB2A0}">
      <dsp:nvSpPr>
        <dsp:cNvPr id="0" name=""/>
        <dsp:cNvSpPr/>
      </dsp:nvSpPr>
      <dsp:spPr>
        <a:xfrm>
          <a:off x="0" y="1186886"/>
          <a:ext cx="3455821" cy="10740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500 Blockbuster Movies</a:t>
          </a:r>
        </a:p>
      </dsp:txBody>
      <dsp:txXfrm>
        <a:off x="52431" y="1239317"/>
        <a:ext cx="3350959" cy="969198"/>
      </dsp:txXfrm>
    </dsp:sp>
    <dsp:sp modelId="{B39880DA-99E7-44A0-8118-51769FA5F318}">
      <dsp:nvSpPr>
        <dsp:cNvPr id="0" name=""/>
        <dsp:cNvSpPr/>
      </dsp:nvSpPr>
      <dsp:spPr>
        <a:xfrm>
          <a:off x="0" y="2338705"/>
          <a:ext cx="3455821" cy="10740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1988 to 2014</a:t>
          </a:r>
        </a:p>
      </dsp:txBody>
      <dsp:txXfrm>
        <a:off x="52431" y="2391136"/>
        <a:ext cx="3350959" cy="96919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2650D5-11AB-49B1-89BC-2E4116E8B936}">
      <dsp:nvSpPr>
        <dsp:cNvPr id="0" name=""/>
        <dsp:cNvSpPr/>
      </dsp:nvSpPr>
      <dsp:spPr>
        <a:xfrm>
          <a:off x="0" y="0"/>
          <a:ext cx="9288654" cy="1106821"/>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There were three predictive variables, Gross, ROI and Net Profit. </a:t>
          </a:r>
        </a:p>
        <a:p>
          <a:pPr marL="0" lvl="0" indent="0" algn="l" defTabSz="977900">
            <a:lnSpc>
              <a:spcPct val="90000"/>
            </a:lnSpc>
            <a:spcBef>
              <a:spcPct val="0"/>
            </a:spcBef>
            <a:spcAft>
              <a:spcPct val="35000"/>
            </a:spcAft>
            <a:buNone/>
          </a:pPr>
          <a:r>
            <a:rPr lang="en-US" sz="2200" kern="1200" dirty="0"/>
            <a:t>The Log of the Gross was chosen to be used for modeling</a:t>
          </a:r>
        </a:p>
      </dsp:txBody>
      <dsp:txXfrm>
        <a:off x="32418" y="32418"/>
        <a:ext cx="8094307" cy="1041985"/>
      </dsp:txXfrm>
    </dsp:sp>
    <dsp:sp modelId="{5CA61895-7D2F-42C1-9AA9-FD89B1BEDF58}">
      <dsp:nvSpPr>
        <dsp:cNvPr id="0" name=""/>
        <dsp:cNvSpPr/>
      </dsp:nvSpPr>
      <dsp:spPr>
        <a:xfrm>
          <a:off x="819587" y="1291291"/>
          <a:ext cx="9288654" cy="1106821"/>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The month was encoded as a sine/cosine feature.</a:t>
          </a:r>
        </a:p>
      </dsp:txBody>
      <dsp:txXfrm>
        <a:off x="852005" y="1323709"/>
        <a:ext cx="7684797" cy="1041985"/>
      </dsp:txXfrm>
    </dsp:sp>
    <dsp:sp modelId="{11100BF0-1F19-4C4E-9F05-548488AA7B9D}">
      <dsp:nvSpPr>
        <dsp:cNvPr id="0" name=""/>
        <dsp:cNvSpPr/>
      </dsp:nvSpPr>
      <dsp:spPr>
        <a:xfrm>
          <a:off x="1639174" y="2582583"/>
          <a:ext cx="9288654" cy="110682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Linear, XGBoost, Random Forest, and SVR was testing for modeling</a:t>
          </a:r>
        </a:p>
      </dsp:txBody>
      <dsp:txXfrm>
        <a:off x="1671592" y="2615001"/>
        <a:ext cx="7684797" cy="1041985"/>
      </dsp:txXfrm>
    </dsp:sp>
    <dsp:sp modelId="{BC4841FF-2F0D-41BB-B827-25CF43BE72DE}">
      <dsp:nvSpPr>
        <dsp:cNvPr id="0" name=""/>
        <dsp:cNvSpPr/>
      </dsp:nvSpPr>
      <dsp:spPr>
        <a:xfrm>
          <a:off x="9738185" y="818245"/>
          <a:ext cx="719433" cy="719433"/>
        </a:xfrm>
        <a:prstGeom prst="downArrow">
          <a:avLst>
            <a:gd name="adj1" fmla="val 55000"/>
            <a:gd name="adj2" fmla="val 45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US" sz="3200" kern="1200"/>
        </a:p>
      </dsp:txBody>
      <dsp:txXfrm>
        <a:off x="9900057" y="818245"/>
        <a:ext cx="395689" cy="541373"/>
      </dsp:txXfrm>
    </dsp:sp>
    <dsp:sp modelId="{63E458FB-74B9-4407-8055-289841C1AA6C}">
      <dsp:nvSpPr>
        <dsp:cNvPr id="0" name=""/>
        <dsp:cNvSpPr/>
      </dsp:nvSpPr>
      <dsp:spPr>
        <a:xfrm>
          <a:off x="9388807" y="2123252"/>
          <a:ext cx="719433" cy="719433"/>
        </a:xfrm>
        <a:prstGeom prst="downArrow">
          <a:avLst>
            <a:gd name="adj1" fmla="val 55000"/>
            <a:gd name="adj2" fmla="val 45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US" sz="3200" kern="1200"/>
        </a:p>
      </dsp:txBody>
      <dsp:txXfrm>
        <a:off x="9550679" y="2123252"/>
        <a:ext cx="395689" cy="54137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3DC2C5-B655-402C-B9C0-8C5C0E47400B}">
      <dsp:nvSpPr>
        <dsp:cNvPr id="0" name=""/>
        <dsp:cNvSpPr/>
      </dsp:nvSpPr>
      <dsp:spPr>
        <a:xfrm>
          <a:off x="0" y="469759"/>
          <a:ext cx="6666833" cy="18144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99872" rIns="517420"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larger sample size</a:t>
          </a:r>
        </a:p>
        <a:p>
          <a:pPr marL="228600" lvl="1" indent="-228600" algn="l" defTabSz="1066800">
            <a:lnSpc>
              <a:spcPct val="90000"/>
            </a:lnSpc>
            <a:spcBef>
              <a:spcPct val="0"/>
            </a:spcBef>
            <a:spcAft>
              <a:spcPct val="15000"/>
            </a:spcAft>
            <a:buChar char="•"/>
          </a:pPr>
          <a:r>
            <a:rPr lang="en-US" sz="2400" kern="1200" dirty="0"/>
            <a:t>more robust data set</a:t>
          </a:r>
        </a:p>
        <a:p>
          <a:pPr marL="457200" lvl="2" indent="-228600" algn="l" defTabSz="1066800">
            <a:lnSpc>
              <a:spcPct val="90000"/>
            </a:lnSpc>
            <a:spcBef>
              <a:spcPct val="0"/>
            </a:spcBef>
            <a:spcAft>
              <a:spcPct val="15000"/>
            </a:spcAft>
            <a:buChar char="•"/>
          </a:pPr>
          <a:r>
            <a:rPr lang="en-US" sz="2400" kern="1200" dirty="0"/>
            <a:t>movie flops and blockbuster hits. </a:t>
          </a:r>
        </a:p>
      </dsp:txBody>
      <dsp:txXfrm>
        <a:off x="0" y="469759"/>
        <a:ext cx="6666833" cy="1814400"/>
      </dsp:txXfrm>
    </dsp:sp>
    <dsp:sp modelId="{25FC7017-F6C2-43BE-9756-6A5ACB97CFBC}">
      <dsp:nvSpPr>
        <dsp:cNvPr id="0" name=""/>
        <dsp:cNvSpPr/>
      </dsp:nvSpPr>
      <dsp:spPr>
        <a:xfrm>
          <a:off x="333341" y="115519"/>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en-US" sz="2400" kern="1200"/>
            <a:t>Should include</a:t>
          </a:r>
        </a:p>
      </dsp:txBody>
      <dsp:txXfrm>
        <a:off x="367926" y="150104"/>
        <a:ext cx="4597613" cy="639310"/>
      </dsp:txXfrm>
    </dsp:sp>
    <dsp:sp modelId="{8DED2AAA-9DE9-4393-B179-601BECB9C388}">
      <dsp:nvSpPr>
        <dsp:cNvPr id="0" name=""/>
        <dsp:cNvSpPr/>
      </dsp:nvSpPr>
      <dsp:spPr>
        <a:xfrm>
          <a:off x="0" y="2768000"/>
          <a:ext cx="6666833" cy="2570400"/>
        </a:xfrm>
        <a:prstGeom prst="rect">
          <a:avLst/>
        </a:prstGeom>
        <a:solidFill>
          <a:schemeClr val="lt1">
            <a:alpha val="90000"/>
            <a:hueOff val="0"/>
            <a:satOff val="0"/>
            <a:lumOff val="0"/>
            <a:alphaOff val="0"/>
          </a:schemeClr>
        </a:solidFill>
        <a:ln w="12700" cap="flat" cmpd="sng" algn="ctr">
          <a:solidFill>
            <a:schemeClr val="accent2">
              <a:hueOff val="6443614"/>
              <a:satOff val="-18493"/>
              <a:lumOff val="-29609"/>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517420" tIns="499872" rIns="517420"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Directors</a:t>
          </a:r>
        </a:p>
        <a:p>
          <a:pPr marL="228600" lvl="1" indent="-228600" algn="l" defTabSz="1066800">
            <a:lnSpc>
              <a:spcPct val="90000"/>
            </a:lnSpc>
            <a:spcBef>
              <a:spcPct val="0"/>
            </a:spcBef>
            <a:spcAft>
              <a:spcPct val="15000"/>
            </a:spcAft>
            <a:buChar char="•"/>
          </a:pPr>
          <a:r>
            <a:rPr lang="en-US" sz="2400" kern="1200"/>
            <a:t>Production companies</a:t>
          </a:r>
        </a:p>
        <a:p>
          <a:pPr marL="228600" lvl="1" indent="-228600" algn="l" defTabSz="1066800">
            <a:lnSpc>
              <a:spcPct val="90000"/>
            </a:lnSpc>
            <a:spcBef>
              <a:spcPct val="0"/>
            </a:spcBef>
            <a:spcAft>
              <a:spcPct val="15000"/>
            </a:spcAft>
            <a:buChar char="•"/>
          </a:pPr>
          <a:r>
            <a:rPr lang="en-US" sz="2400" kern="1200"/>
            <a:t>Production time</a:t>
          </a:r>
        </a:p>
        <a:p>
          <a:pPr marL="228600" lvl="1" indent="-228600" algn="l" defTabSz="1066800">
            <a:lnSpc>
              <a:spcPct val="90000"/>
            </a:lnSpc>
            <a:spcBef>
              <a:spcPct val="0"/>
            </a:spcBef>
            <a:spcAft>
              <a:spcPct val="15000"/>
            </a:spcAft>
            <a:buChar char="•"/>
          </a:pPr>
          <a:r>
            <a:rPr lang="en-US" sz="2400" kern="1200"/>
            <a:t>Cast </a:t>
          </a:r>
        </a:p>
        <a:p>
          <a:pPr marL="228600" lvl="1" indent="-228600" algn="l" defTabSz="1066800">
            <a:lnSpc>
              <a:spcPct val="90000"/>
            </a:lnSpc>
            <a:spcBef>
              <a:spcPct val="0"/>
            </a:spcBef>
            <a:spcAft>
              <a:spcPct val="15000"/>
            </a:spcAft>
            <a:buChar char="•"/>
          </a:pPr>
          <a:r>
            <a:rPr lang="en-US" sz="2400" kern="1200" dirty="0" err="1"/>
            <a:t>ect</a:t>
          </a:r>
          <a:r>
            <a:rPr lang="en-US" sz="2400" kern="1200" dirty="0"/>
            <a:t>.</a:t>
          </a:r>
        </a:p>
      </dsp:txBody>
      <dsp:txXfrm>
        <a:off x="0" y="2768000"/>
        <a:ext cx="6666833" cy="2570400"/>
      </dsp:txXfrm>
    </dsp:sp>
    <dsp:sp modelId="{AEF5501D-D70A-4733-B01D-3037D8948D2E}">
      <dsp:nvSpPr>
        <dsp:cNvPr id="0" name=""/>
        <dsp:cNvSpPr/>
      </dsp:nvSpPr>
      <dsp:spPr>
        <a:xfrm>
          <a:off x="333341" y="2413759"/>
          <a:ext cx="4666783" cy="708480"/>
        </a:xfrm>
        <a:prstGeom prst="roundRect">
          <a:avLst/>
        </a:prstGeom>
        <a:gradFill rotWithShape="0">
          <a:gsLst>
            <a:gs pos="0">
              <a:schemeClr val="accent2">
                <a:hueOff val="6443614"/>
                <a:satOff val="-18493"/>
                <a:lumOff val="-29609"/>
                <a:alphaOff val="0"/>
                <a:satMod val="103000"/>
                <a:lumMod val="102000"/>
                <a:tint val="94000"/>
              </a:schemeClr>
            </a:gs>
            <a:gs pos="50000">
              <a:schemeClr val="accent2">
                <a:hueOff val="6443614"/>
                <a:satOff val="-18493"/>
                <a:lumOff val="-29609"/>
                <a:alphaOff val="0"/>
                <a:satMod val="110000"/>
                <a:lumMod val="100000"/>
                <a:shade val="100000"/>
              </a:schemeClr>
            </a:gs>
            <a:gs pos="100000">
              <a:schemeClr val="accent2">
                <a:hueOff val="6443614"/>
                <a:satOff val="-18493"/>
                <a:lumOff val="-29609"/>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en-US" sz="2400" kern="1200" dirty="0"/>
            <a:t>Future features</a:t>
          </a:r>
        </a:p>
      </dsp:txBody>
      <dsp:txXfrm>
        <a:off x="367926" y="2448344"/>
        <a:ext cx="4597613" cy="63931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56E6BB-C564-40CB-988E-4AF30F4FDC95}" type="datetimeFigureOut">
              <a:rPr lang="en-US" smtClean="0"/>
              <a:t>8/28/2025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CCACE-AD26-4C7D-8D05-9EE2E6529D0E}" type="slidenum">
              <a:rPr lang="en-US" smtClean="0"/>
              <a:t>‹#›</a:t>
            </a:fld>
            <a:endParaRPr lang="en-US"/>
          </a:p>
        </p:txBody>
      </p:sp>
    </p:spTree>
    <p:extLst>
      <p:ext uri="{BB962C8B-B14F-4D97-AF65-F5344CB8AC3E}">
        <p14:creationId xmlns:p14="http://schemas.microsoft.com/office/powerpoint/2010/main" val="5861827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The 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When investing in a movie, how do you know if it will be successful or a flop?</a:t>
            </a:r>
          </a:p>
          <a:p>
            <a:endParaRPr lang="en-US" dirty="0"/>
          </a:p>
        </p:txBody>
      </p:sp>
      <p:sp>
        <p:nvSpPr>
          <p:cNvPr id="4" name="Slide Number Placeholder 3"/>
          <p:cNvSpPr>
            <a:spLocks noGrp="1"/>
          </p:cNvSpPr>
          <p:nvPr>
            <p:ph type="sldNum" sz="quarter" idx="5"/>
          </p:nvPr>
        </p:nvSpPr>
        <p:spPr/>
        <p:txBody>
          <a:bodyPr/>
          <a:lstStyle/>
          <a:p>
            <a:fld id="{AA0CCACE-AD26-4C7D-8D05-9EE2E6529D0E}" type="slidenum">
              <a:rPr lang="en-US" smtClean="0"/>
              <a:t>2</a:t>
            </a:fld>
            <a:endParaRPr lang="en-US"/>
          </a:p>
        </p:txBody>
      </p:sp>
    </p:spTree>
    <p:extLst>
      <p:ext uri="{BB962C8B-B14F-4D97-AF65-F5344CB8AC3E}">
        <p14:creationId xmlns:p14="http://schemas.microsoft.com/office/powerpoint/2010/main" val="3331152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Stake holders</a:t>
            </a:r>
          </a:p>
          <a:p>
            <a:r>
              <a:rPr lang="en-US" dirty="0"/>
              <a:t>Production companies</a:t>
            </a:r>
          </a:p>
          <a:p>
            <a:r>
              <a:rPr lang="en-US" dirty="0"/>
              <a:t>Actors</a:t>
            </a:r>
          </a:p>
          <a:p>
            <a:r>
              <a:rPr lang="en-US" dirty="0"/>
              <a:t>Theaters</a:t>
            </a:r>
          </a:p>
          <a:p>
            <a:r>
              <a:rPr lang="en-US" dirty="0" err="1"/>
              <a:t>Ect</a:t>
            </a:r>
            <a:r>
              <a:rPr lang="en-US" dirty="0"/>
              <a:t>.</a:t>
            </a:r>
          </a:p>
        </p:txBody>
      </p:sp>
      <p:sp>
        <p:nvSpPr>
          <p:cNvPr id="4" name="Slide Number Placeholder 3"/>
          <p:cNvSpPr>
            <a:spLocks noGrp="1"/>
          </p:cNvSpPr>
          <p:nvPr>
            <p:ph type="sldNum" sz="quarter" idx="5"/>
          </p:nvPr>
        </p:nvSpPr>
        <p:spPr/>
        <p:txBody>
          <a:bodyPr/>
          <a:lstStyle/>
          <a:p>
            <a:fld id="{AA0CCACE-AD26-4C7D-8D05-9EE2E6529D0E}" type="slidenum">
              <a:rPr lang="en-US" smtClean="0"/>
              <a:t>3</a:t>
            </a:fld>
            <a:endParaRPr lang="en-US"/>
          </a:p>
        </p:txBody>
      </p:sp>
    </p:spTree>
    <p:extLst>
      <p:ext uri="{BB962C8B-B14F-4D97-AF65-F5344CB8AC3E}">
        <p14:creationId xmlns:p14="http://schemas.microsoft.com/office/powerpoint/2010/main" val="3141179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of this data set include:</a:t>
            </a:r>
          </a:p>
          <a:p>
            <a:pPr lvl="0"/>
            <a:r>
              <a:rPr lang="en-US" dirty="0"/>
              <a:t>Title</a:t>
            </a:r>
          </a:p>
          <a:p>
            <a:pPr lvl="0"/>
            <a:r>
              <a:rPr lang="en-US" dirty="0"/>
              <a:t>Release dates</a:t>
            </a:r>
          </a:p>
          <a:p>
            <a:pPr lvl="0"/>
            <a:r>
              <a:rPr lang="en-US" dirty="0"/>
              <a:t>Budget</a:t>
            </a:r>
          </a:p>
          <a:p>
            <a:pPr lvl="0"/>
            <a:r>
              <a:rPr lang="en-US" dirty="0"/>
              <a:t>Gross</a:t>
            </a:r>
          </a:p>
          <a:p>
            <a:pPr lvl="0"/>
            <a:r>
              <a:rPr lang="en-US" dirty="0"/>
              <a:t>Genre</a:t>
            </a:r>
          </a:p>
          <a:p>
            <a:pPr lvl="0"/>
            <a:r>
              <a:rPr lang="en-US" dirty="0"/>
              <a:t>Runtime</a:t>
            </a:r>
          </a:p>
          <a:p>
            <a:pPr lvl="0"/>
            <a:r>
              <a:rPr lang="en-US" dirty="0"/>
              <a:t>MPAA rating</a:t>
            </a:r>
          </a:p>
          <a:p>
            <a:pPr lvl="0"/>
            <a:r>
              <a:rPr lang="en-US" dirty="0"/>
              <a:t>Review ratings</a:t>
            </a:r>
          </a:p>
          <a:p>
            <a:pPr lvl="0"/>
            <a:r>
              <a:rPr lang="en-US" dirty="0"/>
              <a:t>Number of Reviews</a:t>
            </a:r>
          </a:p>
          <a:p>
            <a:endParaRPr lang="en-US" dirty="0"/>
          </a:p>
        </p:txBody>
      </p:sp>
      <p:sp>
        <p:nvSpPr>
          <p:cNvPr id="4" name="Slide Number Placeholder 3"/>
          <p:cNvSpPr>
            <a:spLocks noGrp="1"/>
          </p:cNvSpPr>
          <p:nvPr>
            <p:ph type="sldNum" sz="quarter" idx="5"/>
          </p:nvPr>
        </p:nvSpPr>
        <p:spPr/>
        <p:txBody>
          <a:bodyPr/>
          <a:lstStyle/>
          <a:p>
            <a:fld id="{AA0CCACE-AD26-4C7D-8D05-9EE2E6529D0E}" type="slidenum">
              <a:rPr lang="en-US" smtClean="0"/>
              <a:t>4</a:t>
            </a:fld>
            <a:endParaRPr lang="en-US"/>
          </a:p>
        </p:txBody>
      </p:sp>
    </p:spTree>
    <p:extLst>
      <p:ext uri="{BB962C8B-B14F-4D97-AF65-F5344CB8AC3E}">
        <p14:creationId xmlns:p14="http://schemas.microsoft.com/office/powerpoint/2010/main" val="7040010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shows Gross profit of movies by year. Each year spans the minimum and maximum gross profit. You can see the fist spike is Titanic which is above 1.5 billion. Avatar is the second spike at over 2.5 billion.</a:t>
            </a:r>
          </a:p>
        </p:txBody>
      </p:sp>
      <p:sp>
        <p:nvSpPr>
          <p:cNvPr id="4" name="Slide Number Placeholder 3"/>
          <p:cNvSpPr>
            <a:spLocks noGrp="1"/>
          </p:cNvSpPr>
          <p:nvPr>
            <p:ph type="sldNum" sz="quarter" idx="5"/>
          </p:nvPr>
        </p:nvSpPr>
        <p:spPr/>
        <p:txBody>
          <a:bodyPr/>
          <a:lstStyle/>
          <a:p>
            <a:fld id="{AA0CCACE-AD26-4C7D-8D05-9EE2E6529D0E}" type="slidenum">
              <a:rPr lang="en-US" smtClean="0"/>
              <a:t>5</a:t>
            </a:fld>
            <a:endParaRPr lang="en-US"/>
          </a:p>
        </p:txBody>
      </p:sp>
    </p:spTree>
    <p:extLst>
      <p:ext uri="{BB962C8B-B14F-4D97-AF65-F5344CB8AC3E}">
        <p14:creationId xmlns:p14="http://schemas.microsoft.com/office/powerpoint/2010/main" val="29507632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Genre distribution of this data set does not sample equally from all genres, this can cause bias towards the respective genres affected. Comedy, action, animation and drama are over represented when compared to the other genres.</a:t>
            </a:r>
          </a:p>
        </p:txBody>
      </p:sp>
      <p:sp>
        <p:nvSpPr>
          <p:cNvPr id="4" name="Slide Number Placeholder 3"/>
          <p:cNvSpPr>
            <a:spLocks noGrp="1"/>
          </p:cNvSpPr>
          <p:nvPr>
            <p:ph type="sldNum" sz="quarter" idx="5"/>
          </p:nvPr>
        </p:nvSpPr>
        <p:spPr/>
        <p:txBody>
          <a:bodyPr/>
          <a:lstStyle/>
          <a:p>
            <a:fld id="{AA0CCACE-AD26-4C7D-8D05-9EE2E6529D0E}" type="slidenum">
              <a:rPr lang="en-US" smtClean="0"/>
              <a:t>7</a:t>
            </a:fld>
            <a:endParaRPr lang="en-US"/>
          </a:p>
        </p:txBody>
      </p:sp>
    </p:spTree>
    <p:extLst>
      <p:ext uri="{BB962C8B-B14F-4D97-AF65-F5344CB8AC3E}">
        <p14:creationId xmlns:p14="http://schemas.microsoft.com/office/powerpoint/2010/main" val="982885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boxplot shows movies’ net profit (USD in Billions) groped by genre. Avatar and the Titanic were removed from the data set due to being outliers. You can see Avatar as an outlier in the adventure genre and Titanic as a n outlier in the romance genre. The Net Profit of the genres are relatively similar.</a:t>
            </a:r>
          </a:p>
        </p:txBody>
      </p:sp>
      <p:sp>
        <p:nvSpPr>
          <p:cNvPr id="4" name="Slide Number Placeholder 3"/>
          <p:cNvSpPr>
            <a:spLocks noGrp="1"/>
          </p:cNvSpPr>
          <p:nvPr>
            <p:ph type="sldNum" sz="quarter" idx="5"/>
          </p:nvPr>
        </p:nvSpPr>
        <p:spPr/>
        <p:txBody>
          <a:bodyPr/>
          <a:lstStyle/>
          <a:p>
            <a:fld id="{AA0CCACE-AD26-4C7D-8D05-9EE2E6529D0E}" type="slidenum">
              <a:rPr lang="en-US" smtClean="0"/>
              <a:t>8</a:t>
            </a:fld>
            <a:endParaRPr lang="en-US"/>
          </a:p>
        </p:txBody>
      </p:sp>
    </p:spTree>
    <p:extLst>
      <p:ext uri="{BB962C8B-B14F-4D97-AF65-F5344CB8AC3E}">
        <p14:creationId xmlns:p14="http://schemas.microsoft.com/office/powerpoint/2010/main" val="14733455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boxplot shows movies’ return on investment (ROI) grouped by genre. ROI was calculated by taking the Net Profit/Budget. The Blair Witch Project was removed from the data set as an outlier because it had an ROI of 4132. My Big Fat Greek Wedding had the next highest ROI at 75. It is important to note that successful low budget movies will always return the highest ROIs. A low budget movie is a lower risk of investment and a higher chance for a bigger return.</a:t>
            </a:r>
          </a:p>
        </p:txBody>
      </p:sp>
      <p:sp>
        <p:nvSpPr>
          <p:cNvPr id="4" name="Slide Number Placeholder 3"/>
          <p:cNvSpPr>
            <a:spLocks noGrp="1"/>
          </p:cNvSpPr>
          <p:nvPr>
            <p:ph type="sldNum" sz="quarter" idx="5"/>
          </p:nvPr>
        </p:nvSpPr>
        <p:spPr/>
        <p:txBody>
          <a:bodyPr/>
          <a:lstStyle/>
          <a:p>
            <a:fld id="{AA0CCACE-AD26-4C7D-8D05-9EE2E6529D0E}" type="slidenum">
              <a:rPr lang="en-US" smtClean="0"/>
              <a:t>9</a:t>
            </a:fld>
            <a:endParaRPr lang="en-US"/>
          </a:p>
        </p:txBody>
      </p:sp>
    </p:spTree>
    <p:extLst>
      <p:ext uri="{BB962C8B-B14F-4D97-AF65-F5344CB8AC3E}">
        <p14:creationId xmlns:p14="http://schemas.microsoft.com/office/powerpoint/2010/main" val="27507807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Boxplot shows movies’ net profit in USD billions grouped by MPAA Rating. You can see PG-13 has the highest net profits. So PG-13 movies have the highest chance of the best return in net profit. R movies have the lowest net profits.</a:t>
            </a:r>
          </a:p>
        </p:txBody>
      </p:sp>
      <p:sp>
        <p:nvSpPr>
          <p:cNvPr id="4" name="Slide Number Placeholder 3"/>
          <p:cNvSpPr>
            <a:spLocks noGrp="1"/>
          </p:cNvSpPr>
          <p:nvPr>
            <p:ph type="sldNum" sz="quarter" idx="5"/>
          </p:nvPr>
        </p:nvSpPr>
        <p:spPr/>
        <p:txBody>
          <a:bodyPr/>
          <a:lstStyle/>
          <a:p>
            <a:fld id="{AA0CCACE-AD26-4C7D-8D05-9EE2E6529D0E}" type="slidenum">
              <a:rPr lang="en-US" smtClean="0"/>
              <a:t>10</a:t>
            </a:fld>
            <a:endParaRPr lang="en-US"/>
          </a:p>
        </p:txBody>
      </p:sp>
    </p:spTree>
    <p:extLst>
      <p:ext uri="{BB962C8B-B14F-4D97-AF65-F5344CB8AC3E}">
        <p14:creationId xmlns:p14="http://schemas.microsoft.com/office/powerpoint/2010/main" val="3071419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Boxplot shows movies’ ROI grouped by MPAA Ratings. It shows that PG-13 and R movies have the best ROIs.</a:t>
            </a:r>
          </a:p>
        </p:txBody>
      </p:sp>
      <p:sp>
        <p:nvSpPr>
          <p:cNvPr id="4" name="Slide Number Placeholder 3"/>
          <p:cNvSpPr>
            <a:spLocks noGrp="1"/>
          </p:cNvSpPr>
          <p:nvPr>
            <p:ph type="sldNum" sz="quarter" idx="5"/>
          </p:nvPr>
        </p:nvSpPr>
        <p:spPr/>
        <p:txBody>
          <a:bodyPr/>
          <a:lstStyle/>
          <a:p>
            <a:fld id="{AA0CCACE-AD26-4C7D-8D05-9EE2E6529D0E}" type="slidenum">
              <a:rPr lang="en-US" smtClean="0"/>
              <a:t>11</a:t>
            </a:fld>
            <a:endParaRPr lang="en-US"/>
          </a:p>
        </p:txBody>
      </p:sp>
    </p:spTree>
    <p:extLst>
      <p:ext uri="{BB962C8B-B14F-4D97-AF65-F5344CB8AC3E}">
        <p14:creationId xmlns:p14="http://schemas.microsoft.com/office/powerpoint/2010/main" val="39750795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histogram shows the number of movies released by month. May, June, July, November and December have the most movie releases. So if you want to make a successful movie it would be best to release your film in those months. Hence the name summer blockbuster.</a:t>
            </a:r>
          </a:p>
        </p:txBody>
      </p:sp>
      <p:sp>
        <p:nvSpPr>
          <p:cNvPr id="4" name="Slide Number Placeholder 3"/>
          <p:cNvSpPr>
            <a:spLocks noGrp="1"/>
          </p:cNvSpPr>
          <p:nvPr>
            <p:ph type="sldNum" sz="quarter" idx="5"/>
          </p:nvPr>
        </p:nvSpPr>
        <p:spPr/>
        <p:txBody>
          <a:bodyPr/>
          <a:lstStyle/>
          <a:p>
            <a:fld id="{AA0CCACE-AD26-4C7D-8D05-9EE2E6529D0E}" type="slidenum">
              <a:rPr lang="en-US" smtClean="0"/>
              <a:t>12</a:t>
            </a:fld>
            <a:endParaRPr lang="en-US"/>
          </a:p>
        </p:txBody>
      </p:sp>
    </p:spTree>
    <p:extLst>
      <p:ext uri="{BB962C8B-B14F-4D97-AF65-F5344CB8AC3E}">
        <p14:creationId xmlns:p14="http://schemas.microsoft.com/office/powerpoint/2010/main" val="39231116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graphs show movies’ ROIs and Net Profit grouped by month, respectively. They show movies released in May, June, July, November and December preform best.</a:t>
            </a:r>
          </a:p>
        </p:txBody>
      </p:sp>
      <p:sp>
        <p:nvSpPr>
          <p:cNvPr id="4" name="Slide Number Placeholder 3"/>
          <p:cNvSpPr>
            <a:spLocks noGrp="1"/>
          </p:cNvSpPr>
          <p:nvPr>
            <p:ph type="sldNum" sz="quarter" idx="5"/>
          </p:nvPr>
        </p:nvSpPr>
        <p:spPr/>
        <p:txBody>
          <a:bodyPr/>
          <a:lstStyle/>
          <a:p>
            <a:fld id="{AA0CCACE-AD26-4C7D-8D05-9EE2E6529D0E}" type="slidenum">
              <a:rPr lang="en-US" smtClean="0"/>
              <a:t>13</a:t>
            </a:fld>
            <a:endParaRPr lang="en-US"/>
          </a:p>
        </p:txBody>
      </p:sp>
    </p:spTree>
    <p:extLst>
      <p:ext uri="{BB962C8B-B14F-4D97-AF65-F5344CB8AC3E}">
        <p14:creationId xmlns:p14="http://schemas.microsoft.com/office/powerpoint/2010/main" val="3728078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graph shows movies review ratings grouped by month. Again, movies released in May, June, July, November and December have the best reviews.</a:t>
            </a:r>
          </a:p>
        </p:txBody>
      </p:sp>
      <p:sp>
        <p:nvSpPr>
          <p:cNvPr id="4" name="Slide Number Placeholder 3"/>
          <p:cNvSpPr>
            <a:spLocks noGrp="1"/>
          </p:cNvSpPr>
          <p:nvPr>
            <p:ph type="sldNum" sz="quarter" idx="5"/>
          </p:nvPr>
        </p:nvSpPr>
        <p:spPr/>
        <p:txBody>
          <a:bodyPr/>
          <a:lstStyle/>
          <a:p>
            <a:fld id="{AA0CCACE-AD26-4C7D-8D05-9EE2E6529D0E}" type="slidenum">
              <a:rPr lang="en-US" smtClean="0"/>
              <a:t>14</a:t>
            </a:fld>
            <a:endParaRPr lang="en-US"/>
          </a:p>
        </p:txBody>
      </p:sp>
    </p:spTree>
    <p:extLst>
      <p:ext uri="{BB962C8B-B14F-4D97-AF65-F5344CB8AC3E}">
        <p14:creationId xmlns:p14="http://schemas.microsoft.com/office/powerpoint/2010/main" val="18514442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graph shows the number of movies released by month grouped by MPAA rating. The most common rating is PG-13.</a:t>
            </a:r>
          </a:p>
        </p:txBody>
      </p:sp>
      <p:sp>
        <p:nvSpPr>
          <p:cNvPr id="4" name="Slide Number Placeholder 3"/>
          <p:cNvSpPr>
            <a:spLocks noGrp="1"/>
          </p:cNvSpPr>
          <p:nvPr>
            <p:ph type="sldNum" sz="quarter" idx="5"/>
          </p:nvPr>
        </p:nvSpPr>
        <p:spPr/>
        <p:txBody>
          <a:bodyPr/>
          <a:lstStyle/>
          <a:p>
            <a:fld id="{AA0CCACE-AD26-4C7D-8D05-9EE2E6529D0E}" type="slidenum">
              <a:rPr lang="en-US" smtClean="0"/>
              <a:t>15</a:t>
            </a:fld>
            <a:endParaRPr lang="en-US"/>
          </a:p>
        </p:txBody>
      </p:sp>
    </p:spTree>
    <p:extLst>
      <p:ext uri="{BB962C8B-B14F-4D97-AF65-F5344CB8AC3E}">
        <p14:creationId xmlns:p14="http://schemas.microsoft.com/office/powerpoint/2010/main" val="28367082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heat map of all the correlations in this data set. The circled values are the most correlated features. There are three predictive variables, gross, net profit, and ROI. </a:t>
            </a:r>
          </a:p>
          <a:p>
            <a:endParaRPr lang="en-US" dirty="0"/>
          </a:p>
          <a:p>
            <a:r>
              <a:rPr lang="en-US" dirty="0"/>
              <a:t>Gross and net profit were calculated off each other, so they have a very high correlation rate. </a:t>
            </a:r>
          </a:p>
          <a:p>
            <a:endParaRPr lang="en-US" dirty="0"/>
          </a:p>
          <a:p>
            <a:r>
              <a:rPr lang="en-US" dirty="0"/>
              <a:t>The movies’ ROI averages are similar for most the movies in this data set. That is why there are not high correlations when looking at it’s row.</a:t>
            </a:r>
          </a:p>
        </p:txBody>
      </p:sp>
      <p:sp>
        <p:nvSpPr>
          <p:cNvPr id="4" name="Slide Number Placeholder 3"/>
          <p:cNvSpPr>
            <a:spLocks noGrp="1"/>
          </p:cNvSpPr>
          <p:nvPr>
            <p:ph type="sldNum" sz="quarter" idx="5"/>
          </p:nvPr>
        </p:nvSpPr>
        <p:spPr/>
        <p:txBody>
          <a:bodyPr/>
          <a:lstStyle/>
          <a:p>
            <a:fld id="{AA0CCACE-AD26-4C7D-8D05-9EE2E6529D0E}" type="slidenum">
              <a:rPr lang="en-US" smtClean="0"/>
              <a:t>16</a:t>
            </a:fld>
            <a:endParaRPr lang="en-US"/>
          </a:p>
        </p:txBody>
      </p:sp>
    </p:spTree>
    <p:extLst>
      <p:ext uri="{BB962C8B-B14F-4D97-AF65-F5344CB8AC3E}">
        <p14:creationId xmlns:p14="http://schemas.microsoft.com/office/powerpoint/2010/main" val="3075350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Gross was chosen to be used as the predictive variable for modeling. ROI and Net profit were not included as features due to data leakage issues.</a:t>
            </a:r>
          </a:p>
          <a:p>
            <a:endParaRPr lang="en-US" dirty="0"/>
          </a:p>
          <a:p>
            <a:r>
              <a:rPr lang="en-US" dirty="0"/>
              <a:t>Month was encoded as sine/cosine features.</a:t>
            </a:r>
          </a:p>
          <a:p>
            <a:endParaRPr lang="en-US" dirty="0"/>
          </a:p>
          <a:p>
            <a:r>
              <a:rPr lang="en-US" dirty="0"/>
              <a:t>4 models were tested.</a:t>
            </a:r>
          </a:p>
        </p:txBody>
      </p:sp>
      <p:sp>
        <p:nvSpPr>
          <p:cNvPr id="4" name="Slide Number Placeholder 3"/>
          <p:cNvSpPr>
            <a:spLocks noGrp="1"/>
          </p:cNvSpPr>
          <p:nvPr>
            <p:ph type="sldNum" sz="quarter" idx="5"/>
          </p:nvPr>
        </p:nvSpPr>
        <p:spPr/>
        <p:txBody>
          <a:bodyPr/>
          <a:lstStyle/>
          <a:p>
            <a:fld id="{AA0CCACE-AD26-4C7D-8D05-9EE2E6529D0E}" type="slidenum">
              <a:rPr lang="en-US" smtClean="0"/>
              <a:t>17</a:t>
            </a:fld>
            <a:endParaRPr lang="en-US"/>
          </a:p>
        </p:txBody>
      </p:sp>
    </p:spTree>
    <p:extLst>
      <p:ext uri="{BB962C8B-B14F-4D97-AF65-F5344CB8AC3E}">
        <p14:creationId xmlns:p14="http://schemas.microsoft.com/office/powerpoint/2010/main" val="22180333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Metrics</a:t>
            </a:r>
          </a:p>
          <a:p>
            <a:r>
              <a:rPr lang="en-US" dirty="0"/>
              <a:t>SVR was chosen for the final model because it had the highest R^2 testing value, and the lowest mean absolute error (MAE). It also had less difference between training and testing R^2 values. Random forest and </a:t>
            </a:r>
            <a:r>
              <a:rPr lang="en-US" dirty="0" err="1"/>
              <a:t>XGBoost</a:t>
            </a:r>
            <a:r>
              <a:rPr lang="en-US" dirty="0"/>
              <a:t> models overfit the training data indicated by the difference between training and testing R^2 values.</a:t>
            </a:r>
          </a:p>
          <a:p>
            <a:endParaRPr lang="en-US" dirty="0"/>
          </a:p>
          <a:p>
            <a:r>
              <a:rPr lang="en-US" dirty="0"/>
              <a:t>The SVR grid search returned a testing R^2 0.03 higher than the default SVR model. However, also has a much higher MAE when compared to the default SVR model. The MAE represents tens of millions of dollars, so 0.31 to 0.42 is a very big difference. </a:t>
            </a:r>
          </a:p>
          <a:p>
            <a:endParaRPr lang="en-US" dirty="0"/>
          </a:p>
          <a:p>
            <a:r>
              <a:rPr lang="en-US" dirty="0"/>
              <a:t>It is important to note that Random forest K fold R^2 testing outperformed SVR’s K fold R^2. </a:t>
            </a:r>
          </a:p>
          <a:p>
            <a:endParaRPr lang="en-US" dirty="0"/>
          </a:p>
          <a:p>
            <a:r>
              <a:rPr lang="en-US" dirty="0"/>
              <a:t>Linear regression shows the least over fitting, preforms similar to the other models and takes much less time to compute. It would be a valid choice if we wanted the fastest computing time.</a:t>
            </a:r>
          </a:p>
        </p:txBody>
      </p:sp>
      <p:sp>
        <p:nvSpPr>
          <p:cNvPr id="4" name="Slide Number Placeholder 3"/>
          <p:cNvSpPr>
            <a:spLocks noGrp="1"/>
          </p:cNvSpPr>
          <p:nvPr>
            <p:ph type="sldNum" sz="quarter" idx="5"/>
          </p:nvPr>
        </p:nvSpPr>
        <p:spPr/>
        <p:txBody>
          <a:bodyPr/>
          <a:lstStyle/>
          <a:p>
            <a:fld id="{AA0CCACE-AD26-4C7D-8D05-9EE2E6529D0E}" type="slidenum">
              <a:rPr lang="en-US" smtClean="0"/>
              <a:t>18</a:t>
            </a:fld>
            <a:endParaRPr lang="en-US"/>
          </a:p>
        </p:txBody>
      </p:sp>
    </p:spTree>
    <p:extLst>
      <p:ext uri="{BB962C8B-B14F-4D97-AF65-F5344CB8AC3E}">
        <p14:creationId xmlns:p14="http://schemas.microsoft.com/office/powerpoint/2010/main" val="100669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graphs show Linear Regression and SVR models actual vs predictive values. We know that SVR preformed better than linear regression based on metrics, however visually they are very similar. You can also see that the movies in the data set have a narrow range of gross values. </a:t>
            </a:r>
          </a:p>
        </p:txBody>
      </p:sp>
      <p:sp>
        <p:nvSpPr>
          <p:cNvPr id="4" name="Slide Number Placeholder 3"/>
          <p:cNvSpPr>
            <a:spLocks noGrp="1"/>
          </p:cNvSpPr>
          <p:nvPr>
            <p:ph type="sldNum" sz="quarter" idx="5"/>
          </p:nvPr>
        </p:nvSpPr>
        <p:spPr/>
        <p:txBody>
          <a:bodyPr/>
          <a:lstStyle/>
          <a:p>
            <a:fld id="{AA0CCACE-AD26-4C7D-8D05-9EE2E6529D0E}" type="slidenum">
              <a:rPr lang="en-US" smtClean="0"/>
              <a:t>19</a:t>
            </a:fld>
            <a:endParaRPr lang="en-US"/>
          </a:p>
        </p:txBody>
      </p:sp>
    </p:spTree>
    <p:extLst>
      <p:ext uri="{BB962C8B-B14F-4D97-AF65-F5344CB8AC3E}">
        <p14:creationId xmlns:p14="http://schemas.microsoft.com/office/powerpoint/2010/main" val="3334203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data only includes successful blockbuster movies. It can predict a movies success, but it cannot predict if a movie will flop. The final SVR model also isn’t helpful for lower budget movies because the MAE has a multimillion-dollar range. The model will only work for movies that have a budget of hundreds of millions of dollars, and most likely will already be successful.</a:t>
            </a:r>
          </a:p>
        </p:txBody>
      </p:sp>
      <p:sp>
        <p:nvSpPr>
          <p:cNvPr id="4" name="Slide Number Placeholder 3"/>
          <p:cNvSpPr>
            <a:spLocks noGrp="1"/>
          </p:cNvSpPr>
          <p:nvPr>
            <p:ph type="sldNum" sz="quarter" idx="5"/>
          </p:nvPr>
        </p:nvSpPr>
        <p:spPr/>
        <p:txBody>
          <a:bodyPr/>
          <a:lstStyle/>
          <a:p>
            <a:fld id="{AA0CCACE-AD26-4C7D-8D05-9EE2E6529D0E}" type="slidenum">
              <a:rPr lang="en-US" smtClean="0"/>
              <a:t>20</a:t>
            </a:fld>
            <a:endParaRPr lang="en-US"/>
          </a:p>
        </p:txBody>
      </p:sp>
    </p:spTree>
    <p:extLst>
      <p:ext uri="{BB962C8B-B14F-4D97-AF65-F5344CB8AC3E}">
        <p14:creationId xmlns:p14="http://schemas.microsoft.com/office/powerpoint/2010/main" val="11254778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project was continued a data set with a larger sample size would be used. Also, the data set would need to include successful and unsuccessful movies to give us a more robust model.</a:t>
            </a:r>
          </a:p>
          <a:p>
            <a:endParaRPr lang="en-US" dirty="0"/>
          </a:p>
          <a:p>
            <a:r>
              <a:rPr lang="en-US" dirty="0"/>
              <a:t>More features could be added or created as well, such as directors, production companies, cast, days of the week, </a:t>
            </a:r>
            <a:r>
              <a:rPr lang="en-US" dirty="0" err="1"/>
              <a:t>ect</a:t>
            </a:r>
            <a:r>
              <a:rPr lang="en-US"/>
              <a:t>.</a:t>
            </a:r>
          </a:p>
        </p:txBody>
      </p:sp>
      <p:sp>
        <p:nvSpPr>
          <p:cNvPr id="4" name="Slide Number Placeholder 3"/>
          <p:cNvSpPr>
            <a:spLocks noGrp="1"/>
          </p:cNvSpPr>
          <p:nvPr>
            <p:ph type="sldNum" sz="quarter" idx="5"/>
          </p:nvPr>
        </p:nvSpPr>
        <p:spPr/>
        <p:txBody>
          <a:bodyPr/>
          <a:lstStyle/>
          <a:p>
            <a:fld id="{AA0CCACE-AD26-4C7D-8D05-9EE2E6529D0E}" type="slidenum">
              <a:rPr lang="en-US" smtClean="0"/>
              <a:t>21</a:t>
            </a:fld>
            <a:endParaRPr lang="en-US"/>
          </a:p>
        </p:txBody>
      </p:sp>
    </p:spTree>
    <p:extLst>
      <p:ext uri="{BB962C8B-B14F-4D97-AF65-F5344CB8AC3E}">
        <p14:creationId xmlns:p14="http://schemas.microsoft.com/office/powerpoint/2010/main" val="7876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D64B6-32BC-0F7B-77C3-B0E057E4B3C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B9DC2F6-A913-6CE7-83B4-97897FD5533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125DC7-EEA2-E720-8FDB-19B96D87C216}"/>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433DA044-BDEE-AA0D-8C35-650A15B46C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CB47E3-72C9-BAB6-791E-97C0A92F9D6A}"/>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9186501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15FC7-0859-FFB6-0758-1E06BA137A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1A1204-7FF7-4546-F3D4-199258104F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DDB62E-332A-83BB-1F41-4CC89ECF557A}"/>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DA408C4A-579F-699D-7AB4-1182BFAE6C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8B5710-B2A3-2CC5-502F-541ED74E6D89}"/>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2316276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BC855-5AE2-A4D7-5757-AEB32B24804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97E9A0-0C18-B38D-CC7A-AB60A0DD2A1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E2ED8D-4A94-FAD6-4D5D-4004B1811E14}"/>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C596A78B-5CF0-5C50-26AA-0CEA9000DB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54B647-E9A1-43AB-807A-220E62F62913}"/>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0983019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5E5C-D1B1-7F61-D096-0A5470C99F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E1DB91-9F97-4E2B-0F09-68052653A88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7CEEC1-245E-BADB-7FC1-2E94C5EE1CA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985552C-2CA6-0FE4-37D1-2F7BDEEC3FED}"/>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6" name="Footer Placeholder 5">
            <a:extLst>
              <a:ext uri="{FF2B5EF4-FFF2-40B4-BE49-F238E27FC236}">
                <a16:creationId xmlns:a16="http://schemas.microsoft.com/office/drawing/2014/main" id="{2F29DB90-1DD9-277D-CF53-4B1BE47CD0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CA23E8-0424-E148-64DD-7B0F91345FB5}"/>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86978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E12BA-BCA5-19C6-6BCB-463CE221C5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BCB7679-4044-2599-BAB5-FB9F109213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74C363-7934-0F5C-D1F0-BC879876B5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3850E17-BA48-75A2-FB99-CBEDBD3634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97DCE2-9A46-8929-AE38-A865BC1016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99BA22-FA47-0F7C-D5F2-B95F515BB68C}"/>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8" name="Footer Placeholder 7">
            <a:extLst>
              <a:ext uri="{FF2B5EF4-FFF2-40B4-BE49-F238E27FC236}">
                <a16:creationId xmlns:a16="http://schemas.microsoft.com/office/drawing/2014/main" id="{1B8128CE-0943-4456-211D-DB6EDC476E9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7AB3806-469A-F380-30E3-D552996F4D9E}"/>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2270581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30AC-4E5C-DB15-2A2E-4A68E0FB4D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47B20B1-78A4-5626-AE9A-58BC6D1A03A8}"/>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4" name="Footer Placeholder 3">
            <a:extLst>
              <a:ext uri="{FF2B5EF4-FFF2-40B4-BE49-F238E27FC236}">
                <a16:creationId xmlns:a16="http://schemas.microsoft.com/office/drawing/2014/main" id="{D25D4A4D-7319-69CF-7FFA-3C4DAFA7CC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97994C-40AC-7EFB-69F1-D6E30C5AE537}"/>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4293938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E20995-C700-79AF-1385-310CDB6C6D77}"/>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3" name="Footer Placeholder 2">
            <a:extLst>
              <a:ext uri="{FF2B5EF4-FFF2-40B4-BE49-F238E27FC236}">
                <a16:creationId xmlns:a16="http://schemas.microsoft.com/office/drawing/2014/main" id="{58631B08-64EC-9019-8670-72286C0D16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B950ED-C7B0-A52A-2E85-DB41B8C4DD02}"/>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4411463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BA026-D385-CE26-5038-D648FB9AC8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802FF8-1056-4F36-28CF-1346AB08CCC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2CE30A8-64EC-7F19-464D-A7D271A861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A24B92-D50A-1FC7-85CE-C93C58868371}"/>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6" name="Footer Placeholder 5">
            <a:extLst>
              <a:ext uri="{FF2B5EF4-FFF2-40B4-BE49-F238E27FC236}">
                <a16:creationId xmlns:a16="http://schemas.microsoft.com/office/drawing/2014/main" id="{CCA33297-E0C1-65F2-E641-14CD7032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9E088F-FB81-15DE-3C52-9C20736E0615}"/>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770319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3EE4F-C446-DA73-D664-FFE03B4DA8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2B6B014-6FD5-8372-DC5C-634AFD2A7F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D4314D-251B-9525-0C7D-7E5AE5C9CD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1199CB-955E-8224-18B8-2750E436B4C5}"/>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6" name="Footer Placeholder 5">
            <a:extLst>
              <a:ext uri="{FF2B5EF4-FFF2-40B4-BE49-F238E27FC236}">
                <a16:creationId xmlns:a16="http://schemas.microsoft.com/office/drawing/2014/main" id="{E825D180-E6B0-006F-B909-980E826AD0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45BF3F-09BA-6A41-E86F-921CC9E79EBD}"/>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3285072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3C496-7C05-C592-749F-5954CC0213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22BD41-765F-189F-494C-B023B8B488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04885B-A870-8825-1615-8B807150F8D1}"/>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9579899E-510C-068D-F4C4-DDAF512F29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EFE556-C800-155E-7447-F98841054FEE}"/>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648876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451D36-4968-8E29-0B37-E902EFF18E9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D1E87-2F39-2831-A57D-327CC1EEBF6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BA0863-894B-DAFB-6412-E64156C11654}"/>
              </a:ext>
            </a:extLst>
          </p:cNvPr>
          <p:cNvSpPr>
            <a:spLocks noGrp="1"/>
          </p:cNvSpPr>
          <p:nvPr>
            <p:ph type="dt" sz="half" idx="10"/>
          </p:nvPr>
        </p:nvSpPr>
        <p:spPr/>
        <p:txBody>
          <a:body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B3DC1DA4-2735-2F8A-AECF-F84F1F4A49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2D4188-1249-E2F6-6BE0-DACD1BE7EABE}"/>
              </a:ext>
            </a:extLst>
          </p:cNvPr>
          <p:cNvSpPr>
            <a:spLocks noGrp="1"/>
          </p:cNvSpPr>
          <p:nvPr>
            <p:ph type="sldNum" sz="quarter" idx="12"/>
          </p:nvPr>
        </p:nvSpPr>
        <p:spPr/>
        <p:txBody>
          <a:bodyPr/>
          <a:lstStyle/>
          <a:p>
            <a:fld id="{EE75EA91-8F11-4AD0-BB27-9C76C9A46DC2}" type="slidenum">
              <a:rPr lang="en-US" smtClean="0"/>
              <a:t>‹#›</a:t>
            </a:fld>
            <a:endParaRPr lang="en-US"/>
          </a:p>
        </p:txBody>
      </p:sp>
    </p:spTree>
    <p:extLst>
      <p:ext uri="{BB962C8B-B14F-4D97-AF65-F5344CB8AC3E}">
        <p14:creationId xmlns:p14="http://schemas.microsoft.com/office/powerpoint/2010/main" val="1201179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E10681-166D-60CD-AF06-30856847F0D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E53F6F1-49A3-D0B7-C387-DCB78D1D64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7CDE58-CE4C-4E4C-D96E-1BF775130D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8E932C-EB48-4843-B8CE-93B895712901}" type="datetimeFigureOut">
              <a:rPr lang="en-US" smtClean="0"/>
              <a:t>8/28/2025</a:t>
            </a:fld>
            <a:endParaRPr lang="en-US"/>
          </a:p>
        </p:txBody>
      </p:sp>
      <p:sp>
        <p:nvSpPr>
          <p:cNvPr id="5" name="Footer Placeholder 4">
            <a:extLst>
              <a:ext uri="{FF2B5EF4-FFF2-40B4-BE49-F238E27FC236}">
                <a16:creationId xmlns:a16="http://schemas.microsoft.com/office/drawing/2014/main" id="{94B6E142-0760-7BED-AB4F-DA3F7CE6BA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5E2D273-4AF4-B30D-C75C-5DE72069749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75EA91-8F11-4AD0-BB27-9C76C9A46DC2}" type="slidenum">
              <a:rPr lang="en-US" smtClean="0"/>
              <a:t>‹#›</a:t>
            </a:fld>
            <a:endParaRPr lang="en-US"/>
          </a:p>
        </p:txBody>
      </p:sp>
    </p:spTree>
    <p:extLst>
      <p:ext uri="{BB962C8B-B14F-4D97-AF65-F5344CB8AC3E}">
        <p14:creationId xmlns:p14="http://schemas.microsoft.com/office/powerpoint/2010/main" val="83456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pn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4E37431-20F0-4DD6-84A9-ED2B64494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0AE98B72-66C6-4AB4-AF0D-BA830DE863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07EAFC6-733F-403D-BB4D-05A3A2874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7A36730-4CB0-4F61-AD11-A44C976583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C69C79E1-F916-4929-A4F3-DE763D4BF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67334AB-16BD-4EC7-8C6B-4B51716009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08684FF-7941-757C-89AE-BADFB41BFDE6}"/>
              </a:ext>
            </a:extLst>
          </p:cNvPr>
          <p:cNvSpPr>
            <a:spLocks noGrp="1"/>
          </p:cNvSpPr>
          <p:nvPr>
            <p:ph type="ctrTitle"/>
          </p:nvPr>
        </p:nvSpPr>
        <p:spPr>
          <a:xfrm>
            <a:off x="660042" y="891652"/>
            <a:ext cx="4412021" cy="3030724"/>
          </a:xfrm>
        </p:spPr>
        <p:txBody>
          <a:bodyPr anchor="b">
            <a:normAutofit/>
          </a:bodyPr>
          <a:lstStyle/>
          <a:p>
            <a:pPr algn="r"/>
            <a:r>
              <a:rPr lang="en-US" sz="4000">
                <a:solidFill>
                  <a:srgbClr val="FFFFFF"/>
                </a:solidFill>
              </a:rPr>
              <a:t>Predicting Movie Investment Risk</a:t>
            </a:r>
          </a:p>
        </p:txBody>
      </p:sp>
      <p:sp>
        <p:nvSpPr>
          <p:cNvPr id="3" name="Subtitle 2">
            <a:extLst>
              <a:ext uri="{FF2B5EF4-FFF2-40B4-BE49-F238E27FC236}">
                <a16:creationId xmlns:a16="http://schemas.microsoft.com/office/drawing/2014/main" id="{82131091-2B84-4575-96E9-AF3B507E5241}"/>
              </a:ext>
            </a:extLst>
          </p:cNvPr>
          <p:cNvSpPr>
            <a:spLocks noGrp="1"/>
          </p:cNvSpPr>
          <p:nvPr>
            <p:ph type="subTitle" idx="1"/>
          </p:nvPr>
        </p:nvSpPr>
        <p:spPr>
          <a:xfrm>
            <a:off x="945791" y="4745317"/>
            <a:ext cx="4126272" cy="1375145"/>
          </a:xfrm>
        </p:spPr>
        <p:txBody>
          <a:bodyPr>
            <a:normAutofit/>
          </a:bodyPr>
          <a:lstStyle/>
          <a:p>
            <a:pPr algn="r"/>
            <a:r>
              <a:rPr lang="en-US">
                <a:solidFill>
                  <a:srgbClr val="FFFFFF"/>
                </a:solidFill>
              </a:rPr>
              <a:t>Data Science Capstone Project August 2025</a:t>
            </a:r>
          </a:p>
          <a:p>
            <a:pPr algn="r"/>
            <a:r>
              <a:rPr lang="en-US">
                <a:solidFill>
                  <a:srgbClr val="FFFFFF"/>
                </a:solidFill>
              </a:rPr>
              <a:t>By Jeremy Jex</a:t>
            </a:r>
          </a:p>
        </p:txBody>
      </p:sp>
      <p:pic>
        <p:nvPicPr>
          <p:cNvPr id="7" name="Graphic 6" descr="Money">
            <a:extLst>
              <a:ext uri="{FF2B5EF4-FFF2-40B4-BE49-F238E27FC236}">
                <a16:creationId xmlns:a16="http://schemas.microsoft.com/office/drawing/2014/main" id="{20C8D21B-E6C5-BFF1-83CD-E8AC871BBCA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96000" y="602615"/>
            <a:ext cx="5608320" cy="5608320"/>
          </a:xfrm>
          <a:prstGeom prst="rect">
            <a:avLst/>
          </a:prstGeom>
        </p:spPr>
      </p:pic>
    </p:spTree>
    <p:extLst>
      <p:ext uri="{BB962C8B-B14F-4D97-AF65-F5344CB8AC3E}">
        <p14:creationId xmlns:p14="http://schemas.microsoft.com/office/powerpoint/2010/main" val="4926459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950A675-D07E-9B78-7F13-3C79987BF846}"/>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The Problem</a:t>
            </a:r>
          </a:p>
        </p:txBody>
      </p:sp>
      <p:sp>
        <p:nvSpPr>
          <p:cNvPr id="3" name="Content Placeholder 2">
            <a:extLst>
              <a:ext uri="{FF2B5EF4-FFF2-40B4-BE49-F238E27FC236}">
                <a16:creationId xmlns:a16="http://schemas.microsoft.com/office/drawing/2014/main" id="{0AF4C01F-4E36-9AA3-2812-31C0F508E48E}"/>
              </a:ext>
            </a:extLst>
          </p:cNvPr>
          <p:cNvSpPr>
            <a:spLocks noGrp="1"/>
          </p:cNvSpPr>
          <p:nvPr>
            <p:ph idx="1"/>
          </p:nvPr>
        </p:nvSpPr>
        <p:spPr>
          <a:xfrm>
            <a:off x="1350682" y="4870824"/>
            <a:ext cx="10005951" cy="1458258"/>
          </a:xfrm>
        </p:spPr>
        <p:txBody>
          <a:bodyPr vert="horz" lIns="91440" tIns="45720" rIns="91440" bIns="45720" rtlCol="0" anchor="ctr">
            <a:normAutofit/>
          </a:bodyPr>
          <a:lstStyle/>
          <a:p>
            <a:pPr marL="0" indent="0">
              <a:buNone/>
            </a:pPr>
            <a:r>
              <a:rPr lang="en-US" sz="2400" dirty="0"/>
              <a:t>When investing in a movie, how do you know if it will be successful or a flop?</a:t>
            </a:r>
          </a:p>
        </p:txBody>
      </p:sp>
    </p:spTree>
    <p:extLst>
      <p:ext uri="{BB962C8B-B14F-4D97-AF65-F5344CB8AC3E}">
        <p14:creationId xmlns:p14="http://schemas.microsoft.com/office/powerpoint/2010/main" val="396098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4AFAD6E-1934-5E18-9180-DC0C14495D95}"/>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Who Might Care</a:t>
            </a:r>
          </a:p>
        </p:txBody>
      </p:sp>
      <p:graphicFrame>
        <p:nvGraphicFramePr>
          <p:cNvPr id="20" name="Content Placeholder 2">
            <a:extLst>
              <a:ext uri="{FF2B5EF4-FFF2-40B4-BE49-F238E27FC236}">
                <a16:creationId xmlns:a16="http://schemas.microsoft.com/office/drawing/2014/main" id="{487757ED-97F8-E9F8-48F8-81B524D50BCF}"/>
              </a:ext>
            </a:extLst>
          </p:cNvPr>
          <p:cNvGraphicFramePr>
            <a:graphicFrameLocks noGrp="1"/>
          </p:cNvGraphicFramePr>
          <p:nvPr>
            <p:ph idx="1"/>
            <p:extLst>
              <p:ext uri="{D42A27DB-BD31-4B8C-83A1-F6EECF244321}">
                <p14:modId xmlns:p14="http://schemas.microsoft.com/office/powerpoint/2010/main" val="1143746997"/>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8692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9E61133-BDA4-B585-B0E5-49D52D6C9D05}"/>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Features that can Affect Movies</a:t>
            </a:r>
          </a:p>
        </p:txBody>
      </p:sp>
      <p:graphicFrame>
        <p:nvGraphicFramePr>
          <p:cNvPr id="20" name="Content Placeholder 2">
            <a:extLst>
              <a:ext uri="{FF2B5EF4-FFF2-40B4-BE49-F238E27FC236}">
                <a16:creationId xmlns:a16="http://schemas.microsoft.com/office/drawing/2014/main" id="{B57DB6E7-3498-CCDF-1EC5-31B1C1FE6707}"/>
              </a:ext>
            </a:extLst>
          </p:cNvPr>
          <p:cNvGraphicFramePr>
            <a:graphicFrameLocks noGrp="1"/>
          </p:cNvGraphicFramePr>
          <p:nvPr>
            <p:ph idx="1"/>
            <p:extLst>
              <p:ext uri="{D42A27DB-BD31-4B8C-83A1-F6EECF244321}">
                <p14:modId xmlns:p14="http://schemas.microsoft.com/office/powerpoint/2010/main" val="150539843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49464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52F91-69AA-099C-F31A-33C637C5D99E}"/>
              </a:ext>
            </a:extLst>
          </p:cNvPr>
          <p:cNvSpPr>
            <a:spLocks noGrp="1"/>
          </p:cNvSpPr>
          <p:nvPr>
            <p:ph type="title"/>
          </p:nvPr>
        </p:nvSpPr>
        <p:spPr>
          <a:xfrm>
            <a:off x="876693" y="741391"/>
            <a:ext cx="3455821" cy="1616203"/>
          </a:xfrm>
        </p:spPr>
        <p:txBody>
          <a:bodyPr anchor="b">
            <a:normAutofit/>
          </a:bodyPr>
          <a:lstStyle/>
          <a:p>
            <a:r>
              <a:rPr lang="en-US" sz="3200"/>
              <a:t>The Data Set</a:t>
            </a:r>
          </a:p>
        </p:txBody>
      </p:sp>
      <p:pic>
        <p:nvPicPr>
          <p:cNvPr id="5" name="Picture 4" descr="A graph of a line graph&#10;&#10;AI-generated content may be incorrect.">
            <a:extLst>
              <a:ext uri="{FF2B5EF4-FFF2-40B4-BE49-F238E27FC236}">
                <a16:creationId xmlns:a16="http://schemas.microsoft.com/office/drawing/2014/main" id="{7ED59707-A21A-F5A0-D1D8-1A10E2DEFE1F}"/>
              </a:ext>
            </a:extLst>
          </p:cNvPr>
          <p:cNvPicPr>
            <a:picLocks noChangeAspect="1"/>
          </p:cNvPicPr>
          <p:nvPr/>
        </p:nvPicPr>
        <p:blipFill>
          <a:blip r:embed="rId3"/>
          <a:stretch>
            <a:fillRect/>
          </a:stretch>
        </p:blipFill>
        <p:spPr>
          <a:xfrm>
            <a:off x="4987672" y="941810"/>
            <a:ext cx="6389346" cy="4983689"/>
          </a:xfrm>
          <a:prstGeom prst="rect">
            <a:avLst/>
          </a:prstGeom>
        </p:spPr>
      </p:pic>
      <p:grpSp>
        <p:nvGrpSpPr>
          <p:cNvPr id="133" name="Group 132">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34" name="Rectangle 133">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24" name="Content Placeholder 2">
            <a:extLst>
              <a:ext uri="{FF2B5EF4-FFF2-40B4-BE49-F238E27FC236}">
                <a16:creationId xmlns:a16="http://schemas.microsoft.com/office/drawing/2014/main" id="{91FA9FE9-5D88-B86F-EE08-26682E54D9C0}"/>
              </a:ext>
            </a:extLst>
          </p:cNvPr>
          <p:cNvGraphicFramePr>
            <a:graphicFrameLocks noGrp="1"/>
          </p:cNvGraphicFramePr>
          <p:nvPr>
            <p:ph idx="1"/>
            <p:extLst>
              <p:ext uri="{D42A27DB-BD31-4B8C-83A1-F6EECF244321}">
                <p14:modId xmlns:p14="http://schemas.microsoft.com/office/powerpoint/2010/main" val="1625030040"/>
              </p:ext>
            </p:extLst>
          </p:nvPr>
        </p:nvGraphicFramePr>
        <p:xfrm>
          <a:off x="876693" y="2533476"/>
          <a:ext cx="3455821" cy="344783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TextBox 2">
            <a:extLst>
              <a:ext uri="{FF2B5EF4-FFF2-40B4-BE49-F238E27FC236}">
                <a16:creationId xmlns:a16="http://schemas.microsoft.com/office/drawing/2014/main" id="{ABCCD861-12EB-897B-2D50-020161A0D9B7}"/>
              </a:ext>
            </a:extLst>
          </p:cNvPr>
          <p:cNvSpPr txBox="1"/>
          <p:nvPr/>
        </p:nvSpPr>
        <p:spPr>
          <a:xfrm rot="16200000">
            <a:off x="4710439" y="2133600"/>
            <a:ext cx="889000" cy="261610"/>
          </a:xfrm>
          <a:prstGeom prst="rect">
            <a:avLst/>
          </a:prstGeom>
          <a:noFill/>
        </p:spPr>
        <p:txBody>
          <a:bodyPr wrap="square" rtlCol="0">
            <a:spAutoFit/>
          </a:bodyPr>
          <a:lstStyle/>
          <a:p>
            <a:r>
              <a:rPr lang="en-US" sz="1100" dirty="0"/>
              <a:t>Billion</a:t>
            </a:r>
          </a:p>
        </p:txBody>
      </p:sp>
      <p:sp>
        <p:nvSpPr>
          <p:cNvPr id="4" name="TextBox 3">
            <a:extLst>
              <a:ext uri="{FF2B5EF4-FFF2-40B4-BE49-F238E27FC236}">
                <a16:creationId xmlns:a16="http://schemas.microsoft.com/office/drawing/2014/main" id="{86321FDF-2C60-807F-A2B9-8121AA63B3EE}"/>
              </a:ext>
            </a:extLst>
          </p:cNvPr>
          <p:cNvSpPr txBox="1"/>
          <p:nvPr/>
        </p:nvSpPr>
        <p:spPr>
          <a:xfrm>
            <a:off x="10323839" y="1012287"/>
            <a:ext cx="889000" cy="261610"/>
          </a:xfrm>
          <a:prstGeom prst="rect">
            <a:avLst/>
          </a:prstGeom>
          <a:noFill/>
        </p:spPr>
        <p:txBody>
          <a:bodyPr wrap="square" rtlCol="0">
            <a:spAutoFit/>
          </a:bodyPr>
          <a:lstStyle/>
          <a:p>
            <a:r>
              <a:rPr lang="en-US" sz="1100" dirty="0"/>
              <a:t>Billion</a:t>
            </a:r>
          </a:p>
        </p:txBody>
      </p:sp>
    </p:spTree>
    <p:extLst>
      <p:ext uri="{BB962C8B-B14F-4D97-AF65-F5344CB8AC3E}">
        <p14:creationId xmlns:p14="http://schemas.microsoft.com/office/powerpoint/2010/main" val="399213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203DE33-2CD4-4CA8-9AF3-37C3B6513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AF57B88-1D4C-41FA-A761-EC1DD10C3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2548F45-5164-4ABB-8212-7F293FDED8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omputer code representation.">
            <a:extLst>
              <a:ext uri="{FF2B5EF4-FFF2-40B4-BE49-F238E27FC236}">
                <a16:creationId xmlns:a16="http://schemas.microsoft.com/office/drawing/2014/main" id="{9D64B537-4EE2-D29A-8E73-8F3EB053A87A}"/>
              </a:ext>
            </a:extLst>
          </p:cNvPr>
          <p:cNvPicPr>
            <a:picLocks noChangeAspect="1"/>
          </p:cNvPicPr>
          <p:nvPr/>
        </p:nvPicPr>
        <p:blipFill>
          <a:blip r:embed="rId2"/>
          <a:srcRect l="22814" r="10728" b="1"/>
          <a:stretch>
            <a:fillRect/>
          </a:stretch>
        </p:blipFill>
        <p:spPr>
          <a:xfrm>
            <a:off x="4038599" y="10"/>
            <a:ext cx="8160026" cy="6875809"/>
          </a:xfrm>
          <a:prstGeom prst="rect">
            <a:avLst/>
          </a:prstGeom>
        </p:spPr>
      </p:pic>
      <p:sp>
        <p:nvSpPr>
          <p:cNvPr id="15" name="Freeform: Shape 14">
            <a:extLst>
              <a:ext uri="{FF2B5EF4-FFF2-40B4-BE49-F238E27FC236}">
                <a16:creationId xmlns:a16="http://schemas.microsoft.com/office/drawing/2014/main" id="{5E81CCFB-7BEF-4186-86FB-D09450B4D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0F7884D2-B0D6-81BA-0E50-C15B7934A768}"/>
              </a:ext>
            </a:extLst>
          </p:cNvPr>
          <p:cNvSpPr>
            <a:spLocks noGrp="1"/>
          </p:cNvSpPr>
          <p:nvPr>
            <p:ph type="title"/>
          </p:nvPr>
        </p:nvSpPr>
        <p:spPr>
          <a:xfrm>
            <a:off x="534473" y="2950387"/>
            <a:ext cx="3052293" cy="3531403"/>
          </a:xfrm>
        </p:spPr>
        <p:txBody>
          <a:bodyPr vert="horz" lIns="91440" tIns="45720" rIns="91440" bIns="45720" rtlCol="0" anchor="t">
            <a:normAutofit/>
          </a:bodyPr>
          <a:lstStyle/>
          <a:p>
            <a:pPr algn="r"/>
            <a:r>
              <a:rPr lang="en-US" sz="4000">
                <a:solidFill>
                  <a:srgbClr val="FFFFFF"/>
                </a:solidFill>
              </a:rPr>
              <a:t>Data exploration</a:t>
            </a:r>
          </a:p>
        </p:txBody>
      </p:sp>
    </p:spTree>
    <p:extLst>
      <p:ext uri="{BB962C8B-B14F-4D97-AF65-F5344CB8AC3E}">
        <p14:creationId xmlns:p14="http://schemas.microsoft.com/office/powerpoint/2010/main" val="3600476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115032-DFDB-6F2F-6C1A-74D098AD117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Movies by Genre</a:t>
            </a:r>
          </a:p>
        </p:txBody>
      </p:sp>
      <p:pic>
        <p:nvPicPr>
          <p:cNvPr id="5" name="Content Placeholder 4">
            <a:extLst>
              <a:ext uri="{FF2B5EF4-FFF2-40B4-BE49-F238E27FC236}">
                <a16:creationId xmlns:a16="http://schemas.microsoft.com/office/drawing/2014/main" id="{2EC9906E-4895-98B4-E227-05F3E46C0C38}"/>
              </a:ext>
            </a:extLst>
          </p:cNvPr>
          <p:cNvPicPr>
            <a:picLocks noGrp="1" noChangeAspect="1"/>
          </p:cNvPicPr>
          <p:nvPr>
            <p:ph idx="1"/>
          </p:nvPr>
        </p:nvPicPr>
        <p:blipFill>
          <a:blip r:embed="rId3"/>
          <a:stretch>
            <a:fillRect/>
          </a:stretch>
        </p:blipFill>
        <p:spPr>
          <a:xfrm>
            <a:off x="1598867" y="1966293"/>
            <a:ext cx="8994264" cy="4452160"/>
          </a:xfrm>
          <a:prstGeom prst="rect">
            <a:avLst/>
          </a:prstGeom>
        </p:spPr>
      </p:pic>
    </p:spTree>
    <p:extLst>
      <p:ext uri="{BB962C8B-B14F-4D97-AF65-F5344CB8AC3E}">
        <p14:creationId xmlns:p14="http://schemas.microsoft.com/office/powerpoint/2010/main" val="3544101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D7007D-9B04-BB05-7D3B-BF33FEE0E882}"/>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Net Profit Grouped by Genre</a:t>
            </a:r>
          </a:p>
        </p:txBody>
      </p:sp>
      <p:sp>
        <p:nvSpPr>
          <p:cNvPr id="3" name="Content Placeholder 2">
            <a:extLst>
              <a:ext uri="{FF2B5EF4-FFF2-40B4-BE49-F238E27FC236}">
                <a16:creationId xmlns:a16="http://schemas.microsoft.com/office/drawing/2014/main" id="{0B1CF7C5-446E-2C5B-3139-0C7F13D5BA52}"/>
              </a:ext>
            </a:extLst>
          </p:cNvPr>
          <p:cNvSpPr>
            <a:spLocks noGrp="1"/>
          </p:cNvSpPr>
          <p:nvPr>
            <p:ph idx="1"/>
          </p:nvPr>
        </p:nvSpPr>
        <p:spPr>
          <a:xfrm>
            <a:off x="8572499" y="390832"/>
            <a:ext cx="3233585" cy="873612"/>
          </a:xfrm>
        </p:spPr>
        <p:txBody>
          <a:bodyPr vert="horz" lIns="91440" tIns="45720" rIns="91440" bIns="45720" rtlCol="0" anchor="ctr">
            <a:normAutofit/>
          </a:bodyPr>
          <a:lstStyle/>
          <a:p>
            <a:pPr marL="0" indent="0">
              <a:buNone/>
            </a:pPr>
            <a:r>
              <a:rPr lang="en-US" sz="2000" kern="1200">
                <a:solidFill>
                  <a:srgbClr val="FFFFFF"/>
                </a:solidFill>
                <a:latin typeface="+mn-lt"/>
                <a:ea typeface="+mn-ea"/>
                <a:cs typeface="+mn-cs"/>
              </a:rPr>
              <a:t>Avatar and Titanic were removed</a:t>
            </a:r>
          </a:p>
        </p:txBody>
      </p:sp>
      <p:pic>
        <p:nvPicPr>
          <p:cNvPr id="5" name="Picture 4">
            <a:extLst>
              <a:ext uri="{FF2B5EF4-FFF2-40B4-BE49-F238E27FC236}">
                <a16:creationId xmlns:a16="http://schemas.microsoft.com/office/drawing/2014/main" id="{E92EA81C-74BD-8FFD-7439-A695C6EE6812}"/>
              </a:ext>
            </a:extLst>
          </p:cNvPr>
          <p:cNvPicPr>
            <a:picLocks noChangeAspect="1"/>
          </p:cNvPicPr>
          <p:nvPr/>
        </p:nvPicPr>
        <p:blipFill>
          <a:blip r:embed="rId3"/>
          <a:stretch>
            <a:fillRect/>
          </a:stretch>
        </p:blipFill>
        <p:spPr>
          <a:xfrm>
            <a:off x="1320800" y="1771601"/>
            <a:ext cx="8931031" cy="4646852"/>
          </a:xfrm>
          <a:prstGeom prst="rect">
            <a:avLst/>
          </a:prstGeom>
        </p:spPr>
      </p:pic>
    </p:spTree>
    <p:extLst>
      <p:ext uri="{BB962C8B-B14F-4D97-AF65-F5344CB8AC3E}">
        <p14:creationId xmlns:p14="http://schemas.microsoft.com/office/powerpoint/2010/main" val="26100473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383483-E3A1-1777-844C-AA5700FAE8B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58807D-0C8A-DE92-042E-47B5F1D8FC2D}"/>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dirty="0">
                <a:solidFill>
                  <a:schemeClr val="bg1"/>
                </a:solidFill>
              </a:rPr>
              <a:t>ROI by Genre</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1B08C113-8214-2B65-DDF5-08D8C9171E7A}"/>
              </a:ext>
            </a:extLst>
          </p:cNvPr>
          <p:cNvSpPr>
            <a:spLocks noGrp="1"/>
          </p:cNvSpPr>
          <p:nvPr>
            <p:ph idx="1"/>
          </p:nvPr>
        </p:nvSpPr>
        <p:spPr>
          <a:xfrm>
            <a:off x="8572499" y="390832"/>
            <a:ext cx="3233585" cy="873612"/>
          </a:xfrm>
        </p:spPr>
        <p:txBody>
          <a:bodyPr vert="horz" lIns="91440" tIns="45720" rIns="91440" bIns="45720" rtlCol="0" anchor="ctr">
            <a:normAutofit fontScale="92500" lnSpcReduction="20000"/>
          </a:bodyPr>
          <a:lstStyle/>
          <a:p>
            <a:pPr marL="0" indent="0">
              <a:buNone/>
            </a:pPr>
            <a:r>
              <a:rPr lang="en-US" sz="2000" dirty="0">
                <a:solidFill>
                  <a:schemeClr val="bg1"/>
                </a:solidFill>
              </a:rPr>
              <a:t>Blair Witch Project removed as outlier</a:t>
            </a:r>
          </a:p>
          <a:p>
            <a:pPr marL="0" indent="0">
              <a:buNone/>
            </a:pPr>
            <a:r>
              <a:rPr lang="en-US" sz="2000" dirty="0">
                <a:solidFill>
                  <a:schemeClr val="bg1"/>
                </a:solidFill>
              </a:rPr>
              <a:t> ROI = 4132</a:t>
            </a:r>
          </a:p>
        </p:txBody>
      </p:sp>
      <p:pic>
        <p:nvPicPr>
          <p:cNvPr id="4" name="Picture 3">
            <a:extLst>
              <a:ext uri="{FF2B5EF4-FFF2-40B4-BE49-F238E27FC236}">
                <a16:creationId xmlns:a16="http://schemas.microsoft.com/office/drawing/2014/main" id="{C9392D61-0F2C-DEFE-DDDE-E07E24DD98C6}"/>
              </a:ext>
            </a:extLst>
          </p:cNvPr>
          <p:cNvPicPr>
            <a:picLocks noChangeAspect="1"/>
          </p:cNvPicPr>
          <p:nvPr/>
        </p:nvPicPr>
        <p:blipFill>
          <a:blip r:embed="rId3"/>
          <a:stretch>
            <a:fillRect/>
          </a:stretch>
        </p:blipFill>
        <p:spPr>
          <a:xfrm>
            <a:off x="1585895" y="1690688"/>
            <a:ext cx="8572152" cy="5007495"/>
          </a:xfrm>
          <a:prstGeom prst="rect">
            <a:avLst/>
          </a:prstGeom>
        </p:spPr>
      </p:pic>
      <p:cxnSp>
        <p:nvCxnSpPr>
          <p:cNvPr id="6" name="Straight Arrow Connector 5">
            <a:extLst>
              <a:ext uri="{FF2B5EF4-FFF2-40B4-BE49-F238E27FC236}">
                <a16:creationId xmlns:a16="http://schemas.microsoft.com/office/drawing/2014/main" id="{FEC0C8F4-8B12-250D-D8B3-42893C74D9AE}"/>
              </a:ext>
            </a:extLst>
          </p:cNvPr>
          <p:cNvCxnSpPr>
            <a:cxnSpLocks/>
          </p:cNvCxnSpPr>
          <p:nvPr/>
        </p:nvCxnSpPr>
        <p:spPr>
          <a:xfrm flipH="1" flipV="1">
            <a:off x="2668725" y="2057444"/>
            <a:ext cx="1636452" cy="96764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821300B7-8A9F-6110-89AA-809E9B06FDC1}"/>
              </a:ext>
            </a:extLst>
          </p:cNvPr>
          <p:cNvSpPr txBox="1"/>
          <p:nvPr/>
        </p:nvSpPr>
        <p:spPr>
          <a:xfrm>
            <a:off x="4279898" y="2782669"/>
            <a:ext cx="1816100" cy="646331"/>
          </a:xfrm>
          <a:prstGeom prst="rect">
            <a:avLst/>
          </a:prstGeom>
          <a:noFill/>
        </p:spPr>
        <p:txBody>
          <a:bodyPr wrap="square" rtlCol="0">
            <a:spAutoFit/>
          </a:bodyPr>
          <a:lstStyle/>
          <a:p>
            <a:r>
              <a:rPr lang="en-US" dirty="0"/>
              <a:t>My Big Fat Greek Wedding</a:t>
            </a:r>
          </a:p>
        </p:txBody>
      </p:sp>
    </p:spTree>
    <p:extLst>
      <p:ext uri="{BB962C8B-B14F-4D97-AF65-F5344CB8AC3E}">
        <p14:creationId xmlns:p14="http://schemas.microsoft.com/office/powerpoint/2010/main" val="26654811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D92BA9D-87D9-A81F-37B8-2CF98B9E7CC0}"/>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Net Profit grouped by MPAA Rating</a:t>
            </a:r>
          </a:p>
        </p:txBody>
      </p:sp>
      <p:pic>
        <p:nvPicPr>
          <p:cNvPr id="5" name="Content Placeholder 4">
            <a:extLst>
              <a:ext uri="{FF2B5EF4-FFF2-40B4-BE49-F238E27FC236}">
                <a16:creationId xmlns:a16="http://schemas.microsoft.com/office/drawing/2014/main" id="{5FEA5811-8777-9A3B-BE19-19E03B9D9358}"/>
              </a:ext>
            </a:extLst>
          </p:cNvPr>
          <p:cNvPicPr>
            <a:picLocks noGrp="1" noChangeAspect="1"/>
          </p:cNvPicPr>
          <p:nvPr>
            <p:ph idx="1"/>
          </p:nvPr>
        </p:nvPicPr>
        <p:blipFill>
          <a:blip r:embed="rId3"/>
          <a:stretch>
            <a:fillRect/>
          </a:stretch>
        </p:blipFill>
        <p:spPr>
          <a:xfrm>
            <a:off x="4503360" y="467208"/>
            <a:ext cx="7223883" cy="5923584"/>
          </a:xfrm>
          <a:prstGeom prst="rect">
            <a:avLst/>
          </a:prstGeom>
        </p:spPr>
      </p:pic>
    </p:spTree>
    <p:extLst>
      <p:ext uri="{BB962C8B-B14F-4D97-AF65-F5344CB8AC3E}">
        <p14:creationId xmlns:p14="http://schemas.microsoft.com/office/powerpoint/2010/main" val="484291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7CE6332-DB98-2895-030D-7577CEAD22DB}"/>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ROI grouped by MPAA Rating</a:t>
            </a:r>
          </a:p>
        </p:txBody>
      </p:sp>
      <p:pic>
        <p:nvPicPr>
          <p:cNvPr id="5" name="Content Placeholder 4">
            <a:extLst>
              <a:ext uri="{FF2B5EF4-FFF2-40B4-BE49-F238E27FC236}">
                <a16:creationId xmlns:a16="http://schemas.microsoft.com/office/drawing/2014/main" id="{13BE1DC1-9800-D4F4-B78A-2C0058689336}"/>
              </a:ext>
            </a:extLst>
          </p:cNvPr>
          <p:cNvPicPr>
            <a:picLocks noGrp="1" noChangeAspect="1"/>
          </p:cNvPicPr>
          <p:nvPr>
            <p:ph idx="1"/>
          </p:nvPr>
        </p:nvPicPr>
        <p:blipFill>
          <a:blip r:embed="rId3"/>
          <a:stretch>
            <a:fillRect/>
          </a:stretch>
        </p:blipFill>
        <p:spPr>
          <a:xfrm>
            <a:off x="4525251" y="467208"/>
            <a:ext cx="7180101" cy="5923584"/>
          </a:xfrm>
          <a:prstGeom prst="rect">
            <a:avLst/>
          </a:prstGeom>
        </p:spPr>
      </p:pic>
      <p:cxnSp>
        <p:nvCxnSpPr>
          <p:cNvPr id="9" name="Straight Arrow Connector 8">
            <a:extLst>
              <a:ext uri="{FF2B5EF4-FFF2-40B4-BE49-F238E27FC236}">
                <a16:creationId xmlns:a16="http://schemas.microsoft.com/office/drawing/2014/main" id="{0043D6C5-986A-2D5C-20F1-8421B75A89D6}"/>
              </a:ext>
            </a:extLst>
          </p:cNvPr>
          <p:cNvCxnSpPr/>
          <p:nvPr/>
        </p:nvCxnSpPr>
        <p:spPr>
          <a:xfrm>
            <a:off x="4622800" y="845422"/>
            <a:ext cx="2743200" cy="43727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 name="TextBox 10">
            <a:extLst>
              <a:ext uri="{FF2B5EF4-FFF2-40B4-BE49-F238E27FC236}">
                <a16:creationId xmlns:a16="http://schemas.microsoft.com/office/drawing/2014/main" id="{5D92C6A2-7B73-DAE5-EE47-4F1548CC0B18}"/>
              </a:ext>
            </a:extLst>
          </p:cNvPr>
          <p:cNvSpPr txBox="1"/>
          <p:nvPr/>
        </p:nvSpPr>
        <p:spPr>
          <a:xfrm>
            <a:off x="4241389" y="199091"/>
            <a:ext cx="1816100" cy="646331"/>
          </a:xfrm>
          <a:prstGeom prst="rect">
            <a:avLst/>
          </a:prstGeom>
          <a:noFill/>
        </p:spPr>
        <p:txBody>
          <a:bodyPr wrap="square" rtlCol="0">
            <a:spAutoFit/>
          </a:bodyPr>
          <a:lstStyle/>
          <a:p>
            <a:r>
              <a:rPr lang="en-US" dirty="0"/>
              <a:t>My Big Fat Greek Wedding</a:t>
            </a:r>
          </a:p>
        </p:txBody>
      </p:sp>
    </p:spTree>
    <p:extLst>
      <p:ext uri="{BB962C8B-B14F-4D97-AF65-F5344CB8AC3E}">
        <p14:creationId xmlns:p14="http://schemas.microsoft.com/office/powerpoint/2010/main" val="4284077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7293ED82-8527-E58F-2D10-8B100C0770EB}"/>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Movies Grouped by Month of Release</a:t>
            </a:r>
          </a:p>
        </p:txBody>
      </p:sp>
      <p:pic>
        <p:nvPicPr>
          <p:cNvPr id="5" name="Content Placeholder 4">
            <a:extLst>
              <a:ext uri="{FF2B5EF4-FFF2-40B4-BE49-F238E27FC236}">
                <a16:creationId xmlns:a16="http://schemas.microsoft.com/office/drawing/2014/main" id="{E1C1673C-33CB-394B-6D27-2AA8988A6A57}"/>
              </a:ext>
            </a:extLst>
          </p:cNvPr>
          <p:cNvPicPr>
            <a:picLocks noGrp="1" noChangeAspect="1"/>
          </p:cNvPicPr>
          <p:nvPr>
            <p:ph idx="1"/>
          </p:nvPr>
        </p:nvPicPr>
        <p:blipFill>
          <a:blip r:embed="rId3"/>
          <a:stretch>
            <a:fillRect/>
          </a:stretch>
        </p:blipFill>
        <p:spPr>
          <a:xfrm>
            <a:off x="4502428" y="728376"/>
            <a:ext cx="7225748" cy="5401247"/>
          </a:xfrm>
          <a:prstGeom prst="rect">
            <a:avLst/>
          </a:prstGeom>
        </p:spPr>
      </p:pic>
      <p:sp>
        <p:nvSpPr>
          <p:cNvPr id="6" name="TextBox 5">
            <a:extLst>
              <a:ext uri="{FF2B5EF4-FFF2-40B4-BE49-F238E27FC236}">
                <a16:creationId xmlns:a16="http://schemas.microsoft.com/office/drawing/2014/main" id="{524F0485-D636-BDCA-9CF9-6E062789B917}"/>
              </a:ext>
            </a:extLst>
          </p:cNvPr>
          <p:cNvSpPr txBox="1"/>
          <p:nvPr/>
        </p:nvSpPr>
        <p:spPr>
          <a:xfrm>
            <a:off x="7693270" y="6129623"/>
            <a:ext cx="844062" cy="369332"/>
          </a:xfrm>
          <a:prstGeom prst="rect">
            <a:avLst/>
          </a:prstGeom>
          <a:noFill/>
        </p:spPr>
        <p:txBody>
          <a:bodyPr wrap="square" rtlCol="0">
            <a:spAutoFit/>
          </a:bodyPr>
          <a:lstStyle/>
          <a:p>
            <a:r>
              <a:rPr lang="en-US" dirty="0"/>
              <a:t>Month</a:t>
            </a:r>
          </a:p>
        </p:txBody>
      </p:sp>
      <p:sp>
        <p:nvSpPr>
          <p:cNvPr id="7" name="TextBox 6">
            <a:extLst>
              <a:ext uri="{FF2B5EF4-FFF2-40B4-BE49-F238E27FC236}">
                <a16:creationId xmlns:a16="http://schemas.microsoft.com/office/drawing/2014/main" id="{0C62E47D-867F-D50B-2218-B5E43E725C3E}"/>
              </a:ext>
            </a:extLst>
          </p:cNvPr>
          <p:cNvSpPr txBox="1"/>
          <p:nvPr/>
        </p:nvSpPr>
        <p:spPr>
          <a:xfrm rot="16200000">
            <a:off x="3139920" y="2676454"/>
            <a:ext cx="2883877" cy="369332"/>
          </a:xfrm>
          <a:prstGeom prst="rect">
            <a:avLst/>
          </a:prstGeom>
          <a:noFill/>
        </p:spPr>
        <p:txBody>
          <a:bodyPr wrap="square" rtlCol="0">
            <a:spAutoFit/>
          </a:bodyPr>
          <a:lstStyle/>
          <a:p>
            <a:r>
              <a:rPr lang="en-US" dirty="0"/>
              <a:t>Number of Movies</a:t>
            </a:r>
          </a:p>
        </p:txBody>
      </p:sp>
    </p:spTree>
    <p:extLst>
      <p:ext uri="{BB962C8B-B14F-4D97-AF65-F5344CB8AC3E}">
        <p14:creationId xmlns:p14="http://schemas.microsoft.com/office/powerpoint/2010/main" val="2014704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29" name="Rectangle 2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38CD53-80E5-0305-CCB1-BC6CFFC22021}"/>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4000">
                <a:solidFill>
                  <a:srgbClr val="FFFFFF"/>
                </a:solidFill>
              </a:rPr>
              <a:t>Release Date Grouped by Profits</a:t>
            </a:r>
          </a:p>
        </p:txBody>
      </p:sp>
      <p:pic>
        <p:nvPicPr>
          <p:cNvPr id="5" name="Picture 4">
            <a:extLst>
              <a:ext uri="{FF2B5EF4-FFF2-40B4-BE49-F238E27FC236}">
                <a16:creationId xmlns:a16="http://schemas.microsoft.com/office/drawing/2014/main" id="{842A26B6-A34F-F1B2-F6DC-BF310D312729}"/>
              </a:ext>
            </a:extLst>
          </p:cNvPr>
          <p:cNvPicPr>
            <a:picLocks noChangeAspect="1"/>
          </p:cNvPicPr>
          <p:nvPr/>
        </p:nvPicPr>
        <p:blipFill>
          <a:blip r:embed="rId3"/>
          <a:stretch>
            <a:fillRect/>
          </a:stretch>
        </p:blipFill>
        <p:spPr>
          <a:xfrm>
            <a:off x="715748" y="2749954"/>
            <a:ext cx="5131088" cy="2860580"/>
          </a:xfrm>
          <a:prstGeom prst="rect">
            <a:avLst/>
          </a:prstGeom>
        </p:spPr>
      </p:pic>
      <p:pic>
        <p:nvPicPr>
          <p:cNvPr id="7" name="Picture 6">
            <a:extLst>
              <a:ext uri="{FF2B5EF4-FFF2-40B4-BE49-F238E27FC236}">
                <a16:creationId xmlns:a16="http://schemas.microsoft.com/office/drawing/2014/main" id="{E95FEB7F-0948-A58E-303D-DDC5B670895C}"/>
              </a:ext>
            </a:extLst>
          </p:cNvPr>
          <p:cNvPicPr>
            <a:picLocks noChangeAspect="1"/>
          </p:cNvPicPr>
          <p:nvPr/>
        </p:nvPicPr>
        <p:blipFill>
          <a:blip r:embed="rId4"/>
          <a:stretch>
            <a:fillRect/>
          </a:stretch>
        </p:blipFill>
        <p:spPr>
          <a:xfrm>
            <a:off x="6345165" y="2780026"/>
            <a:ext cx="5131087" cy="2873408"/>
          </a:xfrm>
          <a:prstGeom prst="rect">
            <a:avLst/>
          </a:prstGeom>
        </p:spPr>
      </p:pic>
    </p:spTree>
    <p:extLst>
      <p:ext uri="{BB962C8B-B14F-4D97-AF65-F5344CB8AC3E}">
        <p14:creationId xmlns:p14="http://schemas.microsoft.com/office/powerpoint/2010/main" val="2046014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2F2EFA5-0450-C301-77EA-BADEEFEC7ED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Release Date grouped by Ratings</a:t>
            </a:r>
          </a:p>
        </p:txBody>
      </p:sp>
      <p:pic>
        <p:nvPicPr>
          <p:cNvPr id="5" name="Picture 4">
            <a:extLst>
              <a:ext uri="{FF2B5EF4-FFF2-40B4-BE49-F238E27FC236}">
                <a16:creationId xmlns:a16="http://schemas.microsoft.com/office/drawing/2014/main" id="{30A0559F-D0E6-EED8-12D5-3F23FA056542}"/>
              </a:ext>
            </a:extLst>
          </p:cNvPr>
          <p:cNvPicPr>
            <a:picLocks noChangeAspect="1"/>
          </p:cNvPicPr>
          <p:nvPr/>
        </p:nvPicPr>
        <p:blipFill>
          <a:blip r:embed="rId3"/>
          <a:stretch>
            <a:fillRect/>
          </a:stretch>
        </p:blipFill>
        <p:spPr>
          <a:xfrm>
            <a:off x="2048580" y="1966293"/>
            <a:ext cx="8094838" cy="4452160"/>
          </a:xfrm>
          <a:prstGeom prst="rect">
            <a:avLst/>
          </a:prstGeom>
        </p:spPr>
      </p:pic>
    </p:spTree>
    <p:extLst>
      <p:ext uri="{BB962C8B-B14F-4D97-AF65-F5344CB8AC3E}">
        <p14:creationId xmlns:p14="http://schemas.microsoft.com/office/powerpoint/2010/main" val="4224702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E37ACE-5428-7E91-0DA0-45E6D33246C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3700" kern="1200">
                <a:solidFill>
                  <a:srgbClr val="FFFFFF"/>
                </a:solidFill>
                <a:latin typeface="+mj-lt"/>
                <a:ea typeface="+mj-ea"/>
                <a:cs typeface="+mj-cs"/>
              </a:rPr>
              <a:t>Release Date Grouped by MPAA Rating</a:t>
            </a:r>
          </a:p>
        </p:txBody>
      </p:sp>
      <p:pic>
        <p:nvPicPr>
          <p:cNvPr id="5" name="Picture 4">
            <a:extLst>
              <a:ext uri="{FF2B5EF4-FFF2-40B4-BE49-F238E27FC236}">
                <a16:creationId xmlns:a16="http://schemas.microsoft.com/office/drawing/2014/main" id="{71567F79-B99D-D11B-BAA0-49EB4D1D8099}"/>
              </a:ext>
            </a:extLst>
          </p:cNvPr>
          <p:cNvPicPr>
            <a:picLocks noChangeAspect="1"/>
          </p:cNvPicPr>
          <p:nvPr/>
        </p:nvPicPr>
        <p:blipFill>
          <a:blip r:embed="rId3"/>
          <a:stretch>
            <a:fillRect/>
          </a:stretch>
        </p:blipFill>
        <p:spPr>
          <a:xfrm>
            <a:off x="2048580" y="1966293"/>
            <a:ext cx="8094838" cy="4452160"/>
          </a:xfrm>
          <a:prstGeom prst="rect">
            <a:avLst/>
          </a:prstGeom>
        </p:spPr>
      </p:pic>
    </p:spTree>
    <p:extLst>
      <p:ext uri="{BB962C8B-B14F-4D97-AF65-F5344CB8AC3E}">
        <p14:creationId xmlns:p14="http://schemas.microsoft.com/office/powerpoint/2010/main" val="2762686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7676EA-BD2E-2561-AACC-D2978C978010}"/>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Heat Map </a:t>
            </a:r>
            <a:r>
              <a:rPr lang="en-US" sz="4000" dirty="0">
                <a:solidFill>
                  <a:srgbClr val="FFFFFF"/>
                </a:solidFill>
              </a:rPr>
              <a:t>Correlations</a:t>
            </a:r>
            <a:endParaRPr lang="en-US" sz="4000" kern="1200" dirty="0">
              <a:solidFill>
                <a:srgbClr val="FFFFFF"/>
              </a:solidFill>
              <a:latin typeface="+mj-lt"/>
              <a:ea typeface="+mj-ea"/>
              <a:cs typeface="+mj-cs"/>
            </a:endParaRPr>
          </a:p>
        </p:txBody>
      </p:sp>
      <p:pic>
        <p:nvPicPr>
          <p:cNvPr id="5" name="Content Placeholder 4">
            <a:extLst>
              <a:ext uri="{FF2B5EF4-FFF2-40B4-BE49-F238E27FC236}">
                <a16:creationId xmlns:a16="http://schemas.microsoft.com/office/drawing/2014/main" id="{745DEA02-FC15-82D6-64A5-8DAAE49CD473}"/>
              </a:ext>
            </a:extLst>
          </p:cNvPr>
          <p:cNvPicPr>
            <a:picLocks noGrp="1" noChangeAspect="1"/>
          </p:cNvPicPr>
          <p:nvPr>
            <p:ph idx="1"/>
          </p:nvPr>
        </p:nvPicPr>
        <p:blipFill>
          <a:blip r:embed="rId3"/>
          <a:stretch>
            <a:fillRect/>
          </a:stretch>
        </p:blipFill>
        <p:spPr>
          <a:xfrm>
            <a:off x="1773868" y="2014899"/>
            <a:ext cx="8949063" cy="4452160"/>
          </a:xfrm>
          <a:prstGeom prst="rect">
            <a:avLst/>
          </a:prstGeom>
        </p:spPr>
      </p:pic>
      <p:sp>
        <p:nvSpPr>
          <p:cNvPr id="6" name="Oval 5">
            <a:extLst>
              <a:ext uri="{FF2B5EF4-FFF2-40B4-BE49-F238E27FC236}">
                <a16:creationId xmlns:a16="http://schemas.microsoft.com/office/drawing/2014/main" id="{FE7A5E94-1152-DB84-9A75-D00C83765BEC}"/>
              </a:ext>
            </a:extLst>
          </p:cNvPr>
          <p:cNvSpPr/>
          <p:nvPr/>
        </p:nvSpPr>
        <p:spPr>
          <a:xfrm>
            <a:off x="4612736" y="3691710"/>
            <a:ext cx="467263" cy="460369"/>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B1B244-5EF5-DA82-E5F3-F57C9D8B5463}"/>
              </a:ext>
            </a:extLst>
          </p:cNvPr>
          <p:cNvSpPr/>
          <p:nvPr/>
        </p:nvSpPr>
        <p:spPr>
          <a:xfrm>
            <a:off x="2834736" y="3704410"/>
            <a:ext cx="467263" cy="460369"/>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DC56CD2-0D46-083F-DE37-703F405E4DC4}"/>
              </a:ext>
            </a:extLst>
          </p:cNvPr>
          <p:cNvSpPr/>
          <p:nvPr/>
        </p:nvSpPr>
        <p:spPr>
          <a:xfrm>
            <a:off x="7258069" y="3687150"/>
            <a:ext cx="467263" cy="460369"/>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378FAC7-1F8E-BAD1-485C-0F9A67FD9A75}"/>
              </a:ext>
            </a:extLst>
          </p:cNvPr>
          <p:cNvSpPr/>
          <p:nvPr/>
        </p:nvSpPr>
        <p:spPr>
          <a:xfrm>
            <a:off x="3730086" y="3691710"/>
            <a:ext cx="467263" cy="460369"/>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DD5443-1E4F-12BE-007F-6A18019559C7}"/>
              </a:ext>
            </a:extLst>
          </p:cNvPr>
          <p:cNvSpPr/>
          <p:nvPr/>
        </p:nvSpPr>
        <p:spPr>
          <a:xfrm>
            <a:off x="4629170" y="5207000"/>
            <a:ext cx="467263" cy="460369"/>
          </a:xfrm>
          <a:prstGeom prst="ellipse">
            <a:avLst/>
          </a:prstGeom>
          <a:no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44B4BCAF-0CE5-860D-2B8E-2BA0F5A5B503}"/>
              </a:ext>
            </a:extLst>
          </p:cNvPr>
          <p:cNvSpPr/>
          <p:nvPr/>
        </p:nvSpPr>
        <p:spPr>
          <a:xfrm>
            <a:off x="2863870" y="5207000"/>
            <a:ext cx="467263" cy="460369"/>
          </a:xfrm>
          <a:prstGeom prst="ellipse">
            <a:avLst/>
          </a:prstGeom>
          <a:no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CBBD569-2394-4E6F-DA73-41768FC21FE5}"/>
              </a:ext>
            </a:extLst>
          </p:cNvPr>
          <p:cNvSpPr/>
          <p:nvPr/>
        </p:nvSpPr>
        <p:spPr>
          <a:xfrm>
            <a:off x="7258070" y="5207000"/>
            <a:ext cx="467263" cy="460369"/>
          </a:xfrm>
          <a:prstGeom prst="ellipse">
            <a:avLst/>
          </a:prstGeom>
          <a:no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F3C2AE1-15DE-BE87-F3C8-F6C89CEB6370}"/>
              </a:ext>
            </a:extLst>
          </p:cNvPr>
          <p:cNvSpPr/>
          <p:nvPr/>
        </p:nvSpPr>
        <p:spPr>
          <a:xfrm>
            <a:off x="3746520" y="5207000"/>
            <a:ext cx="467263" cy="460369"/>
          </a:xfrm>
          <a:prstGeom prst="ellipse">
            <a:avLst/>
          </a:prstGeom>
          <a:no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48642AAA-7714-2EDE-3A79-58EDDB61D20F}"/>
              </a:ext>
            </a:extLst>
          </p:cNvPr>
          <p:cNvSpPr/>
          <p:nvPr/>
        </p:nvSpPr>
        <p:spPr>
          <a:xfrm>
            <a:off x="4629169" y="5725705"/>
            <a:ext cx="467263" cy="460369"/>
          </a:xfrm>
          <a:prstGeom prst="ellipse">
            <a:avLst/>
          </a:prstGeom>
          <a:no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2DCD3616-7880-1DB6-467C-FE42E92ADF32}"/>
              </a:ext>
            </a:extLst>
          </p:cNvPr>
          <p:cNvSpPr/>
          <p:nvPr/>
        </p:nvSpPr>
        <p:spPr>
          <a:xfrm>
            <a:off x="2863869" y="5725704"/>
            <a:ext cx="467263" cy="460369"/>
          </a:xfrm>
          <a:prstGeom prst="ellipse">
            <a:avLst/>
          </a:prstGeom>
          <a:no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92AD24E-81DA-52A0-04B1-DA2B3B7D4258}"/>
              </a:ext>
            </a:extLst>
          </p:cNvPr>
          <p:cNvSpPr/>
          <p:nvPr/>
        </p:nvSpPr>
        <p:spPr>
          <a:xfrm>
            <a:off x="7258069" y="5718169"/>
            <a:ext cx="467263" cy="460369"/>
          </a:xfrm>
          <a:prstGeom prst="ellipse">
            <a:avLst/>
          </a:prstGeom>
          <a:no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63DC85E-3091-11FF-A68B-9DACC9337274}"/>
              </a:ext>
            </a:extLst>
          </p:cNvPr>
          <p:cNvSpPr/>
          <p:nvPr/>
        </p:nvSpPr>
        <p:spPr>
          <a:xfrm>
            <a:off x="3691986" y="5725705"/>
            <a:ext cx="467263" cy="460369"/>
          </a:xfrm>
          <a:prstGeom prst="ellipse">
            <a:avLst/>
          </a:prstGeom>
          <a:no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71325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3E800CD-EBAB-D9D0-5110-AD3261A60489}"/>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Modeling</a:t>
            </a:r>
          </a:p>
        </p:txBody>
      </p:sp>
      <p:graphicFrame>
        <p:nvGraphicFramePr>
          <p:cNvPr id="5" name="Content Placeholder 2">
            <a:extLst>
              <a:ext uri="{FF2B5EF4-FFF2-40B4-BE49-F238E27FC236}">
                <a16:creationId xmlns:a16="http://schemas.microsoft.com/office/drawing/2014/main" id="{5E4436C6-6CDE-266B-C07E-427660F806CF}"/>
              </a:ext>
            </a:extLst>
          </p:cNvPr>
          <p:cNvGraphicFramePr>
            <a:graphicFrameLocks noGrp="1"/>
          </p:cNvGraphicFramePr>
          <p:nvPr>
            <p:ph idx="1"/>
            <p:extLst>
              <p:ext uri="{D42A27DB-BD31-4B8C-83A1-F6EECF244321}">
                <p14:modId xmlns:p14="http://schemas.microsoft.com/office/powerpoint/2010/main" val="3552736657"/>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37081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6A4009C-F794-DD43-B4F8-2D1C9D65665B}"/>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Model metrics</a:t>
            </a:r>
          </a:p>
        </p:txBody>
      </p:sp>
      <p:graphicFrame>
        <p:nvGraphicFramePr>
          <p:cNvPr id="5" name="Content Placeholder 4">
            <a:extLst>
              <a:ext uri="{FF2B5EF4-FFF2-40B4-BE49-F238E27FC236}">
                <a16:creationId xmlns:a16="http://schemas.microsoft.com/office/drawing/2014/main" id="{B6370A17-D483-0469-E889-DCE4DEAA1B70}"/>
              </a:ext>
            </a:extLst>
          </p:cNvPr>
          <p:cNvGraphicFramePr>
            <a:graphicFrameLocks noGrp="1"/>
          </p:cNvGraphicFramePr>
          <p:nvPr>
            <p:ph idx="1"/>
            <p:extLst>
              <p:ext uri="{D42A27DB-BD31-4B8C-83A1-F6EECF244321}">
                <p14:modId xmlns:p14="http://schemas.microsoft.com/office/powerpoint/2010/main" val="1560634195"/>
              </p:ext>
            </p:extLst>
          </p:nvPr>
        </p:nvGraphicFramePr>
        <p:xfrm>
          <a:off x="644056" y="2771283"/>
          <a:ext cx="10927832" cy="3378800"/>
        </p:xfrm>
        <a:graphic>
          <a:graphicData uri="http://schemas.openxmlformats.org/drawingml/2006/table">
            <a:tbl>
              <a:tblPr firstRow="1" bandRow="1">
                <a:tableStyleId>{3B4B98B0-60AC-42C2-AFA5-B58CD77FA1E5}</a:tableStyleId>
              </a:tblPr>
              <a:tblGrid>
                <a:gridCol w="3311799">
                  <a:extLst>
                    <a:ext uri="{9D8B030D-6E8A-4147-A177-3AD203B41FA5}">
                      <a16:colId xmlns:a16="http://schemas.microsoft.com/office/drawing/2014/main" val="3939925365"/>
                    </a:ext>
                  </a:extLst>
                </a:gridCol>
                <a:gridCol w="1930319">
                  <a:extLst>
                    <a:ext uri="{9D8B030D-6E8A-4147-A177-3AD203B41FA5}">
                      <a16:colId xmlns:a16="http://schemas.microsoft.com/office/drawing/2014/main" val="416411891"/>
                    </a:ext>
                  </a:extLst>
                </a:gridCol>
                <a:gridCol w="2002120">
                  <a:extLst>
                    <a:ext uri="{9D8B030D-6E8A-4147-A177-3AD203B41FA5}">
                      <a16:colId xmlns:a16="http://schemas.microsoft.com/office/drawing/2014/main" val="2754679363"/>
                    </a:ext>
                  </a:extLst>
                </a:gridCol>
                <a:gridCol w="1841797">
                  <a:extLst>
                    <a:ext uri="{9D8B030D-6E8A-4147-A177-3AD203B41FA5}">
                      <a16:colId xmlns:a16="http://schemas.microsoft.com/office/drawing/2014/main" val="638685693"/>
                    </a:ext>
                  </a:extLst>
                </a:gridCol>
                <a:gridCol w="1841797">
                  <a:extLst>
                    <a:ext uri="{9D8B030D-6E8A-4147-A177-3AD203B41FA5}">
                      <a16:colId xmlns:a16="http://schemas.microsoft.com/office/drawing/2014/main" val="1777248138"/>
                    </a:ext>
                  </a:extLst>
                </a:gridCol>
              </a:tblGrid>
              <a:tr h="927135">
                <a:tc>
                  <a:txBody>
                    <a:bodyPr/>
                    <a:lstStyle/>
                    <a:p>
                      <a:pPr algn="r" fontAlgn="b">
                        <a:buNone/>
                      </a:pPr>
                      <a:r>
                        <a:rPr lang="en-US" sz="2900" b="0" u="none" strike="noStrike">
                          <a:solidFill>
                            <a:srgbClr val="000000"/>
                          </a:solidFill>
                          <a:effectLst/>
                        </a:rPr>
                        <a:t>Model</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Training R^2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Testing R^2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MAE</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K Fold R^2</a:t>
                      </a:r>
                      <a:endParaRPr lang="en-US" sz="2900" b="0" i="0" u="none" strike="noStrike">
                        <a:solidFill>
                          <a:srgbClr val="000000"/>
                        </a:solidFill>
                        <a:effectLst/>
                        <a:latin typeface="Aptos Narrow" panose="020B0004020202020204" pitchFamily="34" charset="0"/>
                      </a:endParaRPr>
                    </a:p>
                  </a:txBody>
                  <a:tcPr marL="9850" marR="9850" marT="9850" marB="0" anchor="b"/>
                </a:tc>
                <a:extLst>
                  <a:ext uri="{0D108BD9-81ED-4DB2-BD59-A6C34878D82A}">
                    <a16:rowId xmlns:a16="http://schemas.microsoft.com/office/drawing/2014/main" val="3334274272"/>
                  </a:ext>
                </a:extLst>
              </a:tr>
              <a:tr h="490333">
                <a:tc>
                  <a:txBody>
                    <a:bodyPr/>
                    <a:lstStyle/>
                    <a:p>
                      <a:pPr algn="r" fontAlgn="b">
                        <a:buNone/>
                      </a:pPr>
                      <a:r>
                        <a:rPr lang="en-US" sz="2900" b="0" u="none" strike="noStrike">
                          <a:solidFill>
                            <a:srgbClr val="000000"/>
                          </a:solidFill>
                          <a:effectLst/>
                        </a:rPr>
                        <a:t>Random Forest</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0.9462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0.5729</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0.3217</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highlight>
                            <a:srgbClr val="FFFF00"/>
                          </a:highlight>
                        </a:rPr>
                        <a:t>0.6038</a:t>
                      </a:r>
                      <a:endParaRPr lang="en-US" sz="2900" b="0" i="0" u="none" strike="noStrike">
                        <a:solidFill>
                          <a:srgbClr val="000000"/>
                        </a:solidFill>
                        <a:effectLst/>
                        <a:highlight>
                          <a:srgbClr val="FFFF00"/>
                        </a:highlight>
                        <a:latin typeface="Aptos Narrow" panose="020B0004020202020204" pitchFamily="34" charset="0"/>
                      </a:endParaRPr>
                    </a:p>
                  </a:txBody>
                  <a:tcPr marL="9850" marR="9850" marT="9850" marB="0" anchor="b"/>
                </a:tc>
                <a:extLst>
                  <a:ext uri="{0D108BD9-81ED-4DB2-BD59-A6C34878D82A}">
                    <a16:rowId xmlns:a16="http://schemas.microsoft.com/office/drawing/2014/main" val="3969902653"/>
                  </a:ext>
                </a:extLst>
              </a:tr>
              <a:tr h="490333">
                <a:tc>
                  <a:txBody>
                    <a:bodyPr/>
                    <a:lstStyle/>
                    <a:p>
                      <a:pPr algn="r" fontAlgn="b">
                        <a:buNone/>
                      </a:pPr>
                      <a:r>
                        <a:rPr lang="en-US" sz="2900" b="0" u="none" strike="noStrike">
                          <a:solidFill>
                            <a:srgbClr val="000000"/>
                          </a:solidFill>
                          <a:effectLst/>
                        </a:rPr>
                        <a:t>XGBoost</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0.9462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0.516</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0.337</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0.5425</a:t>
                      </a:r>
                      <a:endParaRPr lang="en-US" sz="2900" b="0" i="0" u="none" strike="noStrike">
                        <a:solidFill>
                          <a:srgbClr val="000000"/>
                        </a:solidFill>
                        <a:effectLst/>
                        <a:latin typeface="Aptos Narrow" panose="020B0004020202020204" pitchFamily="34" charset="0"/>
                      </a:endParaRPr>
                    </a:p>
                  </a:txBody>
                  <a:tcPr marL="9850" marR="9850" marT="9850" marB="0" anchor="b"/>
                </a:tc>
                <a:extLst>
                  <a:ext uri="{0D108BD9-81ED-4DB2-BD59-A6C34878D82A}">
                    <a16:rowId xmlns:a16="http://schemas.microsoft.com/office/drawing/2014/main" val="2937288769"/>
                  </a:ext>
                </a:extLst>
              </a:tr>
              <a:tr h="490333">
                <a:tc>
                  <a:txBody>
                    <a:bodyPr/>
                    <a:lstStyle/>
                    <a:p>
                      <a:pPr algn="r" fontAlgn="b">
                        <a:buNone/>
                      </a:pPr>
                      <a:r>
                        <a:rPr lang="en-US" sz="2900" b="0" u="none" strike="noStrike">
                          <a:solidFill>
                            <a:srgbClr val="000000"/>
                          </a:solidFill>
                          <a:effectLst/>
                        </a:rPr>
                        <a:t>Linear Regression</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0.6082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0.5592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0.3442</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0.5333</a:t>
                      </a:r>
                      <a:endParaRPr lang="en-US" sz="2900" b="0" i="0" u="none" strike="noStrike">
                        <a:solidFill>
                          <a:srgbClr val="000000"/>
                        </a:solidFill>
                        <a:effectLst/>
                        <a:latin typeface="Aptos Narrow" panose="020B0004020202020204" pitchFamily="34" charset="0"/>
                      </a:endParaRPr>
                    </a:p>
                  </a:txBody>
                  <a:tcPr marL="9850" marR="9850" marT="9850" marB="0" anchor="b"/>
                </a:tc>
                <a:extLst>
                  <a:ext uri="{0D108BD9-81ED-4DB2-BD59-A6C34878D82A}">
                    <a16:rowId xmlns:a16="http://schemas.microsoft.com/office/drawing/2014/main" val="1061915124"/>
                  </a:ext>
                </a:extLst>
              </a:tr>
              <a:tr h="490333">
                <a:tc>
                  <a:txBody>
                    <a:bodyPr/>
                    <a:lstStyle/>
                    <a:p>
                      <a:pPr algn="r" fontAlgn="b">
                        <a:buNone/>
                      </a:pPr>
                      <a:r>
                        <a:rPr lang="en-US" sz="2900" b="0" u="none" strike="noStrike" dirty="0">
                          <a:solidFill>
                            <a:srgbClr val="000000"/>
                          </a:solidFill>
                          <a:effectLst/>
                        </a:rPr>
                        <a:t>SVR</a:t>
                      </a:r>
                      <a:endParaRPr lang="en-US" sz="2900" b="0" i="0" u="none" strike="noStrike" dirty="0">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0.8136</a:t>
                      </a:r>
                      <a:endParaRPr lang="en-US" sz="2900" b="0" i="0" u="none" strike="noStrike">
                        <a:solidFill>
                          <a:srgbClr val="000000"/>
                        </a:solidFill>
                        <a:effectLs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highlight>
                            <a:srgbClr val="FFFF00"/>
                          </a:highlight>
                        </a:rPr>
                        <a:t>0.6063</a:t>
                      </a:r>
                      <a:endParaRPr lang="en-US" sz="2900" b="0" i="0" u="none" strike="noStrike">
                        <a:solidFill>
                          <a:srgbClr val="000000"/>
                        </a:solidFill>
                        <a:effectLst/>
                        <a:highlight>
                          <a:srgbClr val="FFFF00"/>
                        </a:highligh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highlight>
                            <a:srgbClr val="FFFF00"/>
                          </a:highlight>
                        </a:rPr>
                        <a:t>0.3159</a:t>
                      </a:r>
                      <a:endParaRPr lang="en-US" sz="2900" b="0" i="0" u="none" strike="noStrike">
                        <a:solidFill>
                          <a:srgbClr val="000000"/>
                        </a:solidFill>
                        <a:effectLst/>
                        <a:highlight>
                          <a:srgbClr val="FFFF00"/>
                        </a:highligh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rPr>
                        <a:t>0.5837</a:t>
                      </a:r>
                      <a:endParaRPr lang="en-US" sz="2900" b="0" i="0" u="none" strike="noStrike">
                        <a:solidFill>
                          <a:srgbClr val="000000"/>
                        </a:solidFill>
                        <a:effectLst/>
                        <a:latin typeface="Aptos Narrow" panose="020B0004020202020204" pitchFamily="34" charset="0"/>
                      </a:endParaRPr>
                    </a:p>
                  </a:txBody>
                  <a:tcPr marL="9850" marR="9850" marT="9850" marB="0" anchor="b"/>
                </a:tc>
                <a:extLst>
                  <a:ext uri="{0D108BD9-81ED-4DB2-BD59-A6C34878D82A}">
                    <a16:rowId xmlns:a16="http://schemas.microsoft.com/office/drawing/2014/main" val="3090523768"/>
                  </a:ext>
                </a:extLst>
              </a:tr>
              <a:tr h="490333">
                <a:tc>
                  <a:txBody>
                    <a:bodyPr/>
                    <a:lstStyle/>
                    <a:p>
                      <a:pPr algn="r" fontAlgn="b">
                        <a:buNone/>
                      </a:pPr>
                      <a:r>
                        <a:rPr lang="en-US" sz="2800" b="0" u="none" strike="noStrike" dirty="0">
                          <a:solidFill>
                            <a:srgbClr val="000000"/>
                          </a:solidFill>
                          <a:effectLst/>
                        </a:rPr>
                        <a:t>  SVR grid search</a:t>
                      </a:r>
                      <a:endParaRPr lang="en-US" sz="2800" b="0" i="0" u="none" strike="noStrike" dirty="0">
                        <a:solidFill>
                          <a:srgbClr val="000000"/>
                        </a:solidFill>
                        <a:effectLst/>
                        <a:latin typeface="Aptos Narrow" panose="020B0004020202020204" pitchFamily="34" charset="0"/>
                      </a:endParaRPr>
                    </a:p>
                  </a:txBody>
                  <a:tcPr marL="9850" marR="9850" marT="9850" marB="0" anchor="b"/>
                </a:tc>
                <a:tc>
                  <a:txBody>
                    <a:bodyPr/>
                    <a:lstStyle/>
                    <a:p>
                      <a:endParaRPr lang="en-US" sz="2100"/>
                    </a:p>
                  </a:txBody>
                  <a:tcPr marL="9850" marR="9850" marT="9850" marB="0" anchor="b"/>
                </a:tc>
                <a:tc>
                  <a:txBody>
                    <a:bodyPr/>
                    <a:lstStyle/>
                    <a:p>
                      <a:pPr algn="r" fontAlgn="b">
                        <a:buNone/>
                      </a:pPr>
                      <a:r>
                        <a:rPr lang="en-US" sz="2900" b="0" u="none" strike="noStrike">
                          <a:solidFill>
                            <a:srgbClr val="000000"/>
                          </a:solidFill>
                          <a:effectLst/>
                          <a:highlight>
                            <a:srgbClr val="FFFF00"/>
                          </a:highlight>
                        </a:rPr>
                        <a:t>0.6321</a:t>
                      </a:r>
                      <a:endParaRPr lang="en-US" sz="2900" b="0" i="0" u="none" strike="noStrike">
                        <a:solidFill>
                          <a:srgbClr val="000000"/>
                        </a:solidFill>
                        <a:effectLst/>
                        <a:highlight>
                          <a:srgbClr val="FFFF00"/>
                        </a:highlight>
                        <a:latin typeface="Aptos Narrow" panose="020B0004020202020204" pitchFamily="34" charset="0"/>
                      </a:endParaRPr>
                    </a:p>
                  </a:txBody>
                  <a:tcPr marL="9850" marR="9850" marT="9850" marB="0" anchor="b"/>
                </a:tc>
                <a:tc>
                  <a:txBody>
                    <a:bodyPr/>
                    <a:lstStyle/>
                    <a:p>
                      <a:pPr algn="r" fontAlgn="b">
                        <a:buNone/>
                      </a:pPr>
                      <a:r>
                        <a:rPr lang="en-US" sz="2900" b="0" u="none" strike="noStrike">
                          <a:solidFill>
                            <a:srgbClr val="000000"/>
                          </a:solidFill>
                          <a:effectLst/>
                          <a:highlight>
                            <a:srgbClr val="FF0000"/>
                          </a:highlight>
                        </a:rPr>
                        <a:t>0.4211</a:t>
                      </a:r>
                      <a:endParaRPr lang="en-US" sz="2900" b="0" i="0" u="none" strike="noStrike">
                        <a:solidFill>
                          <a:srgbClr val="000000"/>
                        </a:solidFill>
                        <a:effectLst/>
                        <a:highlight>
                          <a:srgbClr val="FF0000"/>
                        </a:highlight>
                        <a:latin typeface="Aptos Narrow" panose="020B0004020202020204" pitchFamily="34" charset="0"/>
                      </a:endParaRPr>
                    </a:p>
                  </a:txBody>
                  <a:tcPr marL="9850" marR="9850" marT="9850" marB="0" anchor="b"/>
                </a:tc>
                <a:tc>
                  <a:txBody>
                    <a:bodyPr/>
                    <a:lstStyle/>
                    <a:p>
                      <a:pPr algn="l" fontAlgn="b">
                        <a:buNone/>
                      </a:pPr>
                      <a:endParaRPr lang="en-US" sz="2900" b="0" i="0" u="none" strike="noStrike" dirty="0">
                        <a:solidFill>
                          <a:srgbClr val="000000"/>
                        </a:solidFill>
                        <a:effectLst/>
                        <a:latin typeface="Aptos Narrow" panose="020B0004020202020204" pitchFamily="34" charset="0"/>
                      </a:endParaRPr>
                    </a:p>
                  </a:txBody>
                  <a:tcPr marL="9850" marR="9850" marT="9850" marB="0" anchor="b"/>
                </a:tc>
                <a:extLst>
                  <a:ext uri="{0D108BD9-81ED-4DB2-BD59-A6C34878D82A}">
                    <a16:rowId xmlns:a16="http://schemas.microsoft.com/office/drawing/2014/main" val="1049721597"/>
                  </a:ext>
                </a:extLst>
              </a:tr>
            </a:tbl>
          </a:graphicData>
        </a:graphic>
      </p:graphicFrame>
    </p:spTree>
    <p:extLst>
      <p:ext uri="{BB962C8B-B14F-4D97-AF65-F5344CB8AC3E}">
        <p14:creationId xmlns:p14="http://schemas.microsoft.com/office/powerpoint/2010/main" val="1377132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2DACC0-1864-127A-44CB-CB40F19DE40F}"/>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3700">
                <a:solidFill>
                  <a:srgbClr val="FFFFFF"/>
                </a:solidFill>
              </a:rPr>
              <a:t>SVR and Linear Regression Graphs</a:t>
            </a:r>
          </a:p>
        </p:txBody>
      </p:sp>
      <p:pic>
        <p:nvPicPr>
          <p:cNvPr id="5" name="Picture 4">
            <a:extLst>
              <a:ext uri="{FF2B5EF4-FFF2-40B4-BE49-F238E27FC236}">
                <a16:creationId xmlns:a16="http://schemas.microsoft.com/office/drawing/2014/main" id="{C9986400-00C6-5ED1-779D-A83B8C16E705}"/>
              </a:ext>
            </a:extLst>
          </p:cNvPr>
          <p:cNvPicPr>
            <a:picLocks noChangeAspect="1"/>
          </p:cNvPicPr>
          <p:nvPr/>
        </p:nvPicPr>
        <p:blipFill>
          <a:blip r:embed="rId3"/>
          <a:stretch>
            <a:fillRect/>
          </a:stretch>
        </p:blipFill>
        <p:spPr>
          <a:xfrm>
            <a:off x="715748" y="2589607"/>
            <a:ext cx="5131088" cy="3181274"/>
          </a:xfrm>
          <a:prstGeom prst="rect">
            <a:avLst/>
          </a:prstGeom>
        </p:spPr>
      </p:pic>
      <p:pic>
        <p:nvPicPr>
          <p:cNvPr id="7" name="Picture 6">
            <a:extLst>
              <a:ext uri="{FF2B5EF4-FFF2-40B4-BE49-F238E27FC236}">
                <a16:creationId xmlns:a16="http://schemas.microsoft.com/office/drawing/2014/main" id="{88E8C3AF-3DC0-1ED0-0BD3-03DD082F421D}"/>
              </a:ext>
            </a:extLst>
          </p:cNvPr>
          <p:cNvPicPr>
            <a:picLocks noChangeAspect="1"/>
          </p:cNvPicPr>
          <p:nvPr/>
        </p:nvPicPr>
        <p:blipFill>
          <a:blip r:embed="rId4"/>
          <a:stretch>
            <a:fillRect/>
          </a:stretch>
        </p:blipFill>
        <p:spPr>
          <a:xfrm>
            <a:off x="6345165" y="2626093"/>
            <a:ext cx="5131087" cy="3181274"/>
          </a:xfrm>
          <a:prstGeom prst="rect">
            <a:avLst/>
          </a:prstGeom>
        </p:spPr>
      </p:pic>
      <p:sp>
        <p:nvSpPr>
          <p:cNvPr id="8" name="TextBox 7">
            <a:extLst>
              <a:ext uri="{FF2B5EF4-FFF2-40B4-BE49-F238E27FC236}">
                <a16:creationId xmlns:a16="http://schemas.microsoft.com/office/drawing/2014/main" id="{4027816D-018B-02A2-BDE5-92692BECA9D0}"/>
              </a:ext>
            </a:extLst>
          </p:cNvPr>
          <p:cNvSpPr txBox="1"/>
          <p:nvPr/>
        </p:nvSpPr>
        <p:spPr>
          <a:xfrm>
            <a:off x="8267700" y="202285"/>
            <a:ext cx="3686588" cy="1200329"/>
          </a:xfrm>
          <a:prstGeom prst="rect">
            <a:avLst/>
          </a:prstGeom>
          <a:noFill/>
        </p:spPr>
        <p:txBody>
          <a:bodyPr wrap="square" rtlCol="0">
            <a:spAutoFit/>
          </a:bodyPr>
          <a:lstStyle/>
          <a:p>
            <a:r>
              <a:rPr lang="en-US" dirty="0">
                <a:solidFill>
                  <a:schemeClr val="bg1"/>
                </a:solidFill>
              </a:rPr>
              <a:t>Visually SVR and Linear Regression do not appear that different.</a:t>
            </a:r>
          </a:p>
          <a:p>
            <a:endParaRPr lang="en-US" dirty="0">
              <a:solidFill>
                <a:schemeClr val="bg1"/>
              </a:solidFill>
            </a:endParaRPr>
          </a:p>
          <a:p>
            <a:r>
              <a:rPr lang="en-US" dirty="0">
                <a:solidFill>
                  <a:schemeClr val="bg1"/>
                </a:solidFill>
              </a:rPr>
              <a:t>Linear regression processes faster.</a:t>
            </a:r>
          </a:p>
        </p:txBody>
      </p:sp>
    </p:spTree>
    <p:extLst>
      <p:ext uri="{BB962C8B-B14F-4D97-AF65-F5344CB8AC3E}">
        <p14:creationId xmlns:p14="http://schemas.microsoft.com/office/powerpoint/2010/main" val="1568246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C07F57C-BA96-1E63-7C71-2D7DD41F8A0F}"/>
              </a:ext>
            </a:extLst>
          </p:cNvPr>
          <p:cNvSpPr>
            <a:spLocks noGrp="1"/>
          </p:cNvSpPr>
          <p:nvPr>
            <p:ph type="title"/>
          </p:nvPr>
        </p:nvSpPr>
        <p:spPr>
          <a:xfrm>
            <a:off x="826396" y="586855"/>
            <a:ext cx="4230100" cy="3387497"/>
          </a:xfrm>
        </p:spPr>
        <p:txBody>
          <a:bodyPr anchor="b">
            <a:normAutofit/>
          </a:bodyPr>
          <a:lstStyle/>
          <a:p>
            <a:pPr algn="r"/>
            <a:r>
              <a:rPr lang="en-US" sz="4000">
                <a:solidFill>
                  <a:srgbClr val="FFFFFF"/>
                </a:solidFill>
              </a:rPr>
              <a:t>Conclusion</a:t>
            </a:r>
          </a:p>
        </p:txBody>
      </p:sp>
      <p:sp>
        <p:nvSpPr>
          <p:cNvPr id="3" name="Content Placeholder 2">
            <a:extLst>
              <a:ext uri="{FF2B5EF4-FFF2-40B4-BE49-F238E27FC236}">
                <a16:creationId xmlns:a16="http://schemas.microsoft.com/office/drawing/2014/main" id="{B911E99C-F2DC-5791-1743-DC7843639E77}"/>
              </a:ext>
            </a:extLst>
          </p:cNvPr>
          <p:cNvSpPr>
            <a:spLocks noGrp="1"/>
          </p:cNvSpPr>
          <p:nvPr>
            <p:ph idx="1"/>
          </p:nvPr>
        </p:nvSpPr>
        <p:spPr>
          <a:xfrm>
            <a:off x="6213192" y="649480"/>
            <a:ext cx="5152413" cy="5546047"/>
          </a:xfrm>
        </p:spPr>
        <p:txBody>
          <a:bodyPr anchor="ctr">
            <a:normAutofit/>
          </a:bodyPr>
          <a:lstStyle/>
          <a:p>
            <a:r>
              <a:rPr lang="en-US" sz="1700" dirty="0"/>
              <a:t>This data set is of Hollywood blockbusters. It shows that successful movies have more critic reviews, higher ratings, and higher budgets. </a:t>
            </a:r>
          </a:p>
          <a:p>
            <a:pPr lvl="1"/>
            <a:r>
              <a:rPr lang="en-US" sz="1300" dirty="0"/>
              <a:t>Lower budget movies always have the best ROI and less risk</a:t>
            </a:r>
          </a:p>
          <a:p>
            <a:r>
              <a:rPr lang="en-US" sz="1700" dirty="0"/>
              <a:t>Movies released in the May-July or November-December are more successful.</a:t>
            </a:r>
          </a:p>
          <a:p>
            <a:r>
              <a:rPr lang="en-US" sz="1700" dirty="0"/>
              <a:t>The final model SVR</a:t>
            </a:r>
          </a:p>
          <a:p>
            <a:pPr lvl="1"/>
            <a:r>
              <a:rPr lang="en-US" sz="1700" dirty="0"/>
              <a:t>R squared value = 0.63 </a:t>
            </a:r>
          </a:p>
          <a:p>
            <a:pPr lvl="1"/>
            <a:r>
              <a:rPr lang="en-US" sz="1700" dirty="0"/>
              <a:t>MAE = 0.42 </a:t>
            </a:r>
          </a:p>
          <a:p>
            <a:pPr lvl="1"/>
            <a:r>
              <a:rPr lang="en-US" sz="1700" dirty="0"/>
              <a:t>That number looks small but represents millions of dollars. </a:t>
            </a:r>
          </a:p>
          <a:p>
            <a:pPr lvl="2"/>
            <a:r>
              <a:rPr lang="en-US" sz="1300" dirty="0"/>
              <a:t>Not the most helpful model</a:t>
            </a:r>
          </a:p>
          <a:p>
            <a:r>
              <a:rPr lang="en-US" sz="1700" dirty="0"/>
              <a:t>I think the most helpful information from this project is correlations between release month, review ratings and genres.</a:t>
            </a:r>
          </a:p>
          <a:p>
            <a:r>
              <a:rPr lang="en-US" sz="1700" dirty="0"/>
              <a:t>You can’t predict if a movie will flop if the data set has no bad movies</a:t>
            </a:r>
          </a:p>
        </p:txBody>
      </p:sp>
    </p:spTree>
    <p:extLst>
      <p:ext uri="{BB962C8B-B14F-4D97-AF65-F5344CB8AC3E}">
        <p14:creationId xmlns:p14="http://schemas.microsoft.com/office/powerpoint/2010/main" val="29540453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5070A1-488D-8E59-7FD5-2787C9E76A87}"/>
              </a:ext>
            </a:extLst>
          </p:cNvPr>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Future Study</a:t>
            </a:r>
          </a:p>
        </p:txBody>
      </p:sp>
      <p:graphicFrame>
        <p:nvGraphicFramePr>
          <p:cNvPr id="5" name="Content Placeholder 2">
            <a:extLst>
              <a:ext uri="{FF2B5EF4-FFF2-40B4-BE49-F238E27FC236}">
                <a16:creationId xmlns:a16="http://schemas.microsoft.com/office/drawing/2014/main" id="{FC5F0505-4277-7753-32FD-0272EA2E9214}"/>
              </a:ext>
            </a:extLst>
          </p:cNvPr>
          <p:cNvGraphicFramePr>
            <a:graphicFrameLocks noGrp="1"/>
          </p:cNvGraphicFramePr>
          <p:nvPr>
            <p:ph idx="1"/>
            <p:extLst>
              <p:ext uri="{D42A27DB-BD31-4B8C-83A1-F6EECF244321}">
                <p14:modId xmlns:p14="http://schemas.microsoft.com/office/powerpoint/2010/main" val="160548957"/>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932118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TotalTime>
  <Words>1436</Words>
  <Application>Microsoft Office PowerPoint</Application>
  <PresentationFormat>Widescreen</PresentationFormat>
  <Paragraphs>174</Paragraphs>
  <Slides>21</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Aptos Narrow</vt:lpstr>
      <vt:lpstr>Arial</vt:lpstr>
      <vt:lpstr>Office Theme</vt:lpstr>
      <vt:lpstr>Predicting Movie Investment Risk</vt:lpstr>
      <vt:lpstr>The Problem</vt:lpstr>
      <vt:lpstr>Who Might Care</vt:lpstr>
      <vt:lpstr>Features that can Affect Movies</vt:lpstr>
      <vt:lpstr>The Data Set</vt:lpstr>
      <vt:lpstr>Data exploration</vt:lpstr>
      <vt:lpstr>Movies by Genre</vt:lpstr>
      <vt:lpstr>Net Profit Grouped by Genre</vt:lpstr>
      <vt:lpstr>ROI by Genre</vt:lpstr>
      <vt:lpstr>Net Profit grouped by MPAA Rating</vt:lpstr>
      <vt:lpstr>ROI grouped by MPAA Rating</vt:lpstr>
      <vt:lpstr>Movies Grouped by Month of Release</vt:lpstr>
      <vt:lpstr>Release Date Grouped by Profits</vt:lpstr>
      <vt:lpstr>Release Date grouped by Ratings</vt:lpstr>
      <vt:lpstr>Release Date Grouped by MPAA Rating</vt:lpstr>
      <vt:lpstr>Heat Map Correlations</vt:lpstr>
      <vt:lpstr>Modeling</vt:lpstr>
      <vt:lpstr>Model metrics</vt:lpstr>
      <vt:lpstr>SVR and Linear Regression Graphs</vt:lpstr>
      <vt:lpstr>Conclusion</vt:lpstr>
      <vt:lpstr>Future Study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jex</dc:creator>
  <cp:lastModifiedBy>jeremy jex</cp:lastModifiedBy>
  <cp:revision>4</cp:revision>
  <dcterms:created xsi:type="dcterms:W3CDTF">2025-08-24T19:00:14Z</dcterms:created>
  <dcterms:modified xsi:type="dcterms:W3CDTF">2025-08-28T20:01:22Z</dcterms:modified>
</cp:coreProperties>
</file>