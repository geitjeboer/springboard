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6" r:id="rId4"/>
    <p:sldId id="258" r:id="rId5"/>
    <p:sldId id="259" r:id="rId6"/>
    <p:sldId id="267" r:id="rId7"/>
    <p:sldId id="260" r:id="rId8"/>
    <p:sldId id="269" r:id="rId9"/>
    <p:sldId id="268" r:id="rId10"/>
    <p:sldId id="261"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77662" autoAdjust="0"/>
  </p:normalViewPr>
  <p:slideViewPr>
    <p:cSldViewPr snapToGrid="0">
      <p:cViewPr>
        <p:scale>
          <a:sx n="66" d="100"/>
          <a:sy n="66" d="100"/>
        </p:scale>
        <p:origin x="486"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A336C5-3CD6-4E55-A3F1-CCA98157D409}" type="datetimeFigureOut">
              <a:rPr lang="en-US" smtClean="0"/>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5B1FD-1CA4-4384-853C-3322115CB015}" type="slidenum">
              <a:rPr lang="en-US" smtClean="0"/>
              <a:t>‹#›</a:t>
            </a:fld>
            <a:endParaRPr lang="en-US"/>
          </a:p>
        </p:txBody>
      </p:sp>
    </p:spTree>
    <p:extLst>
      <p:ext uri="{BB962C8B-B14F-4D97-AF65-F5344CB8AC3E}">
        <p14:creationId xmlns:p14="http://schemas.microsoft.com/office/powerpoint/2010/main" val="424070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45B1FD-1CA4-4384-853C-3322115CB015}" type="slidenum">
              <a:rPr lang="en-US" smtClean="0"/>
              <a:t>1</a:t>
            </a:fld>
            <a:endParaRPr lang="en-US"/>
          </a:p>
        </p:txBody>
      </p:sp>
    </p:spTree>
    <p:extLst>
      <p:ext uri="{BB962C8B-B14F-4D97-AF65-F5344CB8AC3E}">
        <p14:creationId xmlns:p14="http://schemas.microsoft.com/office/powerpoint/2010/main" val="1006896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45B1FD-1CA4-4384-853C-3322115CB015}" type="slidenum">
              <a:rPr lang="en-US" smtClean="0"/>
              <a:t>2</a:t>
            </a:fld>
            <a:endParaRPr lang="en-US"/>
          </a:p>
        </p:txBody>
      </p:sp>
    </p:spTree>
    <p:extLst>
      <p:ext uri="{BB962C8B-B14F-4D97-AF65-F5344CB8AC3E}">
        <p14:creationId xmlns:p14="http://schemas.microsoft.com/office/powerpoint/2010/main" val="25070082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45B1FD-1CA4-4384-853C-3322115CB015}" type="slidenum">
              <a:rPr lang="en-US" smtClean="0"/>
              <a:t>3</a:t>
            </a:fld>
            <a:endParaRPr lang="en-US"/>
          </a:p>
        </p:txBody>
      </p:sp>
    </p:spTree>
    <p:extLst>
      <p:ext uri="{BB962C8B-B14F-4D97-AF65-F5344CB8AC3E}">
        <p14:creationId xmlns:p14="http://schemas.microsoft.com/office/powerpoint/2010/main" val="1332146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45B1FD-1CA4-4384-853C-3322115CB015}" type="slidenum">
              <a:rPr lang="en-US" smtClean="0"/>
              <a:t>4</a:t>
            </a:fld>
            <a:endParaRPr lang="en-US"/>
          </a:p>
        </p:txBody>
      </p:sp>
    </p:spTree>
    <p:extLst>
      <p:ext uri="{BB962C8B-B14F-4D97-AF65-F5344CB8AC3E}">
        <p14:creationId xmlns:p14="http://schemas.microsoft.com/office/powerpoint/2010/main" val="502582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45B1FD-1CA4-4384-853C-3322115CB015}" type="slidenum">
              <a:rPr lang="en-US" smtClean="0"/>
              <a:t>5</a:t>
            </a:fld>
            <a:endParaRPr lang="en-US"/>
          </a:p>
        </p:txBody>
      </p:sp>
    </p:spTree>
    <p:extLst>
      <p:ext uri="{BB962C8B-B14F-4D97-AF65-F5344CB8AC3E}">
        <p14:creationId xmlns:p14="http://schemas.microsoft.com/office/powerpoint/2010/main" val="258587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45B1FD-1CA4-4384-853C-3322115CB015}" type="slidenum">
              <a:rPr lang="en-US" smtClean="0"/>
              <a:t>6</a:t>
            </a:fld>
            <a:endParaRPr lang="en-US"/>
          </a:p>
        </p:txBody>
      </p:sp>
    </p:spTree>
    <p:extLst>
      <p:ext uri="{BB962C8B-B14F-4D97-AF65-F5344CB8AC3E}">
        <p14:creationId xmlns:p14="http://schemas.microsoft.com/office/powerpoint/2010/main" val="2613581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45B1FD-1CA4-4384-853C-3322115CB015}" type="slidenum">
              <a:rPr lang="en-US" smtClean="0"/>
              <a:t>7</a:t>
            </a:fld>
            <a:endParaRPr lang="en-US"/>
          </a:p>
        </p:txBody>
      </p:sp>
    </p:spTree>
    <p:extLst>
      <p:ext uri="{BB962C8B-B14F-4D97-AF65-F5344CB8AC3E}">
        <p14:creationId xmlns:p14="http://schemas.microsoft.com/office/powerpoint/2010/main" val="2931354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 AUC curves for KNN, RF and CNN</a:t>
            </a:r>
          </a:p>
        </p:txBody>
      </p:sp>
      <p:sp>
        <p:nvSpPr>
          <p:cNvPr id="4" name="Slide Number Placeholder 3"/>
          <p:cNvSpPr>
            <a:spLocks noGrp="1"/>
          </p:cNvSpPr>
          <p:nvPr>
            <p:ph type="sldNum" sz="quarter" idx="5"/>
          </p:nvPr>
        </p:nvSpPr>
        <p:spPr/>
        <p:txBody>
          <a:bodyPr/>
          <a:lstStyle/>
          <a:p>
            <a:fld id="{F045B1FD-1CA4-4384-853C-3322115CB015}" type="slidenum">
              <a:rPr lang="en-US" smtClean="0"/>
              <a:t>8</a:t>
            </a:fld>
            <a:endParaRPr lang="en-US"/>
          </a:p>
        </p:txBody>
      </p:sp>
    </p:spTree>
    <p:extLst>
      <p:ext uri="{BB962C8B-B14F-4D97-AF65-F5344CB8AC3E}">
        <p14:creationId xmlns:p14="http://schemas.microsoft.com/office/powerpoint/2010/main" val="993541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Confusion Matrix for KNN, Random Forest, and CNN</a:t>
            </a:r>
            <a:endParaRPr lang="en-US" dirty="0"/>
          </a:p>
        </p:txBody>
      </p:sp>
      <p:sp>
        <p:nvSpPr>
          <p:cNvPr id="4" name="Slide Number Placeholder 3"/>
          <p:cNvSpPr>
            <a:spLocks noGrp="1"/>
          </p:cNvSpPr>
          <p:nvPr>
            <p:ph type="sldNum" sz="quarter" idx="5"/>
          </p:nvPr>
        </p:nvSpPr>
        <p:spPr/>
        <p:txBody>
          <a:bodyPr/>
          <a:lstStyle/>
          <a:p>
            <a:fld id="{F045B1FD-1CA4-4384-853C-3322115CB015}" type="slidenum">
              <a:rPr lang="en-US" smtClean="0"/>
              <a:t>9</a:t>
            </a:fld>
            <a:endParaRPr lang="en-US"/>
          </a:p>
        </p:txBody>
      </p:sp>
    </p:spTree>
    <p:extLst>
      <p:ext uri="{BB962C8B-B14F-4D97-AF65-F5344CB8AC3E}">
        <p14:creationId xmlns:p14="http://schemas.microsoft.com/office/powerpoint/2010/main" val="4008443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KNN preformed poorly</a:t>
            </a:r>
          </a:p>
          <a:p>
            <a:r>
              <a:rPr lang="en-US" dirty="0"/>
              <a:t>Random forest preformed significantly better than KNN but had low AUC scores</a:t>
            </a:r>
          </a:p>
          <a:p>
            <a:r>
              <a:rPr lang="en-US" dirty="0"/>
              <a:t>CNN model preforms very well</a:t>
            </a:r>
          </a:p>
          <a:p>
            <a:endParaRPr lang="en-US" dirty="0"/>
          </a:p>
          <a:p>
            <a:r>
              <a:rPr lang="en-US" dirty="0"/>
              <a:t>Any results under 0.9 are highlighted in red</a:t>
            </a:r>
          </a:p>
        </p:txBody>
      </p:sp>
      <p:sp>
        <p:nvSpPr>
          <p:cNvPr id="4" name="Slide Number Placeholder 3"/>
          <p:cNvSpPr>
            <a:spLocks noGrp="1"/>
          </p:cNvSpPr>
          <p:nvPr>
            <p:ph type="sldNum" sz="quarter" idx="5"/>
          </p:nvPr>
        </p:nvSpPr>
        <p:spPr/>
        <p:txBody>
          <a:bodyPr/>
          <a:lstStyle/>
          <a:p>
            <a:fld id="{F045B1FD-1CA4-4384-853C-3322115CB015}" type="slidenum">
              <a:rPr lang="en-US" smtClean="0"/>
              <a:t>10</a:t>
            </a:fld>
            <a:endParaRPr lang="en-US"/>
          </a:p>
        </p:txBody>
      </p:sp>
    </p:spTree>
    <p:extLst>
      <p:ext uri="{BB962C8B-B14F-4D97-AF65-F5344CB8AC3E}">
        <p14:creationId xmlns:p14="http://schemas.microsoft.com/office/powerpoint/2010/main" val="1900856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final model created from this analysis performs very well. It has high AUC scores across the six chosen cell types, and an overall accuracy around 0.92.  Looking at the confusion matrix, we can see that the most misclassified images are immature granules. This makes sense because Ig cells are precursors to the other white blood cells and resemble their mature forms. Professional instrumentation also runs into similar classification issues and flags them for manual review. Current instrumentation has trouble recognizing the difference between </a:t>
            </a:r>
            <a:r>
              <a:rPr lang="en-US" sz="1200" kern="1200" dirty="0" err="1">
                <a:solidFill>
                  <a:schemeClr val="tx1"/>
                </a:solidFill>
                <a:effectLst/>
                <a:latin typeface="+mn-lt"/>
                <a:ea typeface="+mn-ea"/>
                <a:cs typeface="+mn-cs"/>
              </a:rPr>
              <a:t>Igs</a:t>
            </a:r>
            <a:r>
              <a:rPr lang="en-US" sz="1200" kern="1200" dirty="0">
                <a:solidFill>
                  <a:schemeClr val="tx1"/>
                </a:solidFill>
                <a:effectLst/>
                <a:latin typeface="+mn-lt"/>
                <a:ea typeface="+mn-ea"/>
                <a:cs typeface="+mn-cs"/>
              </a:rPr>
              <a:t> and mature cells. It is a cause for manual differentials.</a:t>
            </a:r>
          </a:p>
          <a:p>
            <a:endParaRPr lang="en-US" dirty="0"/>
          </a:p>
        </p:txBody>
      </p:sp>
      <p:sp>
        <p:nvSpPr>
          <p:cNvPr id="4" name="Slide Number Placeholder 3"/>
          <p:cNvSpPr>
            <a:spLocks noGrp="1"/>
          </p:cNvSpPr>
          <p:nvPr>
            <p:ph type="sldNum" sz="quarter" idx="5"/>
          </p:nvPr>
        </p:nvSpPr>
        <p:spPr/>
        <p:txBody>
          <a:bodyPr/>
          <a:lstStyle/>
          <a:p>
            <a:fld id="{F045B1FD-1CA4-4384-853C-3322115CB015}" type="slidenum">
              <a:rPr lang="en-US" smtClean="0"/>
              <a:t>11</a:t>
            </a:fld>
            <a:endParaRPr lang="en-US"/>
          </a:p>
        </p:txBody>
      </p:sp>
    </p:spTree>
    <p:extLst>
      <p:ext uri="{BB962C8B-B14F-4D97-AF65-F5344CB8AC3E}">
        <p14:creationId xmlns:p14="http://schemas.microsoft.com/office/powerpoint/2010/main" val="3666022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main suggestions for further research are to use the full-sized images (224 x 224) instead of scaling them down. Due to memory constraints this was not an option when performing data analysis. Using full size images may remove the discrepancies between Ig cells and other types. Also transforming the images in various ways to create a more robust data set could improve modeling. </a:t>
            </a:r>
          </a:p>
          <a:p>
            <a:r>
              <a:rPr lang="en-US" sz="1200" kern="1200" dirty="0">
                <a:solidFill>
                  <a:schemeClr val="tx1"/>
                </a:solidFill>
                <a:effectLst/>
                <a:latin typeface="+mn-lt"/>
                <a:ea typeface="+mn-ea"/>
                <a:cs typeface="+mn-cs"/>
              </a:rPr>
              <a:t>Image sources could influence modeling too. Using images sourced from the same microscope camera, slides, and stain decrease sample variation. If this model was to be used for diagnosis it would have to specify the microscope, stain and slide types it is compatible with. The model could be more marketable if it can show accurate results when testing cellular data from other microscope types, not just the </a:t>
            </a:r>
            <a:r>
              <a:rPr lang="en-US" sz="1200" kern="1200" dirty="0" err="1">
                <a:solidFill>
                  <a:schemeClr val="tx1"/>
                </a:solidFill>
                <a:effectLst/>
                <a:latin typeface="+mn-lt"/>
                <a:ea typeface="+mn-ea"/>
                <a:cs typeface="+mn-cs"/>
              </a:rPr>
              <a:t>CellaVision</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F045B1FD-1CA4-4384-853C-3322115CB015}" type="slidenum">
              <a:rPr lang="en-US" smtClean="0"/>
              <a:t>12</a:t>
            </a:fld>
            <a:endParaRPr lang="en-US"/>
          </a:p>
        </p:txBody>
      </p:sp>
    </p:spTree>
    <p:extLst>
      <p:ext uri="{BB962C8B-B14F-4D97-AF65-F5344CB8AC3E}">
        <p14:creationId xmlns:p14="http://schemas.microsoft.com/office/powerpoint/2010/main" val="454037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470D0-54E1-6080-CEF9-B0F6836374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A2EC11-AF47-4316-7A61-5C6C65DD39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B93833-34C4-1090-D3C4-B0BA2715431E}"/>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5" name="Footer Placeholder 4">
            <a:extLst>
              <a:ext uri="{FF2B5EF4-FFF2-40B4-BE49-F238E27FC236}">
                <a16:creationId xmlns:a16="http://schemas.microsoft.com/office/drawing/2014/main" id="{F3F8F6A8-7D52-D0FF-F1BE-69F019F912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39011B-A98E-E906-0441-28B14E901F21}"/>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155422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32115-BF81-C207-744C-D1AB0BDC66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D7F20F-762C-9C0B-1672-824BFC613B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EFDA5-D317-3475-7D0A-E7F0A0845F98}"/>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5" name="Footer Placeholder 4">
            <a:extLst>
              <a:ext uri="{FF2B5EF4-FFF2-40B4-BE49-F238E27FC236}">
                <a16:creationId xmlns:a16="http://schemas.microsoft.com/office/drawing/2014/main" id="{5777C98A-4F1A-4E68-8DB4-223288FEB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607B71-B79B-97AA-BE56-07F93945B530}"/>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3573794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A4B44-AB88-E8DC-A8D3-1CA9F18F87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A23C2A-43DC-BCC0-E9AF-2C5303FA99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AF50A4-0840-E1E5-E051-BF0AB995F428}"/>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5" name="Footer Placeholder 4">
            <a:extLst>
              <a:ext uri="{FF2B5EF4-FFF2-40B4-BE49-F238E27FC236}">
                <a16:creationId xmlns:a16="http://schemas.microsoft.com/office/drawing/2014/main" id="{7B3BA2EC-79B0-3AD8-54CE-6B72F1BC46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447649-78B5-3DE2-B223-319FDADA4DC5}"/>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947918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00D9-CFA0-5CD3-B4B8-DE123F27CF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B9EAE1-9929-3F6B-2865-0DCEACBF47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DE01C6-0266-6818-2C7A-09225DED9D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1CA856-2EDA-2E2E-9F63-5B8E41A09B8F}"/>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6" name="Footer Placeholder 5">
            <a:extLst>
              <a:ext uri="{FF2B5EF4-FFF2-40B4-BE49-F238E27FC236}">
                <a16:creationId xmlns:a16="http://schemas.microsoft.com/office/drawing/2014/main" id="{5F1C103B-C458-EDAB-8EF7-09CC770A3B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2212D4-3F81-D31F-C82E-E309E4191709}"/>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3367750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84796-7159-F31A-3D0D-3E5172D6989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3B5084-1479-B8B5-EE85-F7DA074413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0EC6EB-2E76-D50E-3889-0CBD290830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BC7D61-0743-4BFE-ABDE-EE9931A673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C4605C-BCF2-7FBD-12ED-AB1B2A5CF7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3106C4-93DC-1DEC-9D56-193C555225BA}"/>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8" name="Footer Placeholder 7">
            <a:extLst>
              <a:ext uri="{FF2B5EF4-FFF2-40B4-BE49-F238E27FC236}">
                <a16:creationId xmlns:a16="http://schemas.microsoft.com/office/drawing/2014/main" id="{50625D2B-B7D8-4918-4A4C-15C8AB7DFB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FB4AA0-CB02-C404-E706-B9EB50A42EC7}"/>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3375213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80A25-0706-8141-C720-E22BA1802E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1C71E9-2907-3390-57D6-9ECAD28E18C4}"/>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4" name="Footer Placeholder 3">
            <a:extLst>
              <a:ext uri="{FF2B5EF4-FFF2-40B4-BE49-F238E27FC236}">
                <a16:creationId xmlns:a16="http://schemas.microsoft.com/office/drawing/2014/main" id="{5FCCED36-DC60-4D72-3110-5D64AE5761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F75019-3C8D-8CE1-ADAC-1CB8721B64B3}"/>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2540659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A96142-6F5A-7B48-2DDC-BE33A163BBC9}"/>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3" name="Footer Placeholder 2">
            <a:extLst>
              <a:ext uri="{FF2B5EF4-FFF2-40B4-BE49-F238E27FC236}">
                <a16:creationId xmlns:a16="http://schemas.microsoft.com/office/drawing/2014/main" id="{DE63582F-9B09-19D0-B835-F78C3DF12A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EB1E76-76B8-FD6C-4ADE-0B688432C194}"/>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2428147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7CEFA-C10C-F8B7-EA00-0AE480313C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032434-7917-798B-CEFD-6A76B5A93C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D2AF98-3B00-A30E-78E0-88F56F77D8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16E042-540F-2745-3CFE-14FEF14533FB}"/>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6" name="Footer Placeholder 5">
            <a:extLst>
              <a:ext uri="{FF2B5EF4-FFF2-40B4-BE49-F238E27FC236}">
                <a16:creationId xmlns:a16="http://schemas.microsoft.com/office/drawing/2014/main" id="{8D155302-AD8B-4400-034D-7ED4BADFF4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2DC3E-DC4B-A9C2-A8B9-0108DF0C9B61}"/>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1344791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96697-14B5-7757-3BC0-369847BFBA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F0F878-EAAB-15A5-37EE-E67BA56B85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DBFDAA-3707-DC69-7A88-0C1125571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B6CE8B-04A8-3126-235D-50456A9ADFFE}"/>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6" name="Footer Placeholder 5">
            <a:extLst>
              <a:ext uri="{FF2B5EF4-FFF2-40B4-BE49-F238E27FC236}">
                <a16:creationId xmlns:a16="http://schemas.microsoft.com/office/drawing/2014/main" id="{96E665FE-D850-44CD-790C-8BF909554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437A4A-0B82-9D0C-DC0E-709F6B48BA9D}"/>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1180243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5535B-A895-B142-F505-6618C62A88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2C02AC-E2C7-162E-D927-1161A0AAA4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BA360B-CF4E-8CA5-B460-BD43B965BD89}"/>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5" name="Footer Placeholder 4">
            <a:extLst>
              <a:ext uri="{FF2B5EF4-FFF2-40B4-BE49-F238E27FC236}">
                <a16:creationId xmlns:a16="http://schemas.microsoft.com/office/drawing/2014/main" id="{404ADC05-4FB0-5CB2-A770-8784099824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4CC3AE-F11D-68A4-3FFC-7FCA59C1D191}"/>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1384156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60B5BA-BC9F-EBBD-ED87-5BA3928835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89CBC4-DD8E-5E09-E474-8DF5E7870E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07C345-8330-E77F-B8E9-B665D30C3F05}"/>
              </a:ext>
            </a:extLst>
          </p:cNvPr>
          <p:cNvSpPr>
            <a:spLocks noGrp="1"/>
          </p:cNvSpPr>
          <p:nvPr>
            <p:ph type="dt" sz="half" idx="10"/>
          </p:nvPr>
        </p:nvSpPr>
        <p:spPr/>
        <p:txBody>
          <a:bodyPr/>
          <a:lstStyle/>
          <a:p>
            <a:fld id="{D46BA35E-7A89-45EC-991F-FAEE0F99E70C}" type="datetimeFigureOut">
              <a:rPr lang="en-US" smtClean="0"/>
              <a:t>10/8/2025</a:t>
            </a:fld>
            <a:endParaRPr lang="en-US"/>
          </a:p>
        </p:txBody>
      </p:sp>
      <p:sp>
        <p:nvSpPr>
          <p:cNvPr id="5" name="Footer Placeholder 4">
            <a:extLst>
              <a:ext uri="{FF2B5EF4-FFF2-40B4-BE49-F238E27FC236}">
                <a16:creationId xmlns:a16="http://schemas.microsoft.com/office/drawing/2014/main" id="{AA8C53C6-43B9-1868-1DC0-EB7E256A7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E67A01-FD09-73F9-2418-92CD90E9A254}"/>
              </a:ext>
            </a:extLst>
          </p:cNvPr>
          <p:cNvSpPr>
            <a:spLocks noGrp="1"/>
          </p:cNvSpPr>
          <p:nvPr>
            <p:ph type="sldNum" sz="quarter" idx="12"/>
          </p:nvPr>
        </p:nvSpPr>
        <p:spPr/>
        <p:txBody>
          <a:bodyPr/>
          <a:lstStyle/>
          <a:p>
            <a:fld id="{E05EAB51-3E79-4F38-97FC-C4298A96F585}" type="slidenum">
              <a:rPr lang="en-US" smtClean="0"/>
              <a:t>‹#›</a:t>
            </a:fld>
            <a:endParaRPr lang="en-US"/>
          </a:p>
        </p:txBody>
      </p:sp>
    </p:spTree>
    <p:extLst>
      <p:ext uri="{BB962C8B-B14F-4D97-AF65-F5344CB8AC3E}">
        <p14:creationId xmlns:p14="http://schemas.microsoft.com/office/powerpoint/2010/main" val="307360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6694F5-5246-5B4B-7F16-F002862CE5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3B8788-1490-D635-563C-D208854241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4F6F6C-3D94-C9B1-D27B-BE51101301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6BA35E-7A89-45EC-991F-FAEE0F99E70C}" type="datetimeFigureOut">
              <a:rPr lang="en-US" smtClean="0"/>
              <a:t>10/8/2025</a:t>
            </a:fld>
            <a:endParaRPr lang="en-US"/>
          </a:p>
        </p:txBody>
      </p:sp>
      <p:sp>
        <p:nvSpPr>
          <p:cNvPr id="5" name="Footer Placeholder 4">
            <a:extLst>
              <a:ext uri="{FF2B5EF4-FFF2-40B4-BE49-F238E27FC236}">
                <a16:creationId xmlns:a16="http://schemas.microsoft.com/office/drawing/2014/main" id="{0BEA5429-46E9-515B-95E2-E3BFC9FCBE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199C3B-E860-57DD-E09F-135BB4D4C3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05EAB51-3E79-4F38-97FC-C4298A96F585}" type="slidenum">
              <a:rPr lang="en-US" smtClean="0"/>
              <a:t>‹#›</a:t>
            </a:fld>
            <a:endParaRPr lang="en-US"/>
          </a:p>
        </p:txBody>
      </p:sp>
    </p:spTree>
    <p:extLst>
      <p:ext uri="{BB962C8B-B14F-4D97-AF65-F5344CB8AC3E}">
        <p14:creationId xmlns:p14="http://schemas.microsoft.com/office/powerpoint/2010/main" val="2497402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Rectangle 59">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53CEF19E-DC7A-7C9A-1ACF-8AD312E48BC0}"/>
              </a:ext>
            </a:extLst>
          </p:cNvPr>
          <p:cNvSpPr>
            <a:spLocks noGrp="1"/>
          </p:cNvSpPr>
          <p:nvPr>
            <p:ph type="ctrTitle"/>
          </p:nvPr>
        </p:nvSpPr>
        <p:spPr>
          <a:xfrm>
            <a:off x="3315031" y="1380754"/>
            <a:ext cx="5561938" cy="2513516"/>
          </a:xfrm>
        </p:spPr>
        <p:txBody>
          <a:bodyPr>
            <a:normAutofit/>
          </a:bodyPr>
          <a:lstStyle/>
          <a:p>
            <a:r>
              <a:rPr lang="en-US"/>
              <a:t>WBC Image Recognition</a:t>
            </a:r>
          </a:p>
        </p:txBody>
      </p:sp>
      <p:sp>
        <p:nvSpPr>
          <p:cNvPr id="3" name="Subtitle 2">
            <a:extLst>
              <a:ext uri="{FF2B5EF4-FFF2-40B4-BE49-F238E27FC236}">
                <a16:creationId xmlns:a16="http://schemas.microsoft.com/office/drawing/2014/main" id="{02386EA4-2D26-38FC-0537-C51E4364D900}"/>
              </a:ext>
            </a:extLst>
          </p:cNvPr>
          <p:cNvSpPr>
            <a:spLocks noGrp="1"/>
          </p:cNvSpPr>
          <p:nvPr>
            <p:ph type="subTitle" idx="1"/>
          </p:nvPr>
        </p:nvSpPr>
        <p:spPr>
          <a:xfrm>
            <a:off x="3315031" y="4076802"/>
            <a:ext cx="5561938" cy="1534587"/>
          </a:xfrm>
        </p:spPr>
        <p:txBody>
          <a:bodyPr>
            <a:normAutofit/>
          </a:bodyPr>
          <a:lstStyle/>
          <a:p>
            <a:r>
              <a:rPr lang="en-US"/>
              <a:t>Data Science Capstone Project October 2025</a:t>
            </a:r>
          </a:p>
          <a:p>
            <a:r>
              <a:rPr lang="en-US"/>
              <a:t>By Jeremy Jex</a:t>
            </a:r>
          </a:p>
        </p:txBody>
      </p:sp>
      <p:sp>
        <p:nvSpPr>
          <p:cNvPr id="64" name="Arc 63">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6" name="Oval 65">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9214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81" name="Arc 3080">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78FC086-7435-9743-33EE-3A60600656A3}"/>
              </a:ext>
            </a:extLst>
          </p:cNvPr>
          <p:cNvSpPr>
            <a:spLocks noGrp="1"/>
          </p:cNvSpPr>
          <p:nvPr>
            <p:ph type="title"/>
          </p:nvPr>
        </p:nvSpPr>
        <p:spPr>
          <a:xfrm>
            <a:off x="5894962" y="479493"/>
            <a:ext cx="5458838" cy="1325563"/>
          </a:xfrm>
        </p:spPr>
        <p:txBody>
          <a:bodyPr>
            <a:normAutofit/>
          </a:bodyPr>
          <a:lstStyle/>
          <a:p>
            <a:r>
              <a:rPr lang="en-US"/>
              <a:t>WBCs Imaging Medical Importance</a:t>
            </a:r>
          </a:p>
        </p:txBody>
      </p:sp>
      <p:sp>
        <p:nvSpPr>
          <p:cNvPr id="3083" name="Freeform: Shape 3082">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4" name="Picture 2" descr="How to Perform a High-Quality Blood Smear — Moichor">
            <a:extLst>
              <a:ext uri="{FF2B5EF4-FFF2-40B4-BE49-F238E27FC236}">
                <a16:creationId xmlns:a16="http://schemas.microsoft.com/office/drawing/2014/main" id="{AC358FC6-E9E4-9680-BF14-5960911D484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tretch>
            <a:fillRect/>
          </a:stretch>
        </p:blipFill>
        <p:spPr bwMode="auto">
          <a:xfrm>
            <a:off x="703182" y="2078122"/>
            <a:ext cx="4777381" cy="253201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7AA1D14-0B16-060D-B9FE-CC32BBDEC5BC}"/>
              </a:ext>
            </a:extLst>
          </p:cNvPr>
          <p:cNvSpPr>
            <a:spLocks noGrp="1"/>
          </p:cNvSpPr>
          <p:nvPr>
            <p:ph idx="1"/>
          </p:nvPr>
        </p:nvSpPr>
        <p:spPr>
          <a:xfrm>
            <a:off x="5894962" y="1984443"/>
            <a:ext cx="5458838" cy="4192520"/>
          </a:xfrm>
        </p:spPr>
        <p:txBody>
          <a:bodyPr>
            <a:normAutofit/>
          </a:bodyPr>
          <a:lstStyle/>
          <a:p>
            <a:pPr marL="0" indent="0">
              <a:buNone/>
            </a:pPr>
            <a:r>
              <a:rPr lang="en-US" sz="2000"/>
              <a:t>In Medical laboratory science white blood cells (WBCs) are used to diagnose medical conditions. </a:t>
            </a:r>
          </a:p>
          <a:p>
            <a:r>
              <a:rPr lang="en-US" sz="2000"/>
              <a:t>A blood smear is prepared on a glass slide and then analyzed under a microscope. </a:t>
            </a:r>
          </a:p>
          <a:p>
            <a:r>
              <a:rPr lang="en-US" sz="2000"/>
              <a:t>The laboratory professional then counts at least 100 WBCs to create a percentage that is multiplied by the total number of WBCs per volume of blood. </a:t>
            </a:r>
          </a:p>
          <a:p>
            <a:r>
              <a:rPr lang="en-US" sz="2000"/>
              <a:t>This creates WBC absolute counts that are sent to the doctor to create a diagnosis. This process is called a manual (WBC) differential.</a:t>
            </a:r>
          </a:p>
          <a:p>
            <a:endParaRPr lang="en-US" sz="2000"/>
          </a:p>
        </p:txBody>
      </p:sp>
    </p:spTree>
    <p:extLst>
      <p:ext uri="{BB962C8B-B14F-4D97-AF65-F5344CB8AC3E}">
        <p14:creationId xmlns:p14="http://schemas.microsoft.com/office/powerpoint/2010/main" val="639069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67817C-9EBD-B1B7-2C4C-12F8C95714F9}"/>
              </a:ext>
            </a:extLst>
          </p:cNvPr>
          <p:cNvSpPr>
            <a:spLocks noGrp="1"/>
          </p:cNvSpPr>
          <p:nvPr>
            <p:ph type="title"/>
          </p:nvPr>
        </p:nvSpPr>
        <p:spPr>
          <a:xfrm>
            <a:off x="686834" y="1153572"/>
            <a:ext cx="3200400" cy="4461163"/>
          </a:xfrm>
        </p:spPr>
        <p:txBody>
          <a:bodyPr>
            <a:normAutofit/>
          </a:bodyPr>
          <a:lstStyle/>
          <a:p>
            <a:r>
              <a:rPr lang="en-US">
                <a:solidFill>
                  <a:srgbClr val="FFFFFF"/>
                </a:solidFill>
              </a:rPr>
              <a:t>Importance of Automated WBC Image Recognition</a:t>
            </a:r>
          </a:p>
        </p:txBody>
      </p:sp>
      <p:sp>
        <p:nvSpPr>
          <p:cNvPr id="46" name="Arc 4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17AEB8D-B9EE-A423-BA17-D689B6760E9E}"/>
              </a:ext>
            </a:extLst>
          </p:cNvPr>
          <p:cNvSpPr>
            <a:spLocks noGrp="1"/>
          </p:cNvSpPr>
          <p:nvPr>
            <p:ph idx="1"/>
          </p:nvPr>
        </p:nvSpPr>
        <p:spPr>
          <a:xfrm>
            <a:off x="4447308" y="591344"/>
            <a:ext cx="6906491" cy="5585619"/>
          </a:xfrm>
        </p:spPr>
        <p:txBody>
          <a:bodyPr anchor="ctr">
            <a:normAutofit/>
          </a:bodyPr>
          <a:lstStyle/>
          <a:p>
            <a:r>
              <a:rPr lang="en-US"/>
              <a:t>Medical laboratories are short staffed</a:t>
            </a:r>
          </a:p>
          <a:p>
            <a:r>
              <a:rPr lang="en-US"/>
              <a:t>Automation allows lab staff to run testing simultaneously</a:t>
            </a:r>
          </a:p>
          <a:p>
            <a:r>
              <a:rPr lang="en-US"/>
              <a:t>Faster turn around times</a:t>
            </a:r>
          </a:p>
          <a:p>
            <a:r>
              <a:rPr lang="en-US"/>
              <a:t>More specimens processed with limited staff</a:t>
            </a:r>
          </a:p>
          <a:p>
            <a:r>
              <a:rPr lang="en-US"/>
              <a:t>Faster patient diagnosis times</a:t>
            </a:r>
          </a:p>
          <a:p>
            <a:pPr marL="0" indent="0">
              <a:buNone/>
            </a:pPr>
            <a:endParaRPr lang="en-US"/>
          </a:p>
        </p:txBody>
      </p:sp>
    </p:spTree>
    <p:extLst>
      <p:ext uri="{BB962C8B-B14F-4D97-AF65-F5344CB8AC3E}">
        <p14:creationId xmlns:p14="http://schemas.microsoft.com/office/powerpoint/2010/main" val="1792793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3" name="Rectangle 206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64" name="Arc 2063">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5FF333-1B9D-4C8A-790B-78D74E33BB90}"/>
              </a:ext>
            </a:extLst>
          </p:cNvPr>
          <p:cNvSpPr>
            <a:spLocks noGrp="1"/>
          </p:cNvSpPr>
          <p:nvPr>
            <p:ph type="title"/>
          </p:nvPr>
        </p:nvSpPr>
        <p:spPr>
          <a:xfrm>
            <a:off x="5894962" y="479493"/>
            <a:ext cx="5458838" cy="1325563"/>
          </a:xfrm>
        </p:spPr>
        <p:txBody>
          <a:bodyPr>
            <a:normAutofit/>
          </a:bodyPr>
          <a:lstStyle/>
          <a:p>
            <a:r>
              <a:rPr lang="en-US"/>
              <a:t>WBC Types in Data Set</a:t>
            </a:r>
          </a:p>
        </p:txBody>
      </p:sp>
      <p:sp>
        <p:nvSpPr>
          <p:cNvPr id="2065" name="Freeform: Shape 206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White Blood Cell Maturation Chart #Pathology #WBC ... | GrepMed">
            <a:extLst>
              <a:ext uri="{FF2B5EF4-FFF2-40B4-BE49-F238E27FC236}">
                <a16:creationId xmlns:a16="http://schemas.microsoft.com/office/drawing/2014/main" id="{BDBE8A58-F2A1-BC59-55F3-4BCA331404C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3182" y="1372169"/>
            <a:ext cx="4777381" cy="394391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9D1F444-7B52-05AB-B95A-6CBB11673FFA}"/>
              </a:ext>
            </a:extLst>
          </p:cNvPr>
          <p:cNvSpPr>
            <a:spLocks noGrp="1"/>
          </p:cNvSpPr>
          <p:nvPr>
            <p:ph idx="1"/>
          </p:nvPr>
        </p:nvSpPr>
        <p:spPr>
          <a:xfrm>
            <a:off x="5894962" y="1984443"/>
            <a:ext cx="5458838" cy="4192520"/>
          </a:xfrm>
        </p:spPr>
        <p:txBody>
          <a:bodyPr>
            <a:normAutofit/>
          </a:bodyPr>
          <a:lstStyle/>
          <a:p>
            <a:pPr marL="0" indent="0">
              <a:buNone/>
            </a:pPr>
            <a:r>
              <a:rPr lang="en-US" sz="1500"/>
              <a:t>This project looks at six types of WBCs:</a:t>
            </a:r>
          </a:p>
          <a:p>
            <a:pPr lvl="0"/>
            <a:r>
              <a:rPr lang="en-US" sz="1500" b="1"/>
              <a:t>Immature Granules</a:t>
            </a:r>
            <a:r>
              <a:rPr lang="en-US" sz="1500"/>
              <a:t>- These are precursors to mature white blood cells, and their presence indicates infection or cancer.</a:t>
            </a:r>
          </a:p>
          <a:p>
            <a:pPr lvl="0"/>
            <a:r>
              <a:rPr lang="en-US" sz="1500" b="1"/>
              <a:t>Basophil</a:t>
            </a:r>
            <a:r>
              <a:rPr lang="en-US" sz="1500"/>
              <a:t>- These are associated with allergies.</a:t>
            </a:r>
          </a:p>
          <a:p>
            <a:pPr lvl="0"/>
            <a:r>
              <a:rPr lang="en-US" sz="1500" b="1"/>
              <a:t>Eosinophils</a:t>
            </a:r>
            <a:r>
              <a:rPr lang="en-US" sz="1500"/>
              <a:t>- These are associated with allergies.</a:t>
            </a:r>
          </a:p>
          <a:p>
            <a:pPr lvl="0"/>
            <a:r>
              <a:rPr lang="en-US" sz="1500" b="1"/>
              <a:t>Lymphocytes</a:t>
            </a:r>
            <a:r>
              <a:rPr lang="en-US" sz="1500"/>
              <a:t>- These create a specific immune response by creating antibodies. They are also known as B cells, T cells, and Plasma cells. </a:t>
            </a:r>
          </a:p>
          <a:p>
            <a:pPr lvl="0"/>
            <a:r>
              <a:rPr lang="en-US" sz="1500" b="1"/>
              <a:t>Neutrophils</a:t>
            </a:r>
            <a:r>
              <a:rPr lang="en-US" sz="1500"/>
              <a:t>- These respond to general bacterial infections and nonspecific immune reactions.</a:t>
            </a:r>
          </a:p>
          <a:p>
            <a:pPr lvl="0"/>
            <a:r>
              <a:rPr lang="en-US" sz="1500" b="1"/>
              <a:t>Monocytes</a:t>
            </a:r>
            <a:r>
              <a:rPr lang="en-US" sz="1500"/>
              <a:t>- These WBCs phagocytize pathogens. They are also known as mast cells when found in tissues.</a:t>
            </a:r>
          </a:p>
          <a:p>
            <a:endParaRPr lang="en-US" sz="1500"/>
          </a:p>
        </p:txBody>
      </p:sp>
    </p:spTree>
    <p:extLst>
      <p:ext uri="{BB962C8B-B14F-4D97-AF65-F5344CB8AC3E}">
        <p14:creationId xmlns:p14="http://schemas.microsoft.com/office/powerpoint/2010/main" val="2436404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8ECF52-CFD0-8EE9-B17D-FB02AD8F0A9F}"/>
              </a:ext>
            </a:extLst>
          </p:cNvPr>
          <p:cNvSpPr>
            <a:spLocks noGrp="1"/>
          </p:cNvSpPr>
          <p:nvPr>
            <p:ph type="title"/>
          </p:nvPr>
        </p:nvSpPr>
        <p:spPr>
          <a:xfrm>
            <a:off x="1171074" y="1396686"/>
            <a:ext cx="3240506" cy="4064628"/>
          </a:xfrm>
        </p:spPr>
        <p:txBody>
          <a:bodyPr>
            <a:normAutofit/>
          </a:bodyPr>
          <a:lstStyle/>
          <a:p>
            <a:r>
              <a:rPr lang="en-US">
                <a:solidFill>
                  <a:srgbClr val="FFFFFF"/>
                </a:solidFill>
              </a:rPr>
              <a:t>Data Set</a:t>
            </a:r>
          </a:p>
        </p:txBody>
      </p:sp>
      <p:sp>
        <p:nvSpPr>
          <p:cNvPr id="42" name="Arc 4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7931082-889B-6642-CC53-933FF41282EC}"/>
              </a:ext>
            </a:extLst>
          </p:cNvPr>
          <p:cNvSpPr>
            <a:spLocks noGrp="1"/>
          </p:cNvSpPr>
          <p:nvPr>
            <p:ph idx="1"/>
          </p:nvPr>
        </p:nvSpPr>
        <p:spPr>
          <a:xfrm>
            <a:off x="5370153" y="1526033"/>
            <a:ext cx="5536397" cy="3935281"/>
          </a:xfrm>
        </p:spPr>
        <p:txBody>
          <a:bodyPr>
            <a:normAutofit/>
          </a:bodyPr>
          <a:lstStyle/>
          <a:p>
            <a:r>
              <a:rPr lang="en-US"/>
              <a:t>Kaggle Data Set</a:t>
            </a:r>
          </a:p>
          <a:p>
            <a:r>
              <a:rPr lang="en-US"/>
              <a:t>17,092 </a:t>
            </a:r>
            <a:r>
              <a:rPr lang="en-US" err="1"/>
              <a:t>CellaVision</a:t>
            </a:r>
            <a:r>
              <a:rPr lang="en-US"/>
              <a:t> DM96 Images</a:t>
            </a:r>
          </a:p>
          <a:p>
            <a:pPr lvl="1"/>
            <a:r>
              <a:rPr lang="en-US"/>
              <a:t>Erythroblasts and platelet images were not included in EDA or modeling</a:t>
            </a:r>
          </a:p>
          <a:p>
            <a:r>
              <a:rPr lang="en-US"/>
              <a:t>224 x 224 color pixel images</a:t>
            </a:r>
          </a:p>
        </p:txBody>
      </p:sp>
    </p:spTree>
    <p:extLst>
      <p:ext uri="{BB962C8B-B14F-4D97-AF65-F5344CB8AC3E}">
        <p14:creationId xmlns:p14="http://schemas.microsoft.com/office/powerpoint/2010/main" val="1317979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546" y="1011045"/>
            <a:ext cx="4369859"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27EEF6-8202-62FA-E3E9-1555A7EB52A3}"/>
              </a:ext>
            </a:extLst>
          </p:cNvPr>
          <p:cNvSpPr>
            <a:spLocks noGrp="1"/>
          </p:cNvSpPr>
          <p:nvPr>
            <p:ph type="title"/>
          </p:nvPr>
        </p:nvSpPr>
        <p:spPr>
          <a:xfrm>
            <a:off x="956826" y="1112969"/>
            <a:ext cx="3937298" cy="4166010"/>
          </a:xfrm>
        </p:spPr>
        <p:txBody>
          <a:bodyPr>
            <a:normAutofit/>
          </a:bodyPr>
          <a:lstStyle/>
          <a:p>
            <a:r>
              <a:rPr lang="en-US">
                <a:solidFill>
                  <a:srgbClr val="FFFFFF"/>
                </a:solidFill>
              </a:rPr>
              <a:t>Data Wrangling</a:t>
            </a:r>
          </a:p>
        </p:txBody>
      </p:sp>
      <p:sp>
        <p:nvSpPr>
          <p:cNvPr id="61" name="Freeform: Shape 60">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9E638F3A-F982-E702-18A7-A4CEC875E6DC}"/>
              </a:ext>
            </a:extLst>
          </p:cNvPr>
          <p:cNvSpPr>
            <a:spLocks noGrp="1"/>
          </p:cNvSpPr>
          <p:nvPr>
            <p:ph idx="1"/>
          </p:nvPr>
        </p:nvSpPr>
        <p:spPr>
          <a:xfrm>
            <a:off x="6096000" y="820880"/>
            <a:ext cx="5257799" cy="4889350"/>
          </a:xfrm>
        </p:spPr>
        <p:txBody>
          <a:bodyPr anchor="t">
            <a:normAutofit/>
          </a:bodyPr>
          <a:lstStyle/>
          <a:p>
            <a:r>
              <a:rPr lang="en-US"/>
              <a:t>Cell types were confirmed to be labeled correctly</a:t>
            </a:r>
          </a:p>
          <a:p>
            <a:r>
              <a:rPr lang="en-US"/>
              <a:t>RBG Images were resized to 100 x 100 pixels</a:t>
            </a:r>
          </a:p>
          <a:p>
            <a:r>
              <a:rPr lang="en-US"/>
              <a:t>Images were made into arrays, flattened and scaled by dividing by 255</a:t>
            </a:r>
          </a:p>
          <a:p>
            <a:r>
              <a:rPr lang="en-US"/>
              <a:t>Pandas data frames were created using scaled arrays</a:t>
            </a:r>
          </a:p>
        </p:txBody>
      </p:sp>
      <p:sp>
        <p:nvSpPr>
          <p:cNvPr id="67" name="Freeform: Shape 66">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18308"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723395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93453-3087-EBB3-7B88-B0C0A342CEFF}"/>
              </a:ext>
            </a:extLst>
          </p:cNvPr>
          <p:cNvSpPr>
            <a:spLocks noGrp="1"/>
          </p:cNvSpPr>
          <p:nvPr>
            <p:ph type="title"/>
          </p:nvPr>
        </p:nvSpPr>
        <p:spPr>
          <a:xfrm>
            <a:off x="686834" y="1153572"/>
            <a:ext cx="3200400" cy="4461163"/>
          </a:xfrm>
        </p:spPr>
        <p:txBody>
          <a:bodyPr>
            <a:normAutofit/>
          </a:bodyPr>
          <a:lstStyle/>
          <a:p>
            <a:r>
              <a:rPr lang="en-US">
                <a:solidFill>
                  <a:srgbClr val="FFFFFF"/>
                </a:solidFill>
              </a:rPr>
              <a:t>Modeling</a:t>
            </a:r>
          </a:p>
        </p:txBody>
      </p:sp>
      <p:sp>
        <p:nvSpPr>
          <p:cNvPr id="42" name="Arc 4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A9D17CD-8514-F5B4-0287-5BA20AA6C20B}"/>
              </a:ext>
            </a:extLst>
          </p:cNvPr>
          <p:cNvSpPr>
            <a:spLocks noGrp="1"/>
          </p:cNvSpPr>
          <p:nvPr>
            <p:ph idx="1"/>
          </p:nvPr>
        </p:nvSpPr>
        <p:spPr>
          <a:xfrm>
            <a:off x="4447308" y="591344"/>
            <a:ext cx="6906491" cy="5585619"/>
          </a:xfrm>
        </p:spPr>
        <p:txBody>
          <a:bodyPr anchor="ctr">
            <a:normAutofit/>
          </a:bodyPr>
          <a:lstStyle/>
          <a:p>
            <a:pPr marL="0" indent="0">
              <a:buNone/>
            </a:pPr>
            <a:r>
              <a:rPr lang="en-US"/>
              <a:t>The following models were created.</a:t>
            </a:r>
          </a:p>
          <a:p>
            <a:r>
              <a:rPr lang="en-US"/>
              <a:t>K Nearest Neighbor</a:t>
            </a:r>
          </a:p>
          <a:p>
            <a:r>
              <a:rPr lang="en-US"/>
              <a:t>Random Forest</a:t>
            </a:r>
          </a:p>
          <a:p>
            <a:r>
              <a:rPr lang="en-US"/>
              <a:t>Convolutional Neural Network (CNN)</a:t>
            </a:r>
          </a:p>
          <a:p>
            <a:pPr marL="0" indent="0">
              <a:buNone/>
            </a:pPr>
            <a:endParaRPr lang="en-US"/>
          </a:p>
        </p:txBody>
      </p:sp>
    </p:spTree>
    <p:extLst>
      <p:ext uri="{BB962C8B-B14F-4D97-AF65-F5344CB8AC3E}">
        <p14:creationId xmlns:p14="http://schemas.microsoft.com/office/powerpoint/2010/main" val="3317509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998E65-8351-CB48-1545-18E6EC901B8B}"/>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4100" dirty="0"/>
              <a:t>ROC AUC Curves KNN, Random Forest, and CNN</a:t>
            </a:r>
          </a:p>
        </p:txBody>
      </p:sp>
      <p:sp>
        <p:nvSpPr>
          <p:cNvPr id="36"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2F4418E-B763-CD4C-EAE9-6B88009FF960}"/>
              </a:ext>
            </a:extLst>
          </p:cNvPr>
          <p:cNvPicPr>
            <a:picLocks noChangeAspect="1"/>
          </p:cNvPicPr>
          <p:nvPr/>
        </p:nvPicPr>
        <p:blipFill>
          <a:blip r:embed="rId3"/>
          <a:stretch>
            <a:fillRect/>
          </a:stretch>
        </p:blipFill>
        <p:spPr>
          <a:xfrm>
            <a:off x="7975092" y="2916531"/>
            <a:ext cx="3758184" cy="3006546"/>
          </a:xfrm>
          <a:prstGeom prst="rect">
            <a:avLst/>
          </a:prstGeom>
        </p:spPr>
      </p:pic>
      <p:pic>
        <p:nvPicPr>
          <p:cNvPr id="8" name="Picture 7">
            <a:extLst>
              <a:ext uri="{FF2B5EF4-FFF2-40B4-BE49-F238E27FC236}">
                <a16:creationId xmlns:a16="http://schemas.microsoft.com/office/drawing/2014/main" id="{632A241F-8624-8B0E-4A36-8DE001449DC6}"/>
              </a:ext>
            </a:extLst>
          </p:cNvPr>
          <p:cNvPicPr>
            <a:picLocks noChangeAspect="1"/>
          </p:cNvPicPr>
          <p:nvPr/>
        </p:nvPicPr>
        <p:blipFill>
          <a:blip r:embed="rId4"/>
          <a:stretch>
            <a:fillRect/>
          </a:stretch>
        </p:blipFill>
        <p:spPr>
          <a:xfrm>
            <a:off x="4216908" y="2916531"/>
            <a:ext cx="3758184" cy="3006546"/>
          </a:xfrm>
          <a:prstGeom prst="rect">
            <a:avLst/>
          </a:prstGeom>
        </p:spPr>
      </p:pic>
      <p:pic>
        <p:nvPicPr>
          <p:cNvPr id="10" name="Picture 9">
            <a:extLst>
              <a:ext uri="{FF2B5EF4-FFF2-40B4-BE49-F238E27FC236}">
                <a16:creationId xmlns:a16="http://schemas.microsoft.com/office/drawing/2014/main" id="{B6B2A7C2-E473-3E22-D16E-68D9EC3E3E20}"/>
              </a:ext>
            </a:extLst>
          </p:cNvPr>
          <p:cNvPicPr>
            <a:picLocks noChangeAspect="1"/>
          </p:cNvPicPr>
          <p:nvPr/>
        </p:nvPicPr>
        <p:blipFill>
          <a:blip r:embed="rId5"/>
          <a:stretch>
            <a:fillRect/>
          </a:stretch>
        </p:blipFill>
        <p:spPr>
          <a:xfrm>
            <a:off x="480786" y="2938420"/>
            <a:ext cx="3758184" cy="3006546"/>
          </a:xfrm>
          <a:prstGeom prst="rect">
            <a:avLst/>
          </a:prstGeom>
        </p:spPr>
      </p:pic>
    </p:spTree>
    <p:extLst>
      <p:ext uri="{BB962C8B-B14F-4D97-AF65-F5344CB8AC3E}">
        <p14:creationId xmlns:p14="http://schemas.microsoft.com/office/powerpoint/2010/main" val="3036061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CE5E01-D294-52AC-F805-0BF48B985D77}"/>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4100" dirty="0"/>
              <a:t>Confusion Matrix KNN, Random Forest, and CNN</a:t>
            </a:r>
          </a:p>
        </p:txBody>
      </p:sp>
      <p:sp>
        <p:nvSpPr>
          <p:cNvPr id="21"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E9523A8-9E09-4E40-4663-8215E1D30434}"/>
              </a:ext>
            </a:extLst>
          </p:cNvPr>
          <p:cNvPicPr>
            <a:picLocks noChangeAspect="1"/>
          </p:cNvPicPr>
          <p:nvPr/>
        </p:nvPicPr>
        <p:blipFill>
          <a:blip r:embed="rId3"/>
          <a:stretch>
            <a:fillRect/>
          </a:stretch>
        </p:blipFill>
        <p:spPr>
          <a:xfrm>
            <a:off x="292608" y="2723924"/>
            <a:ext cx="3758184" cy="3391760"/>
          </a:xfrm>
          <a:prstGeom prst="rect">
            <a:avLst/>
          </a:prstGeom>
        </p:spPr>
      </p:pic>
      <p:pic>
        <p:nvPicPr>
          <p:cNvPr id="6" name="Picture 5">
            <a:extLst>
              <a:ext uri="{FF2B5EF4-FFF2-40B4-BE49-F238E27FC236}">
                <a16:creationId xmlns:a16="http://schemas.microsoft.com/office/drawing/2014/main" id="{6473A59E-115E-A1E0-2FB5-5789C87BC446}"/>
              </a:ext>
            </a:extLst>
          </p:cNvPr>
          <p:cNvPicPr>
            <a:picLocks noChangeAspect="1"/>
          </p:cNvPicPr>
          <p:nvPr/>
        </p:nvPicPr>
        <p:blipFill>
          <a:blip r:embed="rId4"/>
          <a:stretch>
            <a:fillRect/>
          </a:stretch>
        </p:blipFill>
        <p:spPr>
          <a:xfrm>
            <a:off x="7808976" y="2846064"/>
            <a:ext cx="3758184" cy="3269620"/>
          </a:xfrm>
          <a:prstGeom prst="rect">
            <a:avLst/>
          </a:prstGeom>
        </p:spPr>
      </p:pic>
      <p:pic>
        <p:nvPicPr>
          <p:cNvPr id="8" name="Picture 7">
            <a:extLst>
              <a:ext uri="{FF2B5EF4-FFF2-40B4-BE49-F238E27FC236}">
                <a16:creationId xmlns:a16="http://schemas.microsoft.com/office/drawing/2014/main" id="{4FB4616C-34EF-452F-ECBF-7FCF2788DA16}"/>
              </a:ext>
            </a:extLst>
          </p:cNvPr>
          <p:cNvPicPr>
            <a:picLocks noChangeAspect="1"/>
          </p:cNvPicPr>
          <p:nvPr/>
        </p:nvPicPr>
        <p:blipFill>
          <a:blip r:embed="rId5"/>
          <a:stretch>
            <a:fillRect/>
          </a:stretch>
        </p:blipFill>
        <p:spPr>
          <a:xfrm>
            <a:off x="4050792" y="2846064"/>
            <a:ext cx="3758184" cy="3269620"/>
          </a:xfrm>
          <a:prstGeom prst="rect">
            <a:avLst/>
          </a:prstGeom>
        </p:spPr>
      </p:pic>
    </p:spTree>
    <p:extLst>
      <p:ext uri="{BB962C8B-B14F-4D97-AF65-F5344CB8AC3E}">
        <p14:creationId xmlns:p14="http://schemas.microsoft.com/office/powerpoint/2010/main" val="302470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C34BB-B9CB-F27B-8C8C-B6B9F06458A3}"/>
              </a:ext>
            </a:extLst>
          </p:cNvPr>
          <p:cNvSpPr>
            <a:spLocks noGrp="1"/>
          </p:cNvSpPr>
          <p:nvPr>
            <p:ph type="title"/>
          </p:nvPr>
        </p:nvSpPr>
        <p:spPr/>
        <p:txBody>
          <a:bodyPr/>
          <a:lstStyle/>
          <a:p>
            <a:r>
              <a:rPr lang="en-US" dirty="0"/>
              <a:t>Model Metrics</a:t>
            </a:r>
          </a:p>
        </p:txBody>
      </p:sp>
      <p:graphicFrame>
        <p:nvGraphicFramePr>
          <p:cNvPr id="10" name="Content Placeholder 9">
            <a:extLst>
              <a:ext uri="{FF2B5EF4-FFF2-40B4-BE49-F238E27FC236}">
                <a16:creationId xmlns:a16="http://schemas.microsoft.com/office/drawing/2014/main" id="{B8AD92E4-2BE4-BA54-8FAD-763841FFADC2}"/>
              </a:ext>
            </a:extLst>
          </p:cNvPr>
          <p:cNvGraphicFramePr>
            <a:graphicFrameLocks noGrp="1"/>
          </p:cNvGraphicFramePr>
          <p:nvPr>
            <p:ph idx="1"/>
            <p:extLst>
              <p:ext uri="{D42A27DB-BD31-4B8C-83A1-F6EECF244321}">
                <p14:modId xmlns:p14="http://schemas.microsoft.com/office/powerpoint/2010/main" val="582780539"/>
              </p:ext>
            </p:extLst>
          </p:nvPr>
        </p:nvGraphicFramePr>
        <p:xfrm>
          <a:off x="298450" y="1524000"/>
          <a:ext cx="3973513" cy="1905000"/>
        </p:xfrm>
        <a:graphic>
          <a:graphicData uri="http://schemas.openxmlformats.org/drawingml/2006/table">
            <a:tbl>
              <a:tblPr>
                <a:tableStyleId>{5C22544A-7EE6-4342-B048-85BDC9FD1C3A}</a:tableStyleId>
              </a:tblPr>
              <a:tblGrid>
                <a:gridCol w="1536700">
                  <a:extLst>
                    <a:ext uri="{9D8B030D-6E8A-4147-A177-3AD203B41FA5}">
                      <a16:colId xmlns:a16="http://schemas.microsoft.com/office/drawing/2014/main" val="2463628702"/>
                    </a:ext>
                  </a:extLst>
                </a:gridCol>
                <a:gridCol w="608013">
                  <a:extLst>
                    <a:ext uri="{9D8B030D-6E8A-4147-A177-3AD203B41FA5}">
                      <a16:colId xmlns:a16="http://schemas.microsoft.com/office/drawing/2014/main" val="3959250085"/>
                    </a:ext>
                  </a:extLst>
                </a:gridCol>
                <a:gridCol w="609600">
                  <a:extLst>
                    <a:ext uri="{9D8B030D-6E8A-4147-A177-3AD203B41FA5}">
                      <a16:colId xmlns:a16="http://schemas.microsoft.com/office/drawing/2014/main" val="3126464767"/>
                    </a:ext>
                  </a:extLst>
                </a:gridCol>
                <a:gridCol w="609600">
                  <a:extLst>
                    <a:ext uri="{9D8B030D-6E8A-4147-A177-3AD203B41FA5}">
                      <a16:colId xmlns:a16="http://schemas.microsoft.com/office/drawing/2014/main" val="734645799"/>
                    </a:ext>
                  </a:extLst>
                </a:gridCol>
                <a:gridCol w="609600">
                  <a:extLst>
                    <a:ext uri="{9D8B030D-6E8A-4147-A177-3AD203B41FA5}">
                      <a16:colId xmlns:a16="http://schemas.microsoft.com/office/drawing/2014/main" val="2573231439"/>
                    </a:ext>
                  </a:extLst>
                </a:gridCol>
              </a:tblGrid>
              <a:tr h="190500">
                <a:tc>
                  <a:txBody>
                    <a:bodyPr/>
                    <a:lstStyle/>
                    <a:p>
                      <a:pPr algn="l" fontAlgn="b">
                        <a:buNone/>
                      </a:pPr>
                      <a:r>
                        <a:rPr lang="en-US" sz="1100" u="none" strike="noStrike">
                          <a:effectLst/>
                        </a:rPr>
                        <a:t>RBG KNN</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Precision</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Recall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f1-score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AUC</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72111151"/>
                  </a:ext>
                </a:extLst>
              </a:tr>
              <a:tr h="190500">
                <a:tc>
                  <a:txBody>
                    <a:bodyPr/>
                    <a:lstStyle/>
                    <a:p>
                      <a:pPr algn="l" fontAlgn="b">
                        <a:buNone/>
                      </a:pPr>
                      <a:r>
                        <a:rPr lang="en-US" sz="1100" u="none" strike="noStrike">
                          <a:effectLst/>
                        </a:rPr>
                        <a:t>Ig</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0.66</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0.23</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0.34</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0.75</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1793543659"/>
                  </a:ext>
                </a:extLst>
              </a:tr>
              <a:tr h="190500">
                <a:tc>
                  <a:txBody>
                    <a:bodyPr/>
                    <a:lstStyle/>
                    <a:p>
                      <a:pPr algn="l" fontAlgn="b">
                        <a:buNone/>
                      </a:pPr>
                      <a:r>
                        <a:rPr lang="en-US" sz="1100" u="none" strike="noStrike">
                          <a:effectLst/>
                        </a:rPr>
                        <a:t>basophil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0.64</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0.23</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0.34</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0.86</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2983688724"/>
                  </a:ext>
                </a:extLst>
              </a:tr>
              <a:tr h="190500">
                <a:tc>
                  <a:txBody>
                    <a:bodyPr/>
                    <a:lstStyle/>
                    <a:p>
                      <a:pPr algn="l" fontAlgn="b">
                        <a:buNone/>
                      </a:pPr>
                      <a:r>
                        <a:rPr lang="en-US" sz="1100" u="none" strike="noStrike">
                          <a:effectLst/>
                        </a:rPr>
                        <a:t>eosinophil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0.44</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0.88</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0.59</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0.88</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1817853343"/>
                  </a:ext>
                </a:extLst>
              </a:tr>
              <a:tr h="190500">
                <a:tc>
                  <a:txBody>
                    <a:bodyPr/>
                    <a:lstStyle/>
                    <a:p>
                      <a:pPr algn="l" fontAlgn="b">
                        <a:buNone/>
                      </a:pPr>
                      <a:r>
                        <a:rPr lang="en-US" sz="1100" u="none" strike="noStrike">
                          <a:effectLst/>
                        </a:rPr>
                        <a:t>lymphocyte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0.67</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0.87</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0.75</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0.96</a:t>
                      </a: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70060866"/>
                  </a:ext>
                </a:extLst>
              </a:tr>
              <a:tr h="190500">
                <a:tc>
                  <a:txBody>
                    <a:bodyPr/>
                    <a:lstStyle/>
                    <a:p>
                      <a:pPr algn="l" fontAlgn="b">
                        <a:buNone/>
                      </a:pPr>
                      <a:r>
                        <a:rPr lang="en-US" sz="1100" u="none" strike="noStrike">
                          <a:effectLst/>
                        </a:rPr>
                        <a:t>monocyte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0.43</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0.68</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0.53</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0.88</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1931426421"/>
                  </a:ext>
                </a:extLst>
              </a:tr>
              <a:tr h="190500">
                <a:tc>
                  <a:txBody>
                    <a:bodyPr/>
                    <a:lstStyle/>
                    <a:p>
                      <a:pPr algn="l" fontAlgn="b">
                        <a:buNone/>
                      </a:pPr>
                      <a:r>
                        <a:rPr lang="en-US" sz="1100" u="none" strike="noStrike">
                          <a:effectLst/>
                        </a:rPr>
                        <a:t>neutrophil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0.89</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0.47</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0.61</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0.92</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825472746"/>
                  </a:ext>
                </a:extLst>
              </a:tr>
              <a:tr h="190500">
                <a:tc>
                  <a:txBody>
                    <a:bodyPr/>
                    <a:lstStyle/>
                    <a:p>
                      <a:pPr algn="l" fontAlgn="b">
                        <a:buNone/>
                      </a:pPr>
                      <a:r>
                        <a:rPr lang="en-US" sz="1100" u="none" strike="noStrike">
                          <a:effectLst/>
                        </a:rPr>
                        <a:t>accuracy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0.55</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73330605"/>
                  </a:ext>
                </a:extLst>
              </a:tr>
              <a:tr h="190500">
                <a:tc>
                  <a:txBody>
                    <a:bodyPr/>
                    <a:lstStyle/>
                    <a:p>
                      <a:pPr algn="l" fontAlgn="b">
                        <a:buNone/>
                      </a:pPr>
                      <a:r>
                        <a:rPr lang="en-US" sz="1100" u="none" strike="noStrike">
                          <a:effectLst/>
                        </a:rPr>
                        <a:t>macro avg</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0.62</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0.56</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0.53</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39758053"/>
                  </a:ext>
                </a:extLst>
              </a:tr>
              <a:tr h="190500">
                <a:tc>
                  <a:txBody>
                    <a:bodyPr/>
                    <a:lstStyle/>
                    <a:p>
                      <a:pPr algn="l" fontAlgn="b">
                        <a:buNone/>
                      </a:pPr>
                      <a:r>
                        <a:rPr lang="en-US" sz="1100" u="none" strike="noStrike">
                          <a:effectLst/>
                        </a:rPr>
                        <a:t>weighted avg</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0.64</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0.55</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0.53</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618067315"/>
                  </a:ext>
                </a:extLst>
              </a:tr>
            </a:tbl>
          </a:graphicData>
        </a:graphic>
      </p:graphicFrame>
      <p:graphicFrame>
        <p:nvGraphicFramePr>
          <p:cNvPr id="11" name="Table 10">
            <a:extLst>
              <a:ext uri="{FF2B5EF4-FFF2-40B4-BE49-F238E27FC236}">
                <a16:creationId xmlns:a16="http://schemas.microsoft.com/office/drawing/2014/main" id="{F6C7D6EE-04A4-F078-EF30-C7C00F790EE5}"/>
              </a:ext>
            </a:extLst>
          </p:cNvPr>
          <p:cNvGraphicFramePr>
            <a:graphicFrameLocks noGrp="1"/>
          </p:cNvGraphicFramePr>
          <p:nvPr>
            <p:extLst>
              <p:ext uri="{D42A27DB-BD31-4B8C-83A1-F6EECF244321}">
                <p14:modId xmlns:p14="http://schemas.microsoft.com/office/powerpoint/2010/main" val="545154076"/>
              </p:ext>
            </p:extLst>
          </p:nvPr>
        </p:nvGraphicFramePr>
        <p:xfrm>
          <a:off x="4108450" y="3811221"/>
          <a:ext cx="3975100" cy="1905000"/>
        </p:xfrm>
        <a:graphic>
          <a:graphicData uri="http://schemas.openxmlformats.org/drawingml/2006/table">
            <a:tbl>
              <a:tblPr>
                <a:tableStyleId>{5C22544A-7EE6-4342-B048-85BDC9FD1C3A}</a:tableStyleId>
              </a:tblPr>
              <a:tblGrid>
                <a:gridCol w="1536700">
                  <a:extLst>
                    <a:ext uri="{9D8B030D-6E8A-4147-A177-3AD203B41FA5}">
                      <a16:colId xmlns:a16="http://schemas.microsoft.com/office/drawing/2014/main" val="1124975399"/>
                    </a:ext>
                  </a:extLst>
                </a:gridCol>
                <a:gridCol w="609600">
                  <a:extLst>
                    <a:ext uri="{9D8B030D-6E8A-4147-A177-3AD203B41FA5}">
                      <a16:colId xmlns:a16="http://schemas.microsoft.com/office/drawing/2014/main" val="4172384421"/>
                    </a:ext>
                  </a:extLst>
                </a:gridCol>
                <a:gridCol w="609600">
                  <a:extLst>
                    <a:ext uri="{9D8B030D-6E8A-4147-A177-3AD203B41FA5}">
                      <a16:colId xmlns:a16="http://schemas.microsoft.com/office/drawing/2014/main" val="333940851"/>
                    </a:ext>
                  </a:extLst>
                </a:gridCol>
                <a:gridCol w="609600">
                  <a:extLst>
                    <a:ext uri="{9D8B030D-6E8A-4147-A177-3AD203B41FA5}">
                      <a16:colId xmlns:a16="http://schemas.microsoft.com/office/drawing/2014/main" val="3889505294"/>
                    </a:ext>
                  </a:extLst>
                </a:gridCol>
                <a:gridCol w="609600">
                  <a:extLst>
                    <a:ext uri="{9D8B030D-6E8A-4147-A177-3AD203B41FA5}">
                      <a16:colId xmlns:a16="http://schemas.microsoft.com/office/drawing/2014/main" val="4040612462"/>
                    </a:ext>
                  </a:extLst>
                </a:gridCol>
              </a:tblGrid>
              <a:tr h="190500">
                <a:tc>
                  <a:txBody>
                    <a:bodyPr/>
                    <a:lstStyle/>
                    <a:p>
                      <a:pPr algn="l" fontAlgn="b">
                        <a:buNone/>
                      </a:pPr>
                      <a:r>
                        <a:rPr lang="en-US" sz="1100" u="none" strike="noStrike">
                          <a:effectLst/>
                        </a:rPr>
                        <a:t>RBG Random Forest</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Precision</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Recall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f1-score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AUC</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943816913"/>
                  </a:ext>
                </a:extLst>
              </a:tr>
              <a:tr h="190500">
                <a:tc>
                  <a:txBody>
                    <a:bodyPr/>
                    <a:lstStyle/>
                    <a:p>
                      <a:pPr algn="l" fontAlgn="b">
                        <a:buNone/>
                      </a:pPr>
                      <a:r>
                        <a:rPr lang="en-US" sz="1100" u="none" strike="noStrike">
                          <a:effectLst/>
                        </a:rPr>
                        <a:t>Ig</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0.61</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0.82</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0.7</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36323869"/>
                  </a:ext>
                </a:extLst>
              </a:tr>
              <a:tr h="190500">
                <a:tc>
                  <a:txBody>
                    <a:bodyPr/>
                    <a:lstStyle/>
                    <a:p>
                      <a:pPr algn="l" fontAlgn="b">
                        <a:buNone/>
                      </a:pPr>
                      <a:r>
                        <a:rPr lang="en-US" sz="1100" u="none" strike="noStrike">
                          <a:effectLst/>
                        </a:rPr>
                        <a:t>basophil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0.77</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0.42</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0.55</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0.95</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51352390"/>
                  </a:ext>
                </a:extLst>
              </a:tr>
              <a:tr h="190500">
                <a:tc>
                  <a:txBody>
                    <a:bodyPr/>
                    <a:lstStyle/>
                    <a:p>
                      <a:pPr algn="l" fontAlgn="b">
                        <a:buNone/>
                      </a:pPr>
                      <a:r>
                        <a:rPr lang="en-US" sz="1100" u="none" strike="noStrike">
                          <a:effectLst/>
                        </a:rPr>
                        <a:t>eosinophil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rPr>
                        <a:t>0.91</a:t>
                      </a:r>
                      <a:endParaRPr lang="en-US" sz="11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000154631"/>
                  </a:ext>
                </a:extLst>
              </a:tr>
              <a:tr h="190500">
                <a:tc>
                  <a:txBody>
                    <a:bodyPr/>
                    <a:lstStyle/>
                    <a:p>
                      <a:pPr algn="l" fontAlgn="b">
                        <a:buNone/>
                      </a:pPr>
                      <a:r>
                        <a:rPr lang="en-US" sz="1100" u="none" strike="noStrike">
                          <a:effectLst/>
                        </a:rPr>
                        <a:t>lymphocyte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0.85</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highlight>
                            <a:srgbClr val="FF0000"/>
                          </a:highlight>
                        </a:rPr>
                        <a:t>0.8</a:t>
                      </a:r>
                      <a:endParaRPr lang="en-US" sz="1100" b="0" i="0" u="none" strike="noStrike">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0.82</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0.98</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32385182"/>
                  </a:ext>
                </a:extLst>
              </a:tr>
              <a:tr h="190500">
                <a:tc>
                  <a:txBody>
                    <a:bodyPr/>
                    <a:lstStyle/>
                    <a:p>
                      <a:pPr algn="l" fontAlgn="b">
                        <a:buNone/>
                      </a:pPr>
                      <a:r>
                        <a:rPr lang="en-US" sz="1100" u="none" strike="noStrike">
                          <a:effectLst/>
                        </a:rPr>
                        <a:t>monocyte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0.88</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0.39</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0.54</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0.94</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310300018"/>
                  </a:ext>
                </a:extLst>
              </a:tr>
              <a:tr h="190500">
                <a:tc>
                  <a:txBody>
                    <a:bodyPr/>
                    <a:lstStyle/>
                    <a:p>
                      <a:pPr algn="l" fontAlgn="b">
                        <a:buNone/>
                      </a:pPr>
                      <a:r>
                        <a:rPr lang="en-US" sz="1100" u="none" strike="noStrike">
                          <a:effectLst/>
                        </a:rPr>
                        <a:t>neutrophil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0.87</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09212341"/>
                  </a:ext>
                </a:extLst>
              </a:tr>
              <a:tr h="190500">
                <a:tc>
                  <a:txBody>
                    <a:bodyPr/>
                    <a:lstStyle/>
                    <a:p>
                      <a:pPr algn="l" fontAlgn="b">
                        <a:buNone/>
                      </a:pPr>
                      <a:r>
                        <a:rPr lang="en-US" sz="1100" u="none" strike="noStrike">
                          <a:effectLst/>
                        </a:rPr>
                        <a:t>accuracy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0.79</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highlight>
                          <a:srgbClr val="FF00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1428211995"/>
                  </a:ext>
                </a:extLst>
              </a:tr>
              <a:tr h="190500">
                <a:tc>
                  <a:txBody>
                    <a:bodyPr/>
                    <a:lstStyle/>
                    <a:p>
                      <a:pPr algn="l" fontAlgn="b">
                        <a:buNone/>
                      </a:pPr>
                      <a:r>
                        <a:rPr lang="en-US" sz="1100" u="none" strike="noStrike">
                          <a:effectLst/>
                        </a:rPr>
                        <a:t>macro avg</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highlight>
                            <a:srgbClr val="FF0000"/>
                          </a:highlight>
                        </a:rPr>
                        <a:t>0.81</a:t>
                      </a:r>
                      <a:endParaRPr lang="en-US" sz="1100" b="0" i="0" u="none" strike="noStrike">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highlight>
                            <a:srgbClr val="FF0000"/>
                          </a:highlight>
                        </a:rPr>
                        <a:t>0.72</a:t>
                      </a:r>
                      <a:endParaRPr lang="en-US" sz="1100" b="0" i="0" u="none" strike="noStrike">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0.74</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3974147006"/>
                  </a:ext>
                </a:extLst>
              </a:tr>
              <a:tr h="190500">
                <a:tc>
                  <a:txBody>
                    <a:bodyPr/>
                    <a:lstStyle/>
                    <a:p>
                      <a:pPr algn="l" fontAlgn="b">
                        <a:buNone/>
                      </a:pPr>
                      <a:r>
                        <a:rPr lang="en-US" sz="1100" u="none" strike="noStrike">
                          <a:effectLst/>
                        </a:rPr>
                        <a:t>weighted avg</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highlight>
                            <a:srgbClr val="FF0000"/>
                          </a:highlight>
                        </a:rPr>
                        <a:t>0.81</a:t>
                      </a:r>
                      <a:endParaRPr lang="en-US" sz="1100" b="0" i="0" u="none" strike="noStrike">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highlight>
                            <a:srgbClr val="FF0000"/>
                          </a:highlight>
                        </a:rPr>
                        <a:t>0.79</a:t>
                      </a:r>
                      <a:endParaRPr lang="en-US" sz="1100" b="0" i="0" u="none" strike="noStrike">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0.78</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extLst>
                  <a:ext uri="{0D108BD9-81ED-4DB2-BD59-A6C34878D82A}">
                    <a16:rowId xmlns:a16="http://schemas.microsoft.com/office/drawing/2014/main" val="3445406411"/>
                  </a:ext>
                </a:extLst>
              </a:tr>
            </a:tbl>
          </a:graphicData>
        </a:graphic>
      </p:graphicFrame>
      <p:graphicFrame>
        <p:nvGraphicFramePr>
          <p:cNvPr id="12" name="Table 11">
            <a:extLst>
              <a:ext uri="{FF2B5EF4-FFF2-40B4-BE49-F238E27FC236}">
                <a16:creationId xmlns:a16="http://schemas.microsoft.com/office/drawing/2014/main" id="{3036CAAE-C98A-B5F4-F67C-BB63F8998A52}"/>
              </a:ext>
            </a:extLst>
          </p:cNvPr>
          <p:cNvGraphicFramePr>
            <a:graphicFrameLocks noGrp="1"/>
          </p:cNvGraphicFramePr>
          <p:nvPr>
            <p:extLst>
              <p:ext uri="{D42A27DB-BD31-4B8C-83A1-F6EECF244321}">
                <p14:modId xmlns:p14="http://schemas.microsoft.com/office/powerpoint/2010/main" val="1297460425"/>
              </p:ext>
            </p:extLst>
          </p:nvPr>
        </p:nvGraphicFramePr>
        <p:xfrm>
          <a:off x="7157915" y="1367448"/>
          <a:ext cx="3975100" cy="1905000"/>
        </p:xfrm>
        <a:graphic>
          <a:graphicData uri="http://schemas.openxmlformats.org/drawingml/2006/table">
            <a:tbl>
              <a:tblPr>
                <a:tableStyleId>{5C22544A-7EE6-4342-B048-85BDC9FD1C3A}</a:tableStyleId>
              </a:tblPr>
              <a:tblGrid>
                <a:gridCol w="1536700">
                  <a:extLst>
                    <a:ext uri="{9D8B030D-6E8A-4147-A177-3AD203B41FA5}">
                      <a16:colId xmlns:a16="http://schemas.microsoft.com/office/drawing/2014/main" val="2046765569"/>
                    </a:ext>
                  </a:extLst>
                </a:gridCol>
                <a:gridCol w="609600">
                  <a:extLst>
                    <a:ext uri="{9D8B030D-6E8A-4147-A177-3AD203B41FA5}">
                      <a16:colId xmlns:a16="http://schemas.microsoft.com/office/drawing/2014/main" val="2905791814"/>
                    </a:ext>
                  </a:extLst>
                </a:gridCol>
                <a:gridCol w="609600">
                  <a:extLst>
                    <a:ext uri="{9D8B030D-6E8A-4147-A177-3AD203B41FA5}">
                      <a16:colId xmlns:a16="http://schemas.microsoft.com/office/drawing/2014/main" val="706755688"/>
                    </a:ext>
                  </a:extLst>
                </a:gridCol>
                <a:gridCol w="609600">
                  <a:extLst>
                    <a:ext uri="{9D8B030D-6E8A-4147-A177-3AD203B41FA5}">
                      <a16:colId xmlns:a16="http://schemas.microsoft.com/office/drawing/2014/main" val="2176335357"/>
                    </a:ext>
                  </a:extLst>
                </a:gridCol>
                <a:gridCol w="609600">
                  <a:extLst>
                    <a:ext uri="{9D8B030D-6E8A-4147-A177-3AD203B41FA5}">
                      <a16:colId xmlns:a16="http://schemas.microsoft.com/office/drawing/2014/main" val="2129191295"/>
                    </a:ext>
                  </a:extLst>
                </a:gridCol>
              </a:tblGrid>
              <a:tr h="190500">
                <a:tc>
                  <a:txBody>
                    <a:bodyPr/>
                    <a:lstStyle/>
                    <a:p>
                      <a:pPr algn="l" fontAlgn="b">
                        <a:buNone/>
                      </a:pPr>
                      <a:r>
                        <a:rPr lang="en-US" sz="1100" u="none" strike="noStrike">
                          <a:effectLst/>
                        </a:rPr>
                        <a:t>CNN</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Precision</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Recall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f1-score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100" u="none" strike="noStrike">
                          <a:effectLst/>
                        </a:rPr>
                        <a:t>AUC</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52320807"/>
                  </a:ext>
                </a:extLst>
              </a:tr>
              <a:tr h="190500">
                <a:tc>
                  <a:txBody>
                    <a:bodyPr/>
                    <a:lstStyle/>
                    <a:p>
                      <a:pPr algn="l" fontAlgn="b">
                        <a:buNone/>
                      </a:pPr>
                      <a:r>
                        <a:rPr lang="en-US" sz="1100" u="none" strike="noStrike">
                          <a:effectLst/>
                        </a:rPr>
                        <a:t>basophil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0.94</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0.79</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0.86</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0.97</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85820138"/>
                  </a:ext>
                </a:extLst>
              </a:tr>
              <a:tr h="190500">
                <a:tc>
                  <a:txBody>
                    <a:bodyPr/>
                    <a:lstStyle/>
                    <a:p>
                      <a:pPr algn="l" fontAlgn="b">
                        <a:buNone/>
                      </a:pPr>
                      <a:r>
                        <a:rPr lang="en-US" sz="1100" u="none" strike="noStrike">
                          <a:effectLst/>
                        </a:rPr>
                        <a:t>eosinophil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78037326"/>
                  </a:ext>
                </a:extLst>
              </a:tr>
              <a:tr h="190500">
                <a:tc>
                  <a:txBody>
                    <a:bodyPr/>
                    <a:lstStyle/>
                    <a:p>
                      <a:pPr algn="l" fontAlgn="b">
                        <a:buNone/>
                      </a:pPr>
                      <a:r>
                        <a:rPr lang="en-US" sz="1100" u="none" strike="noStrike">
                          <a:effectLst/>
                        </a:rPr>
                        <a:t>lymphocyte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1</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110649885"/>
                  </a:ext>
                </a:extLst>
              </a:tr>
              <a:tr h="190500">
                <a:tc>
                  <a:txBody>
                    <a:bodyPr/>
                    <a:lstStyle/>
                    <a:p>
                      <a:pPr algn="l" fontAlgn="b">
                        <a:buNone/>
                      </a:pPr>
                      <a:r>
                        <a:rPr lang="en-US" sz="1100" u="none" strike="noStrike">
                          <a:effectLst/>
                        </a:rPr>
                        <a:t>monocyte</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0.79</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0.98</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0.87</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420952627"/>
                  </a:ext>
                </a:extLst>
              </a:tr>
              <a:tr h="190500">
                <a:tc>
                  <a:txBody>
                    <a:bodyPr/>
                    <a:lstStyle/>
                    <a:p>
                      <a:pPr algn="l" fontAlgn="b">
                        <a:buNone/>
                      </a:pPr>
                      <a:r>
                        <a:rPr lang="en-US" sz="1100" u="none" strike="noStrike">
                          <a:effectLst/>
                        </a:rPr>
                        <a:t>neutrophil</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0.76</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dirty="0">
                          <a:effectLst/>
                          <a:highlight>
                            <a:srgbClr val="FF0000"/>
                          </a:highlight>
                        </a:rPr>
                        <a:t>0.83</a:t>
                      </a:r>
                      <a:endParaRPr lang="en-US" sz="1100" b="0" i="0" u="none" strike="noStrike" dirty="0">
                        <a:solidFill>
                          <a:srgbClr val="000000"/>
                        </a:solidFill>
                        <a:effectLst/>
                        <a:highlight>
                          <a:srgbClr val="FF0000"/>
                        </a:highligh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0.97</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16899396"/>
                  </a:ext>
                </a:extLst>
              </a:tr>
              <a:tr h="190500">
                <a:tc>
                  <a:txBody>
                    <a:bodyPr/>
                    <a:lstStyle/>
                    <a:p>
                      <a:pPr algn="l" fontAlgn="b">
                        <a:buNone/>
                      </a:pPr>
                      <a:r>
                        <a:rPr lang="en-US" sz="1100" u="none" strike="noStrike">
                          <a:effectLst/>
                        </a:rPr>
                        <a:t>accuracy</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0.97</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0.95</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0.96</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0.99</a:t>
                      </a: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228087970"/>
                  </a:ext>
                </a:extLst>
              </a:tr>
              <a:tr h="190500">
                <a:tc>
                  <a:txBody>
                    <a:bodyPr/>
                    <a:lstStyle/>
                    <a:p>
                      <a:pPr algn="l" fontAlgn="b">
                        <a:buNone/>
                      </a:pPr>
                      <a:r>
                        <a:rPr lang="en-US" sz="1100" u="none" strike="noStrike">
                          <a:effectLst/>
                        </a:rPr>
                        <a:t>macro avg</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750732740"/>
                  </a:ext>
                </a:extLst>
              </a:tr>
              <a:tr h="190500">
                <a:tc>
                  <a:txBody>
                    <a:bodyPr/>
                    <a:lstStyle/>
                    <a:p>
                      <a:pPr algn="l" fontAlgn="b">
                        <a:buNone/>
                      </a:pPr>
                      <a:r>
                        <a:rPr lang="en-US" sz="1100" u="none" strike="noStrike">
                          <a:effectLst/>
                        </a:rPr>
                        <a:t>weighted avg</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0.91</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509406887"/>
                  </a:ext>
                </a:extLst>
              </a:tr>
              <a:tr h="190500">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0.93</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100" u="none" strike="noStrike">
                          <a:effectLst/>
                        </a:rPr>
                        <a:t>0.92</a:t>
                      </a:r>
                      <a:endParaRPr lang="en-US" sz="11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US" sz="11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347148679"/>
                  </a:ext>
                </a:extLst>
              </a:tr>
            </a:tbl>
          </a:graphicData>
        </a:graphic>
      </p:graphicFrame>
    </p:spTree>
    <p:extLst>
      <p:ext uri="{BB962C8B-B14F-4D97-AF65-F5344CB8AC3E}">
        <p14:creationId xmlns:p14="http://schemas.microsoft.com/office/powerpoint/2010/main" val="2478175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5" name="Rectangle 394">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86C659-CFB3-C941-69D9-71EF9E6E510B}"/>
              </a:ext>
            </a:extLst>
          </p:cNvPr>
          <p:cNvSpPr>
            <a:spLocks noGrp="1"/>
          </p:cNvSpPr>
          <p:nvPr>
            <p:ph type="title"/>
          </p:nvPr>
        </p:nvSpPr>
        <p:spPr>
          <a:xfrm>
            <a:off x="686834" y="591344"/>
            <a:ext cx="3200400" cy="5585619"/>
          </a:xfrm>
        </p:spPr>
        <p:txBody>
          <a:bodyPr>
            <a:normAutofit/>
          </a:bodyPr>
          <a:lstStyle/>
          <a:p>
            <a:r>
              <a:rPr lang="en-US">
                <a:solidFill>
                  <a:srgbClr val="FFFFFF"/>
                </a:solidFill>
              </a:rPr>
              <a:t>Conclusion</a:t>
            </a:r>
          </a:p>
        </p:txBody>
      </p:sp>
      <p:sp>
        <p:nvSpPr>
          <p:cNvPr id="399" name="Arc 39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EAD4E35C-0E7C-2A97-4667-D61E4C2418D6}"/>
              </a:ext>
            </a:extLst>
          </p:cNvPr>
          <p:cNvSpPr>
            <a:spLocks noGrp="1"/>
          </p:cNvSpPr>
          <p:nvPr>
            <p:ph idx="1"/>
          </p:nvPr>
        </p:nvSpPr>
        <p:spPr>
          <a:xfrm>
            <a:off x="4447308" y="591344"/>
            <a:ext cx="6906491" cy="5585619"/>
          </a:xfrm>
        </p:spPr>
        <p:txBody>
          <a:bodyPr anchor="ctr">
            <a:normAutofit/>
          </a:bodyPr>
          <a:lstStyle/>
          <a:p>
            <a:pPr marL="0" indent="0">
              <a:buNone/>
            </a:pPr>
            <a:r>
              <a:rPr lang="en-US"/>
              <a:t>CNN model was chosen for the final model.</a:t>
            </a:r>
          </a:p>
          <a:p>
            <a:pPr marL="0" indent="0">
              <a:buNone/>
            </a:pPr>
            <a:r>
              <a:rPr lang="en-US"/>
              <a:t>It had the highest AUC for the cell types</a:t>
            </a:r>
          </a:p>
          <a:p>
            <a:pPr marL="0" indent="0">
              <a:buNone/>
            </a:pPr>
            <a:r>
              <a:rPr lang="en-US"/>
              <a:t>It has the best overall metrics</a:t>
            </a:r>
          </a:p>
        </p:txBody>
      </p:sp>
    </p:spTree>
    <p:extLst>
      <p:ext uri="{BB962C8B-B14F-4D97-AF65-F5344CB8AC3E}">
        <p14:creationId xmlns:p14="http://schemas.microsoft.com/office/powerpoint/2010/main" val="54931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4" name="Rectangle 9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Shape 9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2E8A7D-6FCE-153E-FD91-8B99CEEB4203}"/>
              </a:ext>
            </a:extLst>
          </p:cNvPr>
          <p:cNvSpPr>
            <a:spLocks noGrp="1"/>
          </p:cNvSpPr>
          <p:nvPr>
            <p:ph type="title"/>
          </p:nvPr>
        </p:nvSpPr>
        <p:spPr>
          <a:xfrm>
            <a:off x="686834" y="1153572"/>
            <a:ext cx="3200400" cy="4461163"/>
          </a:xfrm>
        </p:spPr>
        <p:txBody>
          <a:bodyPr>
            <a:normAutofit/>
          </a:bodyPr>
          <a:lstStyle/>
          <a:p>
            <a:r>
              <a:rPr lang="en-US">
                <a:solidFill>
                  <a:srgbClr val="FFFFFF"/>
                </a:solidFill>
              </a:rPr>
              <a:t>Further Study</a:t>
            </a:r>
          </a:p>
        </p:txBody>
      </p:sp>
      <p:sp>
        <p:nvSpPr>
          <p:cNvPr id="98" name="Arc 9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FE83F6F-324C-A77D-9F59-0205CE6B72E3}"/>
              </a:ext>
            </a:extLst>
          </p:cNvPr>
          <p:cNvSpPr>
            <a:spLocks noGrp="1"/>
          </p:cNvSpPr>
          <p:nvPr>
            <p:ph idx="1"/>
          </p:nvPr>
        </p:nvSpPr>
        <p:spPr>
          <a:xfrm>
            <a:off x="4447308" y="591344"/>
            <a:ext cx="6906491" cy="5585619"/>
          </a:xfrm>
        </p:spPr>
        <p:txBody>
          <a:bodyPr anchor="ctr">
            <a:normAutofit/>
          </a:bodyPr>
          <a:lstStyle/>
          <a:p>
            <a:r>
              <a:rPr lang="en-US"/>
              <a:t>Use original full-sized images</a:t>
            </a:r>
          </a:p>
          <a:p>
            <a:r>
              <a:rPr lang="en-US"/>
              <a:t>Use transformed images</a:t>
            </a:r>
          </a:p>
          <a:p>
            <a:r>
              <a:rPr lang="en-US"/>
              <a:t>Use images from other microscope types and stains</a:t>
            </a:r>
          </a:p>
        </p:txBody>
      </p:sp>
    </p:spTree>
    <p:extLst>
      <p:ext uri="{BB962C8B-B14F-4D97-AF65-F5344CB8AC3E}">
        <p14:creationId xmlns:p14="http://schemas.microsoft.com/office/powerpoint/2010/main" val="2072463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838</Words>
  <Application>Microsoft Office PowerPoint</Application>
  <PresentationFormat>Widescreen</PresentationFormat>
  <Paragraphs>204</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Aptos Narrow</vt:lpstr>
      <vt:lpstr>Arial</vt:lpstr>
      <vt:lpstr>Calibri</vt:lpstr>
      <vt:lpstr>Office Theme</vt:lpstr>
      <vt:lpstr>WBC Image Recognition</vt:lpstr>
      <vt:lpstr>WBCs Imaging Medical Importance</vt:lpstr>
      <vt:lpstr>Importance of Automated WBC Image Recognition</vt:lpstr>
      <vt:lpstr>WBC Types in Data Set</vt:lpstr>
      <vt:lpstr>Data Set</vt:lpstr>
      <vt:lpstr>Data Wrangling</vt:lpstr>
      <vt:lpstr>Modeling</vt:lpstr>
      <vt:lpstr>ROC AUC Curves KNN, Random Forest, and CNN</vt:lpstr>
      <vt:lpstr>Confusion Matrix KNN, Random Forest, and CNN</vt:lpstr>
      <vt:lpstr>Model Metrics</vt:lpstr>
      <vt:lpstr>Conclusion</vt:lpstr>
      <vt:lpstr>Further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jeremy jex</dc:creator>
  <cp:lastModifiedBy>jeremy jex</cp:lastModifiedBy>
  <cp:revision>4</cp:revision>
  <cp:lastPrinted>2025-10-09T00:35:42Z</cp:lastPrinted>
  <dcterms:created xsi:type="dcterms:W3CDTF">2025-10-06T00:19:12Z</dcterms:created>
  <dcterms:modified xsi:type="dcterms:W3CDTF">2025-10-09T01:08:29Z</dcterms:modified>
</cp:coreProperties>
</file>