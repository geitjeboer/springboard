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66" r:id="rId4"/>
    <p:sldId id="258" r:id="rId5"/>
    <p:sldId id="259" r:id="rId6"/>
    <p:sldId id="267" r:id="rId7"/>
    <p:sldId id="260" r:id="rId8"/>
    <p:sldId id="261" r:id="rId9"/>
    <p:sldId id="262" r:id="rId10"/>
    <p:sldId id="269" r:id="rId11"/>
    <p:sldId id="263" r:id="rId12"/>
    <p:sldId id="268" r:id="rId13"/>
    <p:sldId id="264" r:id="rId14"/>
    <p:sldId id="265"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6" autoAdjust="0"/>
    <p:restoredTop sz="77662" autoAdjust="0"/>
  </p:normalViewPr>
  <p:slideViewPr>
    <p:cSldViewPr snapToGrid="0">
      <p:cViewPr>
        <p:scale>
          <a:sx n="75" d="100"/>
          <a:sy n="75" d="100"/>
        </p:scale>
        <p:origin x="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A336C5-3CD6-4E55-A3F1-CCA98157D409}" type="datetimeFigureOut">
              <a:rPr lang="en-US" smtClean="0"/>
              <a:t>10/5/2025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5B1FD-1CA4-4384-853C-3322115CB015}" type="slidenum">
              <a:rPr lang="en-US" smtClean="0"/>
              <a:t>‹#›</a:t>
            </a:fld>
            <a:endParaRPr lang="en-US"/>
          </a:p>
        </p:txBody>
      </p:sp>
    </p:spTree>
    <p:extLst>
      <p:ext uri="{BB962C8B-B14F-4D97-AF65-F5344CB8AC3E}">
        <p14:creationId xmlns:p14="http://schemas.microsoft.com/office/powerpoint/2010/main" val="424070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Gray Scale images preformed poorly, so only the KNN model was tested on them.</a:t>
            </a:r>
          </a:p>
          <a:p>
            <a:r>
              <a:rPr lang="en-US" dirty="0"/>
              <a:t>RBG KNN also preformed poorly, but better than the grey scale</a:t>
            </a:r>
          </a:p>
          <a:p>
            <a:r>
              <a:rPr lang="en-US" dirty="0"/>
              <a:t>RBG random forest preformed significantly better than KNN but had low AUC scores</a:t>
            </a:r>
          </a:p>
          <a:p>
            <a:r>
              <a:rPr lang="en-US" dirty="0"/>
              <a:t>RBG Tensor flow preformed will in all areas except 5-k fold accuracy was low</a:t>
            </a:r>
          </a:p>
          <a:p>
            <a:r>
              <a:rPr lang="en-US" dirty="0"/>
              <a:t>RBG Tensor Flow Grid Search preformed better with AUC scores and had a better k fold mean accuracy</a:t>
            </a:r>
          </a:p>
        </p:txBody>
      </p:sp>
      <p:sp>
        <p:nvSpPr>
          <p:cNvPr id="4" name="Slide Number Placeholder 3"/>
          <p:cNvSpPr>
            <a:spLocks noGrp="1"/>
          </p:cNvSpPr>
          <p:nvPr>
            <p:ph type="sldNum" sz="quarter" idx="5"/>
          </p:nvPr>
        </p:nvSpPr>
        <p:spPr/>
        <p:txBody>
          <a:bodyPr/>
          <a:lstStyle/>
          <a:p>
            <a:fld id="{F045B1FD-1CA4-4384-853C-3322115CB015}" type="slidenum">
              <a:rPr lang="en-US" smtClean="0"/>
              <a:t>8</a:t>
            </a:fld>
            <a:endParaRPr lang="en-US"/>
          </a:p>
        </p:txBody>
      </p:sp>
    </p:spTree>
    <p:extLst>
      <p:ext uri="{BB962C8B-B14F-4D97-AF65-F5344CB8AC3E}">
        <p14:creationId xmlns:p14="http://schemas.microsoft.com/office/powerpoint/2010/main" val="19008560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ROC graphs for the RBG KNN and RF models</a:t>
            </a:r>
          </a:p>
        </p:txBody>
      </p:sp>
      <p:sp>
        <p:nvSpPr>
          <p:cNvPr id="4" name="Slide Number Placeholder 3"/>
          <p:cNvSpPr>
            <a:spLocks noGrp="1"/>
          </p:cNvSpPr>
          <p:nvPr>
            <p:ph type="sldNum" sz="quarter" idx="5"/>
          </p:nvPr>
        </p:nvSpPr>
        <p:spPr/>
        <p:txBody>
          <a:bodyPr/>
          <a:lstStyle/>
          <a:p>
            <a:fld id="{F045B1FD-1CA4-4384-853C-3322115CB015}" type="slidenum">
              <a:rPr lang="en-US" smtClean="0"/>
              <a:t>9</a:t>
            </a:fld>
            <a:endParaRPr lang="en-US"/>
          </a:p>
        </p:txBody>
      </p:sp>
    </p:spTree>
    <p:extLst>
      <p:ext uri="{BB962C8B-B14F-4D97-AF65-F5344CB8AC3E}">
        <p14:creationId xmlns:p14="http://schemas.microsoft.com/office/powerpoint/2010/main" val="1019509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ROC AUC curves for Tensor Flow Models</a:t>
            </a:r>
          </a:p>
        </p:txBody>
      </p:sp>
      <p:sp>
        <p:nvSpPr>
          <p:cNvPr id="4" name="Slide Number Placeholder 3"/>
          <p:cNvSpPr>
            <a:spLocks noGrp="1"/>
          </p:cNvSpPr>
          <p:nvPr>
            <p:ph type="sldNum" sz="quarter" idx="5"/>
          </p:nvPr>
        </p:nvSpPr>
        <p:spPr/>
        <p:txBody>
          <a:bodyPr/>
          <a:lstStyle/>
          <a:p>
            <a:fld id="{F045B1FD-1CA4-4384-853C-3322115CB015}" type="slidenum">
              <a:rPr lang="en-US" smtClean="0"/>
              <a:t>10</a:t>
            </a:fld>
            <a:endParaRPr lang="en-US"/>
          </a:p>
        </p:txBody>
      </p:sp>
    </p:spTree>
    <p:extLst>
      <p:ext uri="{BB962C8B-B14F-4D97-AF65-F5344CB8AC3E}">
        <p14:creationId xmlns:p14="http://schemas.microsoft.com/office/powerpoint/2010/main" val="9935418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KNN and RF confusion Matrix</a:t>
            </a:r>
          </a:p>
        </p:txBody>
      </p:sp>
      <p:sp>
        <p:nvSpPr>
          <p:cNvPr id="4" name="Slide Number Placeholder 3"/>
          <p:cNvSpPr>
            <a:spLocks noGrp="1"/>
          </p:cNvSpPr>
          <p:nvPr>
            <p:ph type="sldNum" sz="quarter" idx="5"/>
          </p:nvPr>
        </p:nvSpPr>
        <p:spPr/>
        <p:txBody>
          <a:bodyPr/>
          <a:lstStyle/>
          <a:p>
            <a:fld id="{F045B1FD-1CA4-4384-853C-3322115CB015}" type="slidenum">
              <a:rPr lang="en-US" smtClean="0"/>
              <a:t>11</a:t>
            </a:fld>
            <a:endParaRPr lang="en-US"/>
          </a:p>
        </p:txBody>
      </p:sp>
    </p:spTree>
    <p:extLst>
      <p:ext uri="{BB962C8B-B14F-4D97-AF65-F5344CB8AC3E}">
        <p14:creationId xmlns:p14="http://schemas.microsoft.com/office/powerpoint/2010/main" val="28534905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Tensor Flow Confusion matrix</a:t>
            </a:r>
          </a:p>
        </p:txBody>
      </p:sp>
      <p:sp>
        <p:nvSpPr>
          <p:cNvPr id="4" name="Slide Number Placeholder 3"/>
          <p:cNvSpPr>
            <a:spLocks noGrp="1"/>
          </p:cNvSpPr>
          <p:nvPr>
            <p:ph type="sldNum" sz="quarter" idx="5"/>
          </p:nvPr>
        </p:nvSpPr>
        <p:spPr/>
        <p:txBody>
          <a:bodyPr/>
          <a:lstStyle/>
          <a:p>
            <a:fld id="{F045B1FD-1CA4-4384-853C-3322115CB015}" type="slidenum">
              <a:rPr lang="en-US" smtClean="0"/>
              <a:t>12</a:t>
            </a:fld>
            <a:endParaRPr lang="en-US"/>
          </a:p>
        </p:txBody>
      </p:sp>
    </p:spTree>
    <p:extLst>
      <p:ext uri="{BB962C8B-B14F-4D97-AF65-F5344CB8AC3E}">
        <p14:creationId xmlns:p14="http://schemas.microsoft.com/office/powerpoint/2010/main" val="40084431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final model created from this analysis performs very well. It has high AUC scores across the six chosen cell types, and an overall accuracy around 0.79.  Looking at the confusion matrix, we can see that the most misclassified images are immature granules. This makes sense because Ig cells are precursors to the other white blood cells and resemble their mature forms. Professional instrumentation also runs into similar classification issues and flags them for manual review. Current instrumentation has trouble recognizing the difference between </a:t>
            </a:r>
            <a:r>
              <a:rPr lang="en-US" sz="1200" kern="1200" dirty="0" err="1">
                <a:solidFill>
                  <a:schemeClr val="tx1"/>
                </a:solidFill>
                <a:effectLst/>
                <a:latin typeface="+mn-lt"/>
                <a:ea typeface="+mn-ea"/>
                <a:cs typeface="+mn-cs"/>
              </a:rPr>
              <a:t>Igs</a:t>
            </a:r>
            <a:r>
              <a:rPr lang="en-US" sz="1200" kern="1200" dirty="0">
                <a:solidFill>
                  <a:schemeClr val="tx1"/>
                </a:solidFill>
                <a:effectLst/>
                <a:latin typeface="+mn-lt"/>
                <a:ea typeface="+mn-ea"/>
                <a:cs typeface="+mn-cs"/>
              </a:rPr>
              <a:t> and mature cells. Also, eosinophils are sometimes typed as neutrophils. This is an ongoing issue in hematology analyzers.</a:t>
            </a:r>
          </a:p>
          <a:p>
            <a:endParaRPr lang="en-US" dirty="0"/>
          </a:p>
        </p:txBody>
      </p:sp>
      <p:sp>
        <p:nvSpPr>
          <p:cNvPr id="4" name="Slide Number Placeholder 3"/>
          <p:cNvSpPr>
            <a:spLocks noGrp="1"/>
          </p:cNvSpPr>
          <p:nvPr>
            <p:ph type="sldNum" sz="quarter" idx="5"/>
          </p:nvPr>
        </p:nvSpPr>
        <p:spPr/>
        <p:txBody>
          <a:bodyPr/>
          <a:lstStyle/>
          <a:p>
            <a:fld id="{F045B1FD-1CA4-4384-853C-3322115CB015}" type="slidenum">
              <a:rPr lang="en-US" smtClean="0"/>
              <a:t>13</a:t>
            </a:fld>
            <a:endParaRPr lang="en-US"/>
          </a:p>
        </p:txBody>
      </p:sp>
    </p:spTree>
    <p:extLst>
      <p:ext uri="{BB962C8B-B14F-4D97-AF65-F5344CB8AC3E}">
        <p14:creationId xmlns:p14="http://schemas.microsoft.com/office/powerpoint/2010/main" val="36660229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main suggestions for further research are to use the full-sized images (224 x 224) instead of scaling them down. Due to memory constraints this was not an option when performing data analysis. Using full size images may remove the discrepancies between Ig cells and other types. Also transforming the images in various ways to create a more robust data set could improve modeling. </a:t>
            </a:r>
          </a:p>
          <a:p>
            <a:r>
              <a:rPr lang="en-US" sz="1200" kern="1200" dirty="0">
                <a:solidFill>
                  <a:schemeClr val="tx1"/>
                </a:solidFill>
                <a:effectLst/>
                <a:latin typeface="+mn-lt"/>
                <a:ea typeface="+mn-ea"/>
                <a:cs typeface="+mn-cs"/>
              </a:rPr>
              <a:t>Image sources could influence modeling too. Using images sourced from the same microscope camera, slides, and stain decrease sample variation. If this model was to be used for diagnosis it would have to specify the microscope, stain and slide types it is compatible with. The model could be more marketable if it can show accurate results when testing cellular data from other microscope types, not just the </a:t>
            </a:r>
            <a:r>
              <a:rPr lang="en-US" sz="1200" kern="1200" dirty="0" err="1">
                <a:solidFill>
                  <a:schemeClr val="tx1"/>
                </a:solidFill>
                <a:effectLst/>
                <a:latin typeface="+mn-lt"/>
                <a:ea typeface="+mn-ea"/>
                <a:cs typeface="+mn-cs"/>
              </a:rPr>
              <a:t>CellaVision</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F045B1FD-1CA4-4384-853C-3322115CB015}" type="slidenum">
              <a:rPr lang="en-US" smtClean="0"/>
              <a:t>14</a:t>
            </a:fld>
            <a:endParaRPr lang="en-US"/>
          </a:p>
        </p:txBody>
      </p:sp>
    </p:spTree>
    <p:extLst>
      <p:ext uri="{BB962C8B-B14F-4D97-AF65-F5344CB8AC3E}">
        <p14:creationId xmlns:p14="http://schemas.microsoft.com/office/powerpoint/2010/main" val="4540371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470D0-54E1-6080-CEF9-B0F683637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4A2EC11-AF47-4316-7A61-5C6C65DD39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B93833-34C4-1090-D3C4-B0BA2715431E}"/>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5" name="Footer Placeholder 4">
            <a:extLst>
              <a:ext uri="{FF2B5EF4-FFF2-40B4-BE49-F238E27FC236}">
                <a16:creationId xmlns:a16="http://schemas.microsoft.com/office/drawing/2014/main" id="{F3F8F6A8-7D52-D0FF-F1BE-69F019F912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39011B-A98E-E906-0441-28B14E901F21}"/>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1554229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32115-BF81-C207-744C-D1AB0BDC66F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BD7F20F-762C-9C0B-1672-824BFC613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2EFDA5-D317-3475-7D0A-E7F0A0845F98}"/>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5" name="Footer Placeholder 4">
            <a:extLst>
              <a:ext uri="{FF2B5EF4-FFF2-40B4-BE49-F238E27FC236}">
                <a16:creationId xmlns:a16="http://schemas.microsoft.com/office/drawing/2014/main" id="{5777C98A-4F1A-4E68-8DB4-223288FEB2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607B71-B79B-97AA-BE56-07F93945B530}"/>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35737949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A4B44-AB88-E8DC-A8D3-1CA9F18F876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7A23C2A-43DC-BCC0-E9AF-2C5303FA99F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DAF50A4-0840-E1E5-E051-BF0AB995F428}"/>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5" name="Footer Placeholder 4">
            <a:extLst>
              <a:ext uri="{FF2B5EF4-FFF2-40B4-BE49-F238E27FC236}">
                <a16:creationId xmlns:a16="http://schemas.microsoft.com/office/drawing/2014/main" id="{7B3BA2EC-79B0-3AD8-54CE-6B72F1BC46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447649-78B5-3DE2-B223-319FDADA4DC5}"/>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947918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C00D9-CFA0-5CD3-B4B8-DE123F27CF0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AB9EAE1-9929-3F6B-2865-0DCEACBF47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FDE01C6-0266-6818-2C7A-09225DED9D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01CA856-2EDA-2E2E-9F63-5B8E41A09B8F}"/>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6" name="Footer Placeholder 5">
            <a:extLst>
              <a:ext uri="{FF2B5EF4-FFF2-40B4-BE49-F238E27FC236}">
                <a16:creationId xmlns:a16="http://schemas.microsoft.com/office/drawing/2014/main" id="{5F1C103B-C458-EDAB-8EF7-09CC770A3B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2212D4-3F81-D31F-C82E-E309E4191709}"/>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3367750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4796-7159-F31A-3D0D-3E5172D6989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23B5084-1479-B8B5-EE85-F7DA074413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D0EC6EB-2E76-D50E-3889-0CBD290830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DBC7D61-0743-4BFE-ABDE-EE9931A673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4605C-BCF2-7FBD-12ED-AB1B2A5CF7A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3106C4-93DC-1DEC-9D56-193C555225BA}"/>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8" name="Footer Placeholder 7">
            <a:extLst>
              <a:ext uri="{FF2B5EF4-FFF2-40B4-BE49-F238E27FC236}">
                <a16:creationId xmlns:a16="http://schemas.microsoft.com/office/drawing/2014/main" id="{50625D2B-B7D8-4918-4A4C-15C8AB7DFBF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9FB4AA0-CB02-C404-E706-B9EB50A42EC7}"/>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33752138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80A25-0706-8141-C720-E22BA1802EC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11C71E9-2907-3390-57D6-9ECAD28E18C4}"/>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4" name="Footer Placeholder 3">
            <a:extLst>
              <a:ext uri="{FF2B5EF4-FFF2-40B4-BE49-F238E27FC236}">
                <a16:creationId xmlns:a16="http://schemas.microsoft.com/office/drawing/2014/main" id="{5FCCED36-DC60-4D72-3110-5D64AE5761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F75019-3C8D-8CE1-ADAC-1CB8721B64B3}"/>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25406590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A96142-6F5A-7B48-2DDC-BE33A163BBC9}"/>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3" name="Footer Placeholder 2">
            <a:extLst>
              <a:ext uri="{FF2B5EF4-FFF2-40B4-BE49-F238E27FC236}">
                <a16:creationId xmlns:a16="http://schemas.microsoft.com/office/drawing/2014/main" id="{DE63582F-9B09-19D0-B835-F78C3DF12A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7EB1E76-76B8-FD6C-4ADE-0B688432C194}"/>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24281470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17CEFA-C10C-F8B7-EA00-0AE480313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032434-7917-798B-CEFD-6A76B5A93C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AD2AF98-3B00-A30E-78E0-88F56F77D8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916E042-540F-2745-3CFE-14FEF14533FB}"/>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6" name="Footer Placeholder 5">
            <a:extLst>
              <a:ext uri="{FF2B5EF4-FFF2-40B4-BE49-F238E27FC236}">
                <a16:creationId xmlns:a16="http://schemas.microsoft.com/office/drawing/2014/main" id="{8D155302-AD8B-4400-034D-7ED4BADFF4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02DC3E-DC4B-A9C2-A8B9-0108DF0C9B61}"/>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1344791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96697-14B5-7757-3BC0-369847BFBA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F0F878-EAAB-15A5-37EE-E67BA56B856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FDBFDAA-3707-DC69-7A88-0C1125571F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B6CE8B-04A8-3126-235D-50456A9ADFFE}"/>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6" name="Footer Placeholder 5">
            <a:extLst>
              <a:ext uri="{FF2B5EF4-FFF2-40B4-BE49-F238E27FC236}">
                <a16:creationId xmlns:a16="http://schemas.microsoft.com/office/drawing/2014/main" id="{96E665FE-D850-44CD-790C-8BF909554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5437A4A-0B82-9D0C-DC0E-709F6B48BA9D}"/>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1180243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5535B-A895-B142-F505-6618C62A885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02C02AC-E2C7-162E-D927-1161A0AAA4D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BA360B-CF4E-8CA5-B460-BD43B965BD89}"/>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5" name="Footer Placeholder 4">
            <a:extLst>
              <a:ext uri="{FF2B5EF4-FFF2-40B4-BE49-F238E27FC236}">
                <a16:creationId xmlns:a16="http://schemas.microsoft.com/office/drawing/2014/main" id="{404ADC05-4FB0-5CB2-A770-8784099824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4CC3AE-F11D-68A4-3FFC-7FCA59C1D191}"/>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13841560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560B5BA-BC9F-EBBD-ED87-5BA3928835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89CBC4-DD8E-5E09-E474-8DF5E7870E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07C345-8330-E77F-B8E9-B665D30C3F05}"/>
              </a:ext>
            </a:extLst>
          </p:cNvPr>
          <p:cNvSpPr>
            <a:spLocks noGrp="1"/>
          </p:cNvSpPr>
          <p:nvPr>
            <p:ph type="dt" sz="half" idx="10"/>
          </p:nvPr>
        </p:nvSpPr>
        <p:spPr/>
        <p:txBody>
          <a:bodyPr/>
          <a:lstStyle/>
          <a:p>
            <a:fld id="{D46BA35E-7A89-45EC-991F-FAEE0F99E70C}" type="datetimeFigureOut">
              <a:rPr lang="en-US" smtClean="0"/>
              <a:t>10/5/2025</a:t>
            </a:fld>
            <a:endParaRPr lang="en-US"/>
          </a:p>
        </p:txBody>
      </p:sp>
      <p:sp>
        <p:nvSpPr>
          <p:cNvPr id="5" name="Footer Placeholder 4">
            <a:extLst>
              <a:ext uri="{FF2B5EF4-FFF2-40B4-BE49-F238E27FC236}">
                <a16:creationId xmlns:a16="http://schemas.microsoft.com/office/drawing/2014/main" id="{AA8C53C6-43B9-1868-1DC0-EB7E256A75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E67A01-FD09-73F9-2418-92CD90E9A254}"/>
              </a:ext>
            </a:extLst>
          </p:cNvPr>
          <p:cNvSpPr>
            <a:spLocks noGrp="1"/>
          </p:cNvSpPr>
          <p:nvPr>
            <p:ph type="sldNum" sz="quarter" idx="12"/>
          </p:nvPr>
        </p:nvSpPr>
        <p:spPr/>
        <p:txBody>
          <a:bodyPr/>
          <a:lstStyle/>
          <a:p>
            <a:fld id="{E05EAB51-3E79-4F38-97FC-C4298A96F585}" type="slidenum">
              <a:rPr lang="en-US" smtClean="0"/>
              <a:t>‹#›</a:t>
            </a:fld>
            <a:endParaRPr lang="en-US"/>
          </a:p>
        </p:txBody>
      </p:sp>
    </p:spTree>
    <p:extLst>
      <p:ext uri="{BB962C8B-B14F-4D97-AF65-F5344CB8AC3E}">
        <p14:creationId xmlns:p14="http://schemas.microsoft.com/office/powerpoint/2010/main" val="3073606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6694F5-5246-5B4B-7F16-F002862CE56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73B8788-1490-D635-563C-D208854241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4F6F6C-3D94-C9B1-D27B-BE51101301B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46BA35E-7A89-45EC-991F-FAEE0F99E70C}" type="datetimeFigureOut">
              <a:rPr lang="en-US" smtClean="0"/>
              <a:t>10/5/2025</a:t>
            </a:fld>
            <a:endParaRPr lang="en-US"/>
          </a:p>
        </p:txBody>
      </p:sp>
      <p:sp>
        <p:nvSpPr>
          <p:cNvPr id="5" name="Footer Placeholder 4">
            <a:extLst>
              <a:ext uri="{FF2B5EF4-FFF2-40B4-BE49-F238E27FC236}">
                <a16:creationId xmlns:a16="http://schemas.microsoft.com/office/drawing/2014/main" id="{0BEA5429-46E9-515B-95E2-E3BFC9FCBE4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1199C3B-E860-57DD-E09F-135BB4D4C3D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05EAB51-3E79-4F38-97FC-C4298A96F585}" type="slidenum">
              <a:rPr lang="en-US" smtClean="0"/>
              <a:t>‹#›</a:t>
            </a:fld>
            <a:endParaRPr lang="en-US"/>
          </a:p>
        </p:txBody>
      </p:sp>
    </p:spTree>
    <p:extLst>
      <p:ext uri="{BB962C8B-B14F-4D97-AF65-F5344CB8AC3E}">
        <p14:creationId xmlns:p14="http://schemas.microsoft.com/office/powerpoint/2010/main" val="2497402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8" name="Group 37">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39" name="Freeform: Shape 38">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40" name="Freeform: Shape 39">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41" name="Freeform: Shape 40">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42">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CEF19E-DC7A-7C9A-1ACF-8AD312E48BC0}"/>
              </a:ext>
            </a:extLst>
          </p:cNvPr>
          <p:cNvSpPr>
            <a:spLocks noGrp="1"/>
          </p:cNvSpPr>
          <p:nvPr>
            <p:ph type="ctrTitle"/>
          </p:nvPr>
        </p:nvSpPr>
        <p:spPr>
          <a:xfrm>
            <a:off x="2242409" y="895483"/>
            <a:ext cx="5786232" cy="3011190"/>
          </a:xfrm>
        </p:spPr>
        <p:txBody>
          <a:bodyPr>
            <a:normAutofit/>
          </a:bodyPr>
          <a:lstStyle/>
          <a:p>
            <a:r>
              <a:rPr lang="en-US" sz="5400">
                <a:solidFill>
                  <a:schemeClr val="bg1"/>
                </a:solidFill>
              </a:rPr>
              <a:t>WBC Image Recognition</a:t>
            </a:r>
          </a:p>
        </p:txBody>
      </p:sp>
      <p:sp>
        <p:nvSpPr>
          <p:cNvPr id="3" name="Subtitle 2">
            <a:extLst>
              <a:ext uri="{FF2B5EF4-FFF2-40B4-BE49-F238E27FC236}">
                <a16:creationId xmlns:a16="http://schemas.microsoft.com/office/drawing/2014/main" id="{02386EA4-2D26-38FC-0537-C51E4364D900}"/>
              </a:ext>
            </a:extLst>
          </p:cNvPr>
          <p:cNvSpPr>
            <a:spLocks noGrp="1"/>
          </p:cNvSpPr>
          <p:nvPr>
            <p:ph type="subTitle" idx="1"/>
          </p:nvPr>
        </p:nvSpPr>
        <p:spPr>
          <a:xfrm>
            <a:off x="2466270" y="4142096"/>
            <a:ext cx="5338511" cy="1055142"/>
          </a:xfrm>
        </p:spPr>
        <p:txBody>
          <a:bodyPr>
            <a:normAutofit/>
          </a:bodyPr>
          <a:lstStyle/>
          <a:p>
            <a:r>
              <a:rPr lang="en-US" sz="2000">
                <a:solidFill>
                  <a:schemeClr val="bg1"/>
                </a:solidFill>
              </a:rPr>
              <a:t>Data Science Capstone Project October 2025</a:t>
            </a:r>
          </a:p>
          <a:p>
            <a:r>
              <a:rPr lang="en-US" sz="2000">
                <a:solidFill>
                  <a:schemeClr val="bg1"/>
                </a:solidFill>
              </a:rPr>
              <a:t>By Jeremy Jex</a:t>
            </a:r>
          </a:p>
        </p:txBody>
      </p:sp>
      <p:sp>
        <p:nvSpPr>
          <p:cNvPr id="44"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5"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46"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5" name="Freeform: Shape 24">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50" name="Oval 49">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1" name="Oval 50">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5" name="Freeform: Shape 34">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7" name="Freeform: Shape 36">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Tree>
    <p:extLst>
      <p:ext uri="{BB962C8B-B14F-4D97-AF65-F5344CB8AC3E}">
        <p14:creationId xmlns:p14="http://schemas.microsoft.com/office/powerpoint/2010/main" val="35492143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CAEBFCD5-5356-4326-8D39-8235A46CD7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0809" y="1187311"/>
            <a:ext cx="5089552" cy="4483379"/>
          </a:xfrm>
          <a:prstGeom prst="rect">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6814848-248A-47DD-88E0-95099D951E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5301" y="1178924"/>
            <a:ext cx="5089552" cy="448337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18BDA89-0D2C-4C4E-99F6-D7A220FE48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3787" y="1130846"/>
            <a:ext cx="5039475" cy="4439266"/>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aphic 38">
            <a:extLst>
              <a:ext uri="{FF2B5EF4-FFF2-40B4-BE49-F238E27FC236}">
                <a16:creationId xmlns:a16="http://schemas.microsoft.com/office/drawing/2014/main" id="{6B67BE95-96EF-433C-9F29-B0732AA6B6A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3040" y="1424181"/>
            <a:ext cx="1355538" cy="503582"/>
            <a:chOff x="2267504" y="2540250"/>
            <a:chExt cx="1990951" cy="739640"/>
          </a:xfrm>
          <a:solidFill>
            <a:schemeClr val="bg1"/>
          </a:solidFill>
        </p:grpSpPr>
        <p:sp>
          <p:nvSpPr>
            <p:cNvPr id="17" name="Freeform: Shape 16">
              <a:extLst>
                <a:ext uri="{FF2B5EF4-FFF2-40B4-BE49-F238E27FC236}">
                  <a16:creationId xmlns:a16="http://schemas.microsoft.com/office/drawing/2014/main" id="{AD324976-1596-4B76-A61C-5626816B24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18" name="Freeform: Shape 17">
              <a:extLst>
                <a:ext uri="{FF2B5EF4-FFF2-40B4-BE49-F238E27FC236}">
                  <a16:creationId xmlns:a16="http://schemas.microsoft.com/office/drawing/2014/main" id="{C44DEF24-FB22-48A2-8257-B97AD7E1AA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20" name="Graphic 212">
            <a:extLst>
              <a:ext uri="{FF2B5EF4-FFF2-40B4-BE49-F238E27FC236}">
                <a16:creationId xmlns:a16="http://schemas.microsoft.com/office/drawing/2014/main" id="{7CE98B01-ED41-482F-AFA1-19C7FA7C04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02502" y="629793"/>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B9CABDD0-8DF6-4974-A224-9A2A81778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02502" y="629793"/>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4" name="Graphic 4">
            <a:extLst>
              <a:ext uri="{FF2B5EF4-FFF2-40B4-BE49-F238E27FC236}">
                <a16:creationId xmlns:a16="http://schemas.microsoft.com/office/drawing/2014/main" id="{D6E8B984-55B9-4A62-A043-997D00F0AE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532680" y="5188771"/>
            <a:ext cx="1076787" cy="1076789"/>
            <a:chOff x="5829300" y="3162300"/>
            <a:chExt cx="532256" cy="532257"/>
          </a:xfrm>
          <a:solidFill>
            <a:schemeClr val="bg1"/>
          </a:solidFill>
        </p:grpSpPr>
        <p:sp>
          <p:nvSpPr>
            <p:cNvPr id="25" name="Freeform: Shape 24">
              <a:extLst>
                <a:ext uri="{FF2B5EF4-FFF2-40B4-BE49-F238E27FC236}">
                  <a16:creationId xmlns:a16="http://schemas.microsoft.com/office/drawing/2014/main" id="{D4FAF4A8-82EB-4F6F-B601-43EBF0BD12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6F2473F-E069-4558-9B41-E285BBE030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FC9A4A76-2C9F-486C-9663-6A30A022DE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8431DC7-D4CB-479A-AFA4-5B0C597A2E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30755DA1-6F28-4612-A4A7-B915468C6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4616ED79-5475-49E6-A5FE-8D9DB12FB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1DCEB47-7140-4682-8DBF-7667BE28F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931BD3-5A56-42F2-B6B5-647B28D1CF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820E4C8E-4190-498D-9556-6DA668A81F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54B2F30F-0B57-4D60-A087-CD6A471F68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FC5E8C73-ED41-4214-AEE6-3C5F493846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B1F94534-FE3E-476C-870B-E714E4A668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8DE6C1B0-4D58-4937-B2B7-B1207CA18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2" name="Title 1">
            <a:extLst>
              <a:ext uri="{FF2B5EF4-FFF2-40B4-BE49-F238E27FC236}">
                <a16:creationId xmlns:a16="http://schemas.microsoft.com/office/drawing/2014/main" id="{C78FC086-7435-9743-33EE-3A60600656A3}"/>
              </a:ext>
            </a:extLst>
          </p:cNvPr>
          <p:cNvSpPr>
            <a:spLocks noGrp="1"/>
          </p:cNvSpPr>
          <p:nvPr>
            <p:ph type="title"/>
          </p:nvPr>
        </p:nvSpPr>
        <p:spPr>
          <a:xfrm>
            <a:off x="838200" y="1391619"/>
            <a:ext cx="4905401" cy="4042196"/>
          </a:xfrm>
        </p:spPr>
        <p:txBody>
          <a:bodyPr>
            <a:normAutofit/>
          </a:bodyPr>
          <a:lstStyle/>
          <a:p>
            <a:pPr algn="ctr"/>
            <a:r>
              <a:rPr lang="en-US">
                <a:solidFill>
                  <a:schemeClr val="bg1"/>
                </a:solidFill>
              </a:rPr>
              <a:t>WBCs Imaging Medical Importance</a:t>
            </a:r>
          </a:p>
        </p:txBody>
      </p:sp>
      <p:sp>
        <p:nvSpPr>
          <p:cNvPr id="3" name="Content Placeholder 2">
            <a:extLst>
              <a:ext uri="{FF2B5EF4-FFF2-40B4-BE49-F238E27FC236}">
                <a16:creationId xmlns:a16="http://schemas.microsoft.com/office/drawing/2014/main" id="{D7AA1D14-0B16-060D-B9FE-CC32BBDEC5BC}"/>
              </a:ext>
            </a:extLst>
          </p:cNvPr>
          <p:cNvSpPr>
            <a:spLocks noGrp="1"/>
          </p:cNvSpPr>
          <p:nvPr>
            <p:ph idx="1"/>
          </p:nvPr>
        </p:nvSpPr>
        <p:spPr>
          <a:xfrm>
            <a:off x="6477270" y="1130846"/>
            <a:ext cx="4974771" cy="4351338"/>
          </a:xfrm>
        </p:spPr>
        <p:txBody>
          <a:bodyPr>
            <a:normAutofit/>
          </a:bodyPr>
          <a:lstStyle/>
          <a:p>
            <a:pPr marL="0" indent="0">
              <a:buNone/>
            </a:pPr>
            <a:r>
              <a:rPr lang="en-US" sz="2000">
                <a:solidFill>
                  <a:schemeClr val="bg1"/>
                </a:solidFill>
              </a:rPr>
              <a:t>In Medical laboratory science white blood cells (WBCs) are used to diagnose medical conditions. </a:t>
            </a:r>
          </a:p>
          <a:p>
            <a:r>
              <a:rPr lang="en-US" sz="2000">
                <a:solidFill>
                  <a:schemeClr val="bg1"/>
                </a:solidFill>
              </a:rPr>
              <a:t>A blood smear is prepared on a glass slide and then analyzed under a microscope. </a:t>
            </a:r>
          </a:p>
          <a:p>
            <a:r>
              <a:rPr lang="en-US" sz="2000">
                <a:solidFill>
                  <a:schemeClr val="bg1"/>
                </a:solidFill>
              </a:rPr>
              <a:t>The laboratory professional then counts at least 100 WBCs to create a percentage that is multiplied by the total number of WBCs per volume of blood. </a:t>
            </a:r>
          </a:p>
          <a:p>
            <a:r>
              <a:rPr lang="en-US" sz="2000">
                <a:solidFill>
                  <a:schemeClr val="bg1"/>
                </a:solidFill>
              </a:rPr>
              <a:t>This creates WBC absolute counts that are sent to the doctor to create a diagnosis. This process is called a manual (WBC) differential.</a:t>
            </a:r>
          </a:p>
          <a:p>
            <a:endParaRPr lang="en-US" sz="2000">
              <a:solidFill>
                <a:schemeClr val="bg1"/>
              </a:solidFill>
            </a:endParaRPr>
          </a:p>
        </p:txBody>
      </p:sp>
    </p:spTree>
    <p:extLst>
      <p:ext uri="{BB962C8B-B14F-4D97-AF65-F5344CB8AC3E}">
        <p14:creationId xmlns:p14="http://schemas.microsoft.com/office/powerpoint/2010/main" val="6390692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CAEBFCD5-5356-4326-8D39-8235A46CD7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0809" y="1187311"/>
            <a:ext cx="5089552" cy="4483379"/>
          </a:xfrm>
          <a:prstGeom prst="rect">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6814848-248A-47DD-88E0-95099D951E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5301" y="1178924"/>
            <a:ext cx="5089552" cy="448337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18BDA89-0D2C-4C4E-99F6-D7A220FE48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3787" y="1130846"/>
            <a:ext cx="5039475" cy="4439266"/>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aphic 38">
            <a:extLst>
              <a:ext uri="{FF2B5EF4-FFF2-40B4-BE49-F238E27FC236}">
                <a16:creationId xmlns:a16="http://schemas.microsoft.com/office/drawing/2014/main" id="{6B67BE95-96EF-433C-9F29-B0732AA6B6A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3040" y="1424181"/>
            <a:ext cx="1355538" cy="503582"/>
            <a:chOff x="2267504" y="2540250"/>
            <a:chExt cx="1990951" cy="739640"/>
          </a:xfrm>
          <a:solidFill>
            <a:schemeClr val="bg1"/>
          </a:solidFill>
        </p:grpSpPr>
        <p:sp>
          <p:nvSpPr>
            <p:cNvPr id="17" name="Freeform: Shape 16">
              <a:extLst>
                <a:ext uri="{FF2B5EF4-FFF2-40B4-BE49-F238E27FC236}">
                  <a16:creationId xmlns:a16="http://schemas.microsoft.com/office/drawing/2014/main" id="{AD324976-1596-4B76-A61C-5626816B24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18" name="Freeform: Shape 17">
              <a:extLst>
                <a:ext uri="{FF2B5EF4-FFF2-40B4-BE49-F238E27FC236}">
                  <a16:creationId xmlns:a16="http://schemas.microsoft.com/office/drawing/2014/main" id="{C44DEF24-FB22-48A2-8257-B97AD7E1AA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20" name="Graphic 212">
            <a:extLst>
              <a:ext uri="{FF2B5EF4-FFF2-40B4-BE49-F238E27FC236}">
                <a16:creationId xmlns:a16="http://schemas.microsoft.com/office/drawing/2014/main" id="{7CE98B01-ED41-482F-AFA1-19C7FA7C04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02502" y="629793"/>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B9CABDD0-8DF6-4974-A224-9A2A81778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02502" y="629793"/>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4" name="Graphic 4">
            <a:extLst>
              <a:ext uri="{FF2B5EF4-FFF2-40B4-BE49-F238E27FC236}">
                <a16:creationId xmlns:a16="http://schemas.microsoft.com/office/drawing/2014/main" id="{D6E8B984-55B9-4A62-A043-997D00F0AE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532680" y="5188771"/>
            <a:ext cx="1076787" cy="1076789"/>
            <a:chOff x="5829300" y="3162300"/>
            <a:chExt cx="532256" cy="532257"/>
          </a:xfrm>
          <a:solidFill>
            <a:schemeClr val="bg1"/>
          </a:solidFill>
        </p:grpSpPr>
        <p:sp>
          <p:nvSpPr>
            <p:cNvPr id="25" name="Freeform: Shape 24">
              <a:extLst>
                <a:ext uri="{FF2B5EF4-FFF2-40B4-BE49-F238E27FC236}">
                  <a16:creationId xmlns:a16="http://schemas.microsoft.com/office/drawing/2014/main" id="{D4FAF4A8-82EB-4F6F-B601-43EBF0BD12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6F2473F-E069-4558-9B41-E285BBE030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FC9A4A76-2C9F-486C-9663-6A30A022DE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8431DC7-D4CB-479A-AFA4-5B0C597A2E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30755DA1-6F28-4612-A4A7-B915468C6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4616ED79-5475-49E6-A5FE-8D9DB12FB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1DCEB47-7140-4682-8DBF-7667BE28F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931BD3-5A56-42F2-B6B5-647B28D1CF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820E4C8E-4190-498D-9556-6DA668A81F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54B2F30F-0B57-4D60-A087-CD6A471F68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FC5E8C73-ED41-4214-AEE6-3C5F493846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B1F94534-FE3E-476C-870B-E714E4A668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8DE6C1B0-4D58-4937-B2B7-B1207CA18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2" name="Title 1">
            <a:extLst>
              <a:ext uri="{FF2B5EF4-FFF2-40B4-BE49-F238E27FC236}">
                <a16:creationId xmlns:a16="http://schemas.microsoft.com/office/drawing/2014/main" id="{1067817C-9EBD-B1B7-2C4C-12F8C95714F9}"/>
              </a:ext>
            </a:extLst>
          </p:cNvPr>
          <p:cNvSpPr>
            <a:spLocks noGrp="1"/>
          </p:cNvSpPr>
          <p:nvPr>
            <p:ph type="title"/>
          </p:nvPr>
        </p:nvSpPr>
        <p:spPr>
          <a:xfrm>
            <a:off x="838200" y="1391619"/>
            <a:ext cx="4905401" cy="4042196"/>
          </a:xfrm>
        </p:spPr>
        <p:txBody>
          <a:bodyPr>
            <a:normAutofit/>
          </a:bodyPr>
          <a:lstStyle/>
          <a:p>
            <a:pPr algn="ctr"/>
            <a:r>
              <a:rPr lang="en-US">
                <a:solidFill>
                  <a:schemeClr val="bg1"/>
                </a:solidFill>
              </a:rPr>
              <a:t>Importance of Automated WBC Image Recognition</a:t>
            </a:r>
          </a:p>
        </p:txBody>
      </p:sp>
      <p:sp>
        <p:nvSpPr>
          <p:cNvPr id="3" name="Content Placeholder 2">
            <a:extLst>
              <a:ext uri="{FF2B5EF4-FFF2-40B4-BE49-F238E27FC236}">
                <a16:creationId xmlns:a16="http://schemas.microsoft.com/office/drawing/2014/main" id="{517AEB8D-B9EE-A423-BA17-D689B6760E9E}"/>
              </a:ext>
            </a:extLst>
          </p:cNvPr>
          <p:cNvSpPr>
            <a:spLocks noGrp="1"/>
          </p:cNvSpPr>
          <p:nvPr>
            <p:ph idx="1"/>
          </p:nvPr>
        </p:nvSpPr>
        <p:spPr>
          <a:xfrm>
            <a:off x="6477270" y="1130846"/>
            <a:ext cx="4974771" cy="4351338"/>
          </a:xfrm>
        </p:spPr>
        <p:txBody>
          <a:bodyPr>
            <a:normAutofit/>
          </a:bodyPr>
          <a:lstStyle/>
          <a:p>
            <a:r>
              <a:rPr lang="en-US" dirty="0">
                <a:solidFill>
                  <a:schemeClr val="bg1"/>
                </a:solidFill>
              </a:rPr>
              <a:t>Medical laboratories are short staffed</a:t>
            </a:r>
          </a:p>
          <a:p>
            <a:r>
              <a:rPr lang="en-US" dirty="0">
                <a:solidFill>
                  <a:schemeClr val="bg1"/>
                </a:solidFill>
              </a:rPr>
              <a:t>Automation allows lab staff to run testing simultaneously</a:t>
            </a:r>
          </a:p>
          <a:p>
            <a:r>
              <a:rPr lang="en-US" dirty="0">
                <a:solidFill>
                  <a:schemeClr val="bg1"/>
                </a:solidFill>
              </a:rPr>
              <a:t>Faster turn around times</a:t>
            </a:r>
          </a:p>
          <a:p>
            <a:r>
              <a:rPr lang="en-US" dirty="0">
                <a:solidFill>
                  <a:schemeClr val="bg1"/>
                </a:solidFill>
              </a:rPr>
              <a:t>More specimens processed with limited staff</a:t>
            </a:r>
          </a:p>
          <a:p>
            <a:r>
              <a:rPr lang="en-US" dirty="0">
                <a:solidFill>
                  <a:schemeClr val="bg1"/>
                </a:solidFill>
              </a:rPr>
              <a:t>Faster patient diagnosis times</a:t>
            </a:r>
          </a:p>
          <a:p>
            <a:pPr marL="0" indent="0">
              <a:buNone/>
            </a:pPr>
            <a:endParaRPr lang="en-US" dirty="0">
              <a:solidFill>
                <a:schemeClr val="bg1"/>
              </a:solidFill>
            </a:endParaRPr>
          </a:p>
        </p:txBody>
      </p:sp>
    </p:spTree>
    <p:extLst>
      <p:ext uri="{BB962C8B-B14F-4D97-AF65-F5344CB8AC3E}">
        <p14:creationId xmlns:p14="http://schemas.microsoft.com/office/powerpoint/2010/main" val="17927939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Oval 39">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5FF333-1B9D-4C8A-790B-78D74E33BB9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WBC Types in Data Set</a:t>
            </a:r>
          </a:p>
        </p:txBody>
      </p:sp>
      <p:grpSp>
        <p:nvGrpSpPr>
          <p:cNvPr id="43" name="Group 42">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44" name="Freeform: Shape 43">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45" name="Freeform: Shape 44">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46"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7"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8" name="Oval 47">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9" name="Oval 48">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B9D1F444-7B52-05AB-B95A-6CBB11673FFA}"/>
              </a:ext>
            </a:extLst>
          </p:cNvPr>
          <p:cNvSpPr>
            <a:spLocks noGrp="1"/>
          </p:cNvSpPr>
          <p:nvPr>
            <p:ph idx="1"/>
          </p:nvPr>
        </p:nvSpPr>
        <p:spPr>
          <a:xfrm>
            <a:off x="6234868" y="1130846"/>
            <a:ext cx="5217173" cy="4351338"/>
          </a:xfrm>
        </p:spPr>
        <p:txBody>
          <a:bodyPr>
            <a:noAutofit/>
          </a:bodyPr>
          <a:lstStyle/>
          <a:p>
            <a:pPr marL="0" indent="0">
              <a:buNone/>
            </a:pPr>
            <a:r>
              <a:rPr lang="en-US" sz="1800" dirty="0">
                <a:solidFill>
                  <a:schemeClr val="bg1"/>
                </a:solidFill>
              </a:rPr>
              <a:t>This project looks at six types of WBCs:</a:t>
            </a:r>
          </a:p>
          <a:p>
            <a:pPr lvl="0"/>
            <a:r>
              <a:rPr lang="en-US" sz="1800" b="1" dirty="0">
                <a:solidFill>
                  <a:schemeClr val="bg1"/>
                </a:solidFill>
              </a:rPr>
              <a:t>Immature Granules</a:t>
            </a:r>
            <a:r>
              <a:rPr lang="en-US" sz="1800" dirty="0">
                <a:solidFill>
                  <a:schemeClr val="bg1"/>
                </a:solidFill>
              </a:rPr>
              <a:t>- These are precursors to mature white blood cells, and their presence indicates infection or cancer.</a:t>
            </a:r>
          </a:p>
          <a:p>
            <a:pPr lvl="0"/>
            <a:r>
              <a:rPr lang="en-US" sz="1800" b="1" dirty="0">
                <a:solidFill>
                  <a:schemeClr val="bg1"/>
                </a:solidFill>
              </a:rPr>
              <a:t>Basophil</a:t>
            </a:r>
            <a:r>
              <a:rPr lang="en-US" sz="1800" dirty="0">
                <a:solidFill>
                  <a:schemeClr val="bg1"/>
                </a:solidFill>
              </a:rPr>
              <a:t>- These are associated with allergies.</a:t>
            </a:r>
          </a:p>
          <a:p>
            <a:pPr lvl="0"/>
            <a:r>
              <a:rPr lang="en-US" sz="1800" b="1" dirty="0">
                <a:solidFill>
                  <a:schemeClr val="bg1"/>
                </a:solidFill>
              </a:rPr>
              <a:t>Eosinophils</a:t>
            </a:r>
            <a:r>
              <a:rPr lang="en-US" sz="1800" dirty="0">
                <a:solidFill>
                  <a:schemeClr val="bg1"/>
                </a:solidFill>
              </a:rPr>
              <a:t>- These are associated with allergies.</a:t>
            </a:r>
          </a:p>
          <a:p>
            <a:pPr lvl="0"/>
            <a:r>
              <a:rPr lang="en-US" sz="1800" b="1" dirty="0">
                <a:solidFill>
                  <a:schemeClr val="bg1"/>
                </a:solidFill>
              </a:rPr>
              <a:t>Lymphocytes</a:t>
            </a:r>
            <a:r>
              <a:rPr lang="en-US" sz="1800" dirty="0">
                <a:solidFill>
                  <a:schemeClr val="bg1"/>
                </a:solidFill>
              </a:rPr>
              <a:t>- These create a specific immune response by creating antibodies. They are also known as B cells, T cells, and Plasma cells. </a:t>
            </a:r>
          </a:p>
          <a:p>
            <a:pPr lvl="0"/>
            <a:r>
              <a:rPr lang="en-US" sz="1800" b="1" dirty="0">
                <a:solidFill>
                  <a:schemeClr val="bg1"/>
                </a:solidFill>
              </a:rPr>
              <a:t>Neutrophils</a:t>
            </a:r>
            <a:r>
              <a:rPr lang="en-US" sz="1800" dirty="0">
                <a:solidFill>
                  <a:schemeClr val="bg1"/>
                </a:solidFill>
              </a:rPr>
              <a:t>- These respond to general bacterial infections and nonspecific immune reactions.</a:t>
            </a:r>
          </a:p>
          <a:p>
            <a:pPr lvl="0"/>
            <a:r>
              <a:rPr lang="en-US" sz="1800" b="1" dirty="0">
                <a:solidFill>
                  <a:schemeClr val="bg1"/>
                </a:solidFill>
              </a:rPr>
              <a:t>Monocytes</a:t>
            </a:r>
            <a:r>
              <a:rPr lang="en-US" sz="1800" dirty="0">
                <a:solidFill>
                  <a:schemeClr val="bg1"/>
                </a:solidFill>
              </a:rPr>
              <a:t>- These WBCs phagocytize pathogens. They are also known as mast cells when found in tissues.</a:t>
            </a:r>
          </a:p>
          <a:p>
            <a:endParaRPr lang="en-US" sz="1800" dirty="0">
              <a:solidFill>
                <a:schemeClr val="bg1"/>
              </a:solidFill>
            </a:endParaRPr>
          </a:p>
        </p:txBody>
      </p:sp>
      <p:grpSp>
        <p:nvGrpSpPr>
          <p:cNvPr id="50"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51" name="Freeform: Shape 50">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4364048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8ECF52-CFD0-8EE9-B17D-FB02AD8F0A9F}"/>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Data Set</a:t>
            </a:r>
          </a:p>
        </p:txBody>
      </p:sp>
      <p:grpSp>
        <p:nvGrpSpPr>
          <p:cNvPr id="16" name="Group 15">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2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97931082-889B-6642-CC53-933FF41282EC}"/>
              </a:ext>
            </a:extLst>
          </p:cNvPr>
          <p:cNvSpPr>
            <a:spLocks noGrp="1"/>
          </p:cNvSpPr>
          <p:nvPr>
            <p:ph idx="1"/>
          </p:nvPr>
        </p:nvSpPr>
        <p:spPr>
          <a:xfrm>
            <a:off x="6234868" y="1130846"/>
            <a:ext cx="5217173" cy="4351338"/>
          </a:xfrm>
        </p:spPr>
        <p:txBody>
          <a:bodyPr>
            <a:normAutofit/>
          </a:bodyPr>
          <a:lstStyle/>
          <a:p>
            <a:r>
              <a:rPr lang="en-US" dirty="0">
                <a:solidFill>
                  <a:schemeClr val="bg1"/>
                </a:solidFill>
              </a:rPr>
              <a:t>Kaggle Data Set</a:t>
            </a:r>
          </a:p>
          <a:p>
            <a:r>
              <a:rPr lang="en-US" dirty="0">
                <a:solidFill>
                  <a:schemeClr val="bg1"/>
                </a:solidFill>
              </a:rPr>
              <a:t>17,092 </a:t>
            </a:r>
            <a:r>
              <a:rPr lang="en-US" dirty="0" err="1">
                <a:solidFill>
                  <a:schemeClr val="bg1"/>
                </a:solidFill>
              </a:rPr>
              <a:t>CellaVision</a:t>
            </a:r>
            <a:r>
              <a:rPr lang="en-US" dirty="0">
                <a:solidFill>
                  <a:schemeClr val="bg1"/>
                </a:solidFill>
              </a:rPr>
              <a:t> DM96 Images</a:t>
            </a:r>
          </a:p>
          <a:p>
            <a:pPr lvl="1"/>
            <a:r>
              <a:rPr lang="en-US" dirty="0">
                <a:solidFill>
                  <a:schemeClr val="bg1"/>
                </a:solidFill>
              </a:rPr>
              <a:t>Erythroblasts and platelet images were not included in EDA or modeling</a:t>
            </a:r>
          </a:p>
          <a:p>
            <a:r>
              <a:rPr lang="en-US" dirty="0">
                <a:solidFill>
                  <a:schemeClr val="bg1"/>
                </a:solidFill>
              </a:rPr>
              <a:t>224 x 224 color pixel images</a:t>
            </a:r>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3179798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CAEBFCD5-5356-4326-8D39-8235A46CD7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0809" y="1187311"/>
            <a:ext cx="5089552" cy="4483379"/>
          </a:xfrm>
          <a:prstGeom prst="rect">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6814848-248A-47DD-88E0-95099D951E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5301" y="1178924"/>
            <a:ext cx="5089552" cy="448337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718BDA89-0D2C-4C4E-99F6-D7A220FE48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3787" y="1130846"/>
            <a:ext cx="5039475" cy="4439266"/>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aphic 38">
            <a:extLst>
              <a:ext uri="{FF2B5EF4-FFF2-40B4-BE49-F238E27FC236}">
                <a16:creationId xmlns:a16="http://schemas.microsoft.com/office/drawing/2014/main" id="{6B67BE95-96EF-433C-9F29-B0732AA6B6A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3040" y="1424181"/>
            <a:ext cx="1355538" cy="503582"/>
            <a:chOff x="2267504" y="2540250"/>
            <a:chExt cx="1990951" cy="739640"/>
          </a:xfrm>
          <a:solidFill>
            <a:schemeClr val="bg1"/>
          </a:solidFill>
        </p:grpSpPr>
        <p:sp>
          <p:nvSpPr>
            <p:cNvPr id="43" name="Freeform: Shape 42">
              <a:extLst>
                <a:ext uri="{FF2B5EF4-FFF2-40B4-BE49-F238E27FC236}">
                  <a16:creationId xmlns:a16="http://schemas.microsoft.com/office/drawing/2014/main" id="{AD324976-1596-4B76-A61C-5626816B24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C44DEF24-FB22-48A2-8257-B97AD7E1AA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45" name="Graphic 212">
            <a:extLst>
              <a:ext uri="{FF2B5EF4-FFF2-40B4-BE49-F238E27FC236}">
                <a16:creationId xmlns:a16="http://schemas.microsoft.com/office/drawing/2014/main" id="{7CE98B01-ED41-482F-AFA1-19C7FA7C04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02502" y="629793"/>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6" name="Graphic 212">
            <a:extLst>
              <a:ext uri="{FF2B5EF4-FFF2-40B4-BE49-F238E27FC236}">
                <a16:creationId xmlns:a16="http://schemas.microsoft.com/office/drawing/2014/main" id="{B9CABDD0-8DF6-4974-A224-9A2A81778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02502" y="629793"/>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47" name="Graphic 4">
            <a:extLst>
              <a:ext uri="{FF2B5EF4-FFF2-40B4-BE49-F238E27FC236}">
                <a16:creationId xmlns:a16="http://schemas.microsoft.com/office/drawing/2014/main" id="{D6E8B984-55B9-4A62-A043-997D00F0AE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532680" y="5188771"/>
            <a:ext cx="1076787" cy="1076789"/>
            <a:chOff x="5829300" y="3162300"/>
            <a:chExt cx="532256" cy="532257"/>
          </a:xfrm>
          <a:solidFill>
            <a:schemeClr val="bg1"/>
          </a:solidFill>
        </p:grpSpPr>
        <p:sp>
          <p:nvSpPr>
            <p:cNvPr id="48" name="Freeform: Shape 47">
              <a:extLst>
                <a:ext uri="{FF2B5EF4-FFF2-40B4-BE49-F238E27FC236}">
                  <a16:creationId xmlns:a16="http://schemas.microsoft.com/office/drawing/2014/main" id="{D4FAF4A8-82EB-4F6F-B601-43EBF0BD12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26F2473F-E069-4558-9B41-E285BBE030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FC9A4A76-2C9F-486C-9663-6A30A022DE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8431DC7-D4CB-479A-AFA4-5B0C597A2E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30755DA1-6F28-4612-A4A7-B915468C6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4616ED79-5475-49E6-A5FE-8D9DB12FB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1DCEB47-7140-4682-8DBF-7667BE28F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931BD3-5A56-42F2-B6B5-647B28D1CF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820E4C8E-4190-498D-9556-6DA668A81F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54B2F30F-0B57-4D60-A087-CD6A471F68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FC5E8C73-ED41-4214-AEE6-3C5F493846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B1F94534-FE3E-476C-870B-E714E4A668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8DE6C1B0-4D58-4937-B2B7-B1207CA18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2" name="Title 1">
            <a:extLst>
              <a:ext uri="{FF2B5EF4-FFF2-40B4-BE49-F238E27FC236}">
                <a16:creationId xmlns:a16="http://schemas.microsoft.com/office/drawing/2014/main" id="{ED27EEF6-8202-62FA-E3E9-1555A7EB52A3}"/>
              </a:ext>
            </a:extLst>
          </p:cNvPr>
          <p:cNvSpPr>
            <a:spLocks noGrp="1"/>
          </p:cNvSpPr>
          <p:nvPr>
            <p:ph type="title"/>
          </p:nvPr>
        </p:nvSpPr>
        <p:spPr>
          <a:xfrm>
            <a:off x="838200" y="1391619"/>
            <a:ext cx="4905401" cy="4042196"/>
          </a:xfrm>
        </p:spPr>
        <p:txBody>
          <a:bodyPr>
            <a:normAutofit/>
          </a:bodyPr>
          <a:lstStyle/>
          <a:p>
            <a:pPr algn="ctr"/>
            <a:r>
              <a:rPr lang="en-US">
                <a:solidFill>
                  <a:schemeClr val="bg1"/>
                </a:solidFill>
              </a:rPr>
              <a:t>Data Wrangling</a:t>
            </a:r>
          </a:p>
        </p:txBody>
      </p:sp>
      <p:sp>
        <p:nvSpPr>
          <p:cNvPr id="3" name="Content Placeholder 2">
            <a:extLst>
              <a:ext uri="{FF2B5EF4-FFF2-40B4-BE49-F238E27FC236}">
                <a16:creationId xmlns:a16="http://schemas.microsoft.com/office/drawing/2014/main" id="{9E638F3A-F982-E702-18A7-A4CEC875E6DC}"/>
              </a:ext>
            </a:extLst>
          </p:cNvPr>
          <p:cNvSpPr>
            <a:spLocks noGrp="1"/>
          </p:cNvSpPr>
          <p:nvPr>
            <p:ph idx="1"/>
          </p:nvPr>
        </p:nvSpPr>
        <p:spPr>
          <a:xfrm>
            <a:off x="6477270" y="1130846"/>
            <a:ext cx="4974771" cy="4351338"/>
          </a:xfrm>
        </p:spPr>
        <p:txBody>
          <a:bodyPr>
            <a:noAutofit/>
          </a:bodyPr>
          <a:lstStyle/>
          <a:p>
            <a:r>
              <a:rPr lang="en-US" sz="2400" dirty="0">
                <a:solidFill>
                  <a:schemeClr val="bg1"/>
                </a:solidFill>
              </a:rPr>
              <a:t>Cell types were confirmed to be labeled correctly</a:t>
            </a:r>
          </a:p>
          <a:p>
            <a:r>
              <a:rPr lang="en-US" sz="2400" dirty="0">
                <a:solidFill>
                  <a:schemeClr val="bg1"/>
                </a:solidFill>
              </a:rPr>
              <a:t>Images were resized to 64 x 64 pixels</a:t>
            </a:r>
          </a:p>
          <a:p>
            <a:pPr lvl="1"/>
            <a:r>
              <a:rPr lang="en-US" dirty="0">
                <a:solidFill>
                  <a:schemeClr val="bg1"/>
                </a:solidFill>
              </a:rPr>
              <a:t>Grey scale and RBG image sets were created</a:t>
            </a:r>
          </a:p>
          <a:p>
            <a:r>
              <a:rPr lang="en-US" sz="2400" dirty="0">
                <a:solidFill>
                  <a:schemeClr val="bg1"/>
                </a:solidFill>
              </a:rPr>
              <a:t>Images were made into arrays, flattened and scaled by dividing by 255</a:t>
            </a:r>
          </a:p>
          <a:p>
            <a:r>
              <a:rPr lang="en-US" sz="2400" dirty="0">
                <a:solidFill>
                  <a:schemeClr val="bg1"/>
                </a:solidFill>
              </a:rPr>
              <a:t>Grey scale and RBG Pandas data frames were created using scaled arrays</a:t>
            </a:r>
          </a:p>
        </p:txBody>
      </p:sp>
    </p:spTree>
    <p:extLst>
      <p:ext uri="{BB962C8B-B14F-4D97-AF65-F5344CB8AC3E}">
        <p14:creationId xmlns:p14="http://schemas.microsoft.com/office/powerpoint/2010/main" val="27233952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E93453-3087-EBB3-7B88-B0C0A342CEFF}"/>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Modeling</a:t>
            </a:r>
          </a:p>
        </p:txBody>
      </p:sp>
      <p:grpSp>
        <p:nvGrpSpPr>
          <p:cNvPr id="16" name="Group 15">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2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BA9D17CD-8514-F5B4-0287-5BA20AA6C20B}"/>
              </a:ext>
            </a:extLst>
          </p:cNvPr>
          <p:cNvSpPr>
            <a:spLocks noGrp="1"/>
          </p:cNvSpPr>
          <p:nvPr>
            <p:ph idx="1"/>
          </p:nvPr>
        </p:nvSpPr>
        <p:spPr>
          <a:xfrm>
            <a:off x="6234868" y="1130846"/>
            <a:ext cx="5217173" cy="4351338"/>
          </a:xfrm>
        </p:spPr>
        <p:txBody>
          <a:bodyPr>
            <a:normAutofit/>
          </a:bodyPr>
          <a:lstStyle/>
          <a:p>
            <a:pPr marL="0" indent="0">
              <a:buNone/>
            </a:pPr>
            <a:r>
              <a:rPr lang="en-US" sz="2600" dirty="0">
                <a:solidFill>
                  <a:schemeClr val="bg1"/>
                </a:solidFill>
              </a:rPr>
              <a:t>The following models were created.</a:t>
            </a:r>
          </a:p>
          <a:p>
            <a:r>
              <a:rPr lang="en-US" sz="2600" dirty="0">
                <a:solidFill>
                  <a:schemeClr val="bg1"/>
                </a:solidFill>
              </a:rPr>
              <a:t>K Nearest Neighbor Grey Scale Data Frame</a:t>
            </a:r>
          </a:p>
          <a:p>
            <a:r>
              <a:rPr lang="en-US" sz="2600" dirty="0">
                <a:solidFill>
                  <a:schemeClr val="bg1"/>
                </a:solidFill>
              </a:rPr>
              <a:t>K Nearest Neighbor RBG Data Frame</a:t>
            </a:r>
          </a:p>
          <a:p>
            <a:r>
              <a:rPr lang="en-US" sz="2600" dirty="0">
                <a:solidFill>
                  <a:schemeClr val="bg1"/>
                </a:solidFill>
              </a:rPr>
              <a:t>Random Forest RBG Data Frame</a:t>
            </a:r>
          </a:p>
          <a:p>
            <a:r>
              <a:rPr lang="en-US" sz="2600" dirty="0">
                <a:solidFill>
                  <a:schemeClr val="bg1"/>
                </a:solidFill>
              </a:rPr>
              <a:t>Tensor Flow RBG Data Frame</a:t>
            </a:r>
          </a:p>
          <a:p>
            <a:r>
              <a:rPr lang="en-US" sz="2600" dirty="0">
                <a:solidFill>
                  <a:schemeClr val="bg1"/>
                </a:solidFill>
              </a:rPr>
              <a:t>Grid Search Tensor Flow RBG Data Frame</a:t>
            </a:r>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175095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C34BB-B9CB-F27B-8C8C-B6B9F06458A3}"/>
              </a:ext>
            </a:extLst>
          </p:cNvPr>
          <p:cNvSpPr>
            <a:spLocks noGrp="1"/>
          </p:cNvSpPr>
          <p:nvPr>
            <p:ph type="title"/>
          </p:nvPr>
        </p:nvSpPr>
        <p:spPr/>
        <p:txBody>
          <a:bodyPr/>
          <a:lstStyle/>
          <a:p>
            <a:r>
              <a:rPr lang="en-US" dirty="0"/>
              <a:t>Model Metrics</a:t>
            </a:r>
          </a:p>
        </p:txBody>
      </p:sp>
      <p:graphicFrame>
        <p:nvGraphicFramePr>
          <p:cNvPr id="4" name="Content Placeholder 3">
            <a:extLst>
              <a:ext uri="{FF2B5EF4-FFF2-40B4-BE49-F238E27FC236}">
                <a16:creationId xmlns:a16="http://schemas.microsoft.com/office/drawing/2014/main" id="{8AF50B1E-B677-51CC-AB18-5E75A819A380}"/>
              </a:ext>
            </a:extLst>
          </p:cNvPr>
          <p:cNvGraphicFramePr>
            <a:graphicFrameLocks noGrp="1"/>
          </p:cNvGraphicFramePr>
          <p:nvPr>
            <p:ph idx="1"/>
            <p:extLst>
              <p:ext uri="{D42A27DB-BD31-4B8C-83A1-F6EECF244321}">
                <p14:modId xmlns:p14="http://schemas.microsoft.com/office/powerpoint/2010/main" val="3595001604"/>
              </p:ext>
            </p:extLst>
          </p:nvPr>
        </p:nvGraphicFramePr>
        <p:xfrm>
          <a:off x="296497" y="1524000"/>
          <a:ext cx="3365500" cy="1905000"/>
        </p:xfrm>
        <a:graphic>
          <a:graphicData uri="http://schemas.openxmlformats.org/drawingml/2006/table">
            <a:tbl>
              <a:tblPr>
                <a:tableStyleId>{5C22544A-7EE6-4342-B048-85BDC9FD1C3A}</a:tableStyleId>
              </a:tblPr>
              <a:tblGrid>
                <a:gridCol w="1536700">
                  <a:extLst>
                    <a:ext uri="{9D8B030D-6E8A-4147-A177-3AD203B41FA5}">
                      <a16:colId xmlns:a16="http://schemas.microsoft.com/office/drawing/2014/main" val="2554884325"/>
                    </a:ext>
                  </a:extLst>
                </a:gridCol>
                <a:gridCol w="609600">
                  <a:extLst>
                    <a:ext uri="{9D8B030D-6E8A-4147-A177-3AD203B41FA5}">
                      <a16:colId xmlns:a16="http://schemas.microsoft.com/office/drawing/2014/main" val="1833669844"/>
                    </a:ext>
                  </a:extLst>
                </a:gridCol>
                <a:gridCol w="609600">
                  <a:extLst>
                    <a:ext uri="{9D8B030D-6E8A-4147-A177-3AD203B41FA5}">
                      <a16:colId xmlns:a16="http://schemas.microsoft.com/office/drawing/2014/main" val="4076340003"/>
                    </a:ext>
                  </a:extLst>
                </a:gridCol>
                <a:gridCol w="609600">
                  <a:extLst>
                    <a:ext uri="{9D8B030D-6E8A-4147-A177-3AD203B41FA5}">
                      <a16:colId xmlns:a16="http://schemas.microsoft.com/office/drawing/2014/main" val="3898106694"/>
                    </a:ext>
                  </a:extLst>
                </a:gridCol>
              </a:tblGrid>
              <a:tr h="190500">
                <a:tc>
                  <a:txBody>
                    <a:bodyPr/>
                    <a:lstStyle/>
                    <a:p>
                      <a:pPr algn="l" fontAlgn="b">
                        <a:buNone/>
                      </a:pPr>
                      <a:r>
                        <a:rPr lang="en-US" sz="1100" u="none" strike="noStrike">
                          <a:effectLst/>
                        </a:rPr>
                        <a:t>GRAY SCALE KNN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Precision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Recall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f1-score</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8075250"/>
                  </a:ext>
                </a:extLst>
              </a:tr>
              <a:tr h="190500">
                <a:tc>
                  <a:txBody>
                    <a:bodyPr/>
                    <a:lstStyle/>
                    <a:p>
                      <a:pPr algn="l" fontAlgn="b">
                        <a:buNone/>
                      </a:pPr>
                      <a:r>
                        <a:rPr lang="en-US" sz="1100" u="none" strike="noStrike">
                          <a:effectLst/>
                        </a:rPr>
                        <a:t>Ig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0.25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0.34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86283168"/>
                  </a:ext>
                </a:extLst>
              </a:tr>
              <a:tr h="190500">
                <a:tc>
                  <a:txBody>
                    <a:bodyPr/>
                    <a:lstStyle/>
                    <a:p>
                      <a:pPr algn="l" fontAlgn="b">
                        <a:buNone/>
                      </a:pPr>
                      <a:r>
                        <a:rPr lang="en-US" sz="1100" u="none" strike="noStrike">
                          <a:effectLst/>
                        </a:rPr>
                        <a:t>basophil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663222180"/>
                  </a:ext>
                </a:extLst>
              </a:tr>
              <a:tr h="190500">
                <a:tc>
                  <a:txBody>
                    <a:bodyPr/>
                    <a:lstStyle/>
                    <a:p>
                      <a:pPr algn="l" fontAlgn="b">
                        <a:buNone/>
                      </a:pPr>
                      <a:r>
                        <a:rPr lang="en-US" sz="1100" u="none" strike="noStrike">
                          <a:effectLst/>
                        </a:rPr>
                        <a:t>eosinophil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39760597"/>
                  </a:ext>
                </a:extLst>
              </a:tr>
              <a:tr h="190500">
                <a:tc>
                  <a:txBody>
                    <a:bodyPr/>
                    <a:lstStyle/>
                    <a:p>
                      <a:pPr algn="l" fontAlgn="b">
                        <a:buNone/>
                      </a:pPr>
                      <a:r>
                        <a:rPr lang="en-US" sz="1100" u="none" strike="noStrike">
                          <a:effectLst/>
                        </a:rPr>
                        <a:t>lymphocyte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0.78</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09113134"/>
                  </a:ext>
                </a:extLst>
              </a:tr>
              <a:tr h="190500">
                <a:tc>
                  <a:txBody>
                    <a:bodyPr/>
                    <a:lstStyle/>
                    <a:p>
                      <a:pPr algn="l" fontAlgn="b">
                        <a:buNone/>
                      </a:pPr>
                      <a:r>
                        <a:rPr lang="en-US" sz="1100" u="none" strike="noStrike">
                          <a:effectLst/>
                        </a:rPr>
                        <a:t>monocyte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798414877"/>
                  </a:ext>
                </a:extLst>
              </a:tr>
              <a:tr h="190500">
                <a:tc>
                  <a:txBody>
                    <a:bodyPr/>
                    <a:lstStyle/>
                    <a:p>
                      <a:pPr algn="l" fontAlgn="b">
                        <a:buNone/>
                      </a:pPr>
                      <a:r>
                        <a:rPr lang="en-US" sz="1100" u="none" strike="noStrike">
                          <a:effectLst/>
                        </a:rPr>
                        <a:t>neutrophil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0.31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0.46</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4384799"/>
                  </a:ext>
                </a:extLst>
              </a:tr>
              <a:tr h="190500">
                <a:tc>
                  <a:txBody>
                    <a:bodyPr/>
                    <a:lstStyle/>
                    <a:p>
                      <a:pPr algn="l" fontAlgn="b">
                        <a:buNone/>
                      </a:pPr>
                      <a:r>
                        <a:rPr lang="en-US" sz="1100" u="none" strike="noStrike">
                          <a:effectLst/>
                        </a:rPr>
                        <a:t>accuracy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0.51</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3636068157"/>
                  </a:ext>
                </a:extLst>
              </a:tr>
              <a:tr h="190500">
                <a:tc>
                  <a:txBody>
                    <a:bodyPr/>
                    <a:lstStyle/>
                    <a:p>
                      <a:pPr algn="l" fontAlgn="b">
                        <a:buNone/>
                      </a:pPr>
                      <a:r>
                        <a:rPr lang="en-US" sz="1100" u="none" strike="noStrike">
                          <a:effectLst/>
                        </a:rPr>
                        <a:t>macro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0.51</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01326228"/>
                  </a:ext>
                </a:extLst>
              </a:tr>
              <a:tr h="190500">
                <a:tc>
                  <a:txBody>
                    <a:bodyPr/>
                    <a:lstStyle/>
                    <a:p>
                      <a:pPr algn="l" fontAlgn="b">
                        <a:buNone/>
                      </a:pPr>
                      <a:r>
                        <a:rPr lang="en-US" sz="1100" u="none" strike="noStrike">
                          <a:effectLst/>
                        </a:rPr>
                        <a:t>weighted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0.49</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04735474"/>
                  </a:ext>
                </a:extLst>
              </a:tr>
            </a:tbl>
          </a:graphicData>
        </a:graphic>
      </p:graphicFrame>
      <p:graphicFrame>
        <p:nvGraphicFramePr>
          <p:cNvPr id="5" name="Table 4">
            <a:extLst>
              <a:ext uri="{FF2B5EF4-FFF2-40B4-BE49-F238E27FC236}">
                <a16:creationId xmlns:a16="http://schemas.microsoft.com/office/drawing/2014/main" id="{B47604E5-6B54-BC30-983D-657E216DF098}"/>
              </a:ext>
            </a:extLst>
          </p:cNvPr>
          <p:cNvGraphicFramePr>
            <a:graphicFrameLocks noGrp="1"/>
          </p:cNvGraphicFramePr>
          <p:nvPr>
            <p:extLst>
              <p:ext uri="{D42A27DB-BD31-4B8C-83A1-F6EECF244321}">
                <p14:modId xmlns:p14="http://schemas.microsoft.com/office/powerpoint/2010/main" val="65541731"/>
              </p:ext>
            </p:extLst>
          </p:nvPr>
        </p:nvGraphicFramePr>
        <p:xfrm>
          <a:off x="275003" y="4754563"/>
          <a:ext cx="3975100" cy="1905000"/>
        </p:xfrm>
        <a:graphic>
          <a:graphicData uri="http://schemas.openxmlformats.org/drawingml/2006/table">
            <a:tbl>
              <a:tblPr>
                <a:tableStyleId>{5C22544A-7EE6-4342-B048-85BDC9FD1C3A}</a:tableStyleId>
              </a:tblPr>
              <a:tblGrid>
                <a:gridCol w="1536700">
                  <a:extLst>
                    <a:ext uri="{9D8B030D-6E8A-4147-A177-3AD203B41FA5}">
                      <a16:colId xmlns:a16="http://schemas.microsoft.com/office/drawing/2014/main" val="1632942864"/>
                    </a:ext>
                  </a:extLst>
                </a:gridCol>
                <a:gridCol w="609600">
                  <a:extLst>
                    <a:ext uri="{9D8B030D-6E8A-4147-A177-3AD203B41FA5}">
                      <a16:colId xmlns:a16="http://schemas.microsoft.com/office/drawing/2014/main" val="2499379197"/>
                    </a:ext>
                  </a:extLst>
                </a:gridCol>
                <a:gridCol w="609600">
                  <a:extLst>
                    <a:ext uri="{9D8B030D-6E8A-4147-A177-3AD203B41FA5}">
                      <a16:colId xmlns:a16="http://schemas.microsoft.com/office/drawing/2014/main" val="557447597"/>
                    </a:ext>
                  </a:extLst>
                </a:gridCol>
                <a:gridCol w="609600">
                  <a:extLst>
                    <a:ext uri="{9D8B030D-6E8A-4147-A177-3AD203B41FA5}">
                      <a16:colId xmlns:a16="http://schemas.microsoft.com/office/drawing/2014/main" val="1371916691"/>
                    </a:ext>
                  </a:extLst>
                </a:gridCol>
                <a:gridCol w="609600">
                  <a:extLst>
                    <a:ext uri="{9D8B030D-6E8A-4147-A177-3AD203B41FA5}">
                      <a16:colId xmlns:a16="http://schemas.microsoft.com/office/drawing/2014/main" val="3043641854"/>
                    </a:ext>
                  </a:extLst>
                </a:gridCol>
              </a:tblGrid>
              <a:tr h="190500">
                <a:tc>
                  <a:txBody>
                    <a:bodyPr/>
                    <a:lstStyle/>
                    <a:p>
                      <a:pPr algn="l" fontAlgn="b">
                        <a:buNone/>
                      </a:pPr>
                      <a:r>
                        <a:rPr lang="en-US" sz="1100" u="none" strike="noStrike">
                          <a:effectLst/>
                        </a:rPr>
                        <a:t>RBG KNN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Precision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Recall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f1-score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AUC</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43130443"/>
                  </a:ext>
                </a:extLst>
              </a:tr>
              <a:tr h="190500">
                <a:tc>
                  <a:txBody>
                    <a:bodyPr/>
                    <a:lstStyle/>
                    <a:p>
                      <a:pPr algn="l" fontAlgn="b">
                        <a:buNone/>
                      </a:pPr>
                      <a:r>
                        <a:rPr lang="en-US" sz="1100" u="none" strike="noStrike">
                          <a:effectLst/>
                        </a:rPr>
                        <a:t>Ig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0.26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0.36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0.44</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2883433578"/>
                  </a:ext>
                </a:extLst>
              </a:tr>
              <a:tr h="190500">
                <a:tc>
                  <a:txBody>
                    <a:bodyPr/>
                    <a:lstStyle/>
                    <a:p>
                      <a:pPr algn="l" fontAlgn="b">
                        <a:buNone/>
                      </a:pPr>
                      <a:r>
                        <a:rPr lang="en-US" sz="1100" u="none" strike="noStrike">
                          <a:effectLst/>
                        </a:rPr>
                        <a:t>basophil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0.31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0.53</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2543603467"/>
                  </a:ext>
                </a:extLst>
              </a:tr>
              <a:tr h="190500">
                <a:tc>
                  <a:txBody>
                    <a:bodyPr/>
                    <a:lstStyle/>
                    <a:p>
                      <a:pPr algn="l" fontAlgn="b">
                        <a:buNone/>
                      </a:pPr>
                      <a:r>
                        <a:rPr lang="en-US" sz="1100" u="none" strike="noStrike">
                          <a:effectLst/>
                        </a:rPr>
                        <a:t>eosinophil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0.39</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2508799023"/>
                  </a:ext>
                </a:extLst>
              </a:tr>
              <a:tr h="190500">
                <a:tc>
                  <a:txBody>
                    <a:bodyPr/>
                    <a:lstStyle/>
                    <a:p>
                      <a:pPr algn="l" fontAlgn="b">
                        <a:buNone/>
                      </a:pPr>
                      <a:r>
                        <a:rPr lang="en-US" sz="1100" u="none" strike="noStrike">
                          <a:effectLst/>
                        </a:rPr>
                        <a:t>lymphocyte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0.96</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10875534"/>
                  </a:ext>
                </a:extLst>
              </a:tr>
              <a:tr h="190500">
                <a:tc>
                  <a:txBody>
                    <a:bodyPr/>
                    <a:lstStyle/>
                    <a:p>
                      <a:pPr algn="l" fontAlgn="b">
                        <a:buNone/>
                      </a:pPr>
                      <a:r>
                        <a:rPr lang="en-US" sz="1100" u="none" strike="noStrike">
                          <a:effectLst/>
                        </a:rPr>
                        <a:t>monocyte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0.87</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125163446"/>
                  </a:ext>
                </a:extLst>
              </a:tr>
              <a:tr h="190500">
                <a:tc>
                  <a:txBody>
                    <a:bodyPr/>
                    <a:lstStyle/>
                    <a:p>
                      <a:pPr algn="l" fontAlgn="b">
                        <a:buNone/>
                      </a:pPr>
                      <a:r>
                        <a:rPr lang="en-US" sz="1100" u="none" strike="noStrike">
                          <a:effectLst/>
                        </a:rPr>
                        <a:t>neutrophil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01225428"/>
                  </a:ext>
                </a:extLst>
              </a:tr>
              <a:tr h="190500">
                <a:tc>
                  <a:txBody>
                    <a:bodyPr/>
                    <a:lstStyle/>
                    <a:p>
                      <a:pPr algn="l" fontAlgn="b">
                        <a:buNone/>
                      </a:pPr>
                      <a:r>
                        <a:rPr lang="en-US" sz="1100" u="none" strike="noStrike">
                          <a:effectLst/>
                        </a:rPr>
                        <a:t>accuracy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0.54</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20334418"/>
                  </a:ext>
                </a:extLst>
              </a:tr>
              <a:tr h="190500">
                <a:tc>
                  <a:txBody>
                    <a:bodyPr/>
                    <a:lstStyle/>
                    <a:p>
                      <a:pPr algn="l" fontAlgn="b">
                        <a:buNone/>
                      </a:pPr>
                      <a:r>
                        <a:rPr lang="en-US" sz="1100" u="none" strike="noStrike">
                          <a:effectLst/>
                        </a:rPr>
                        <a:t>macro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55234810"/>
                  </a:ext>
                </a:extLst>
              </a:tr>
              <a:tr h="190500">
                <a:tc>
                  <a:txBody>
                    <a:bodyPr/>
                    <a:lstStyle/>
                    <a:p>
                      <a:pPr algn="l" fontAlgn="b">
                        <a:buNone/>
                      </a:pPr>
                      <a:r>
                        <a:rPr lang="en-US" sz="1100" u="none" strike="noStrike">
                          <a:effectLst/>
                        </a:rPr>
                        <a:t>weighted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46991451"/>
                  </a:ext>
                </a:extLst>
              </a:tr>
            </a:tbl>
          </a:graphicData>
        </a:graphic>
      </p:graphicFrame>
      <p:graphicFrame>
        <p:nvGraphicFramePr>
          <p:cNvPr id="6" name="Table 5">
            <a:extLst>
              <a:ext uri="{FF2B5EF4-FFF2-40B4-BE49-F238E27FC236}">
                <a16:creationId xmlns:a16="http://schemas.microsoft.com/office/drawing/2014/main" id="{D065C7A4-B874-8E6C-A637-5DF4B73CEC14}"/>
              </a:ext>
            </a:extLst>
          </p:cNvPr>
          <p:cNvGraphicFramePr>
            <a:graphicFrameLocks noGrp="1"/>
          </p:cNvGraphicFramePr>
          <p:nvPr>
            <p:extLst>
              <p:ext uri="{D42A27DB-BD31-4B8C-83A1-F6EECF244321}">
                <p14:modId xmlns:p14="http://schemas.microsoft.com/office/powerpoint/2010/main" val="790430896"/>
              </p:ext>
            </p:extLst>
          </p:nvPr>
        </p:nvGraphicFramePr>
        <p:xfrm>
          <a:off x="3803650" y="2571750"/>
          <a:ext cx="3975100" cy="1905000"/>
        </p:xfrm>
        <a:graphic>
          <a:graphicData uri="http://schemas.openxmlformats.org/drawingml/2006/table">
            <a:tbl>
              <a:tblPr>
                <a:tableStyleId>{5C22544A-7EE6-4342-B048-85BDC9FD1C3A}</a:tableStyleId>
              </a:tblPr>
              <a:tblGrid>
                <a:gridCol w="1536700">
                  <a:extLst>
                    <a:ext uri="{9D8B030D-6E8A-4147-A177-3AD203B41FA5}">
                      <a16:colId xmlns:a16="http://schemas.microsoft.com/office/drawing/2014/main" val="4173059576"/>
                    </a:ext>
                  </a:extLst>
                </a:gridCol>
                <a:gridCol w="609600">
                  <a:extLst>
                    <a:ext uri="{9D8B030D-6E8A-4147-A177-3AD203B41FA5}">
                      <a16:colId xmlns:a16="http://schemas.microsoft.com/office/drawing/2014/main" val="377163001"/>
                    </a:ext>
                  </a:extLst>
                </a:gridCol>
                <a:gridCol w="609600">
                  <a:extLst>
                    <a:ext uri="{9D8B030D-6E8A-4147-A177-3AD203B41FA5}">
                      <a16:colId xmlns:a16="http://schemas.microsoft.com/office/drawing/2014/main" val="1539266923"/>
                    </a:ext>
                  </a:extLst>
                </a:gridCol>
                <a:gridCol w="609600">
                  <a:extLst>
                    <a:ext uri="{9D8B030D-6E8A-4147-A177-3AD203B41FA5}">
                      <a16:colId xmlns:a16="http://schemas.microsoft.com/office/drawing/2014/main" val="3199724408"/>
                    </a:ext>
                  </a:extLst>
                </a:gridCol>
                <a:gridCol w="609600">
                  <a:extLst>
                    <a:ext uri="{9D8B030D-6E8A-4147-A177-3AD203B41FA5}">
                      <a16:colId xmlns:a16="http://schemas.microsoft.com/office/drawing/2014/main" val="739682007"/>
                    </a:ext>
                  </a:extLst>
                </a:gridCol>
              </a:tblGrid>
              <a:tr h="190500">
                <a:tc>
                  <a:txBody>
                    <a:bodyPr/>
                    <a:lstStyle/>
                    <a:p>
                      <a:pPr algn="l" fontAlgn="b">
                        <a:buNone/>
                      </a:pPr>
                      <a:r>
                        <a:rPr lang="en-US" sz="1100" u="none" strike="noStrike">
                          <a:effectLst/>
                        </a:rPr>
                        <a:t>RBG Random Forest</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Precision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Recall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f1-score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AUC</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246288984"/>
                  </a:ext>
                </a:extLst>
              </a:tr>
              <a:tr h="190500">
                <a:tc>
                  <a:txBody>
                    <a:bodyPr/>
                    <a:lstStyle/>
                    <a:p>
                      <a:pPr algn="l" fontAlgn="b">
                        <a:buNone/>
                      </a:pPr>
                      <a:r>
                        <a:rPr lang="en-US" sz="1100" u="none" strike="noStrike">
                          <a:effectLst/>
                        </a:rPr>
                        <a:t>Ig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0.42</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3662827289"/>
                  </a:ext>
                </a:extLst>
              </a:tr>
              <a:tr h="190500">
                <a:tc>
                  <a:txBody>
                    <a:bodyPr/>
                    <a:lstStyle/>
                    <a:p>
                      <a:pPr algn="l" fontAlgn="b">
                        <a:buNone/>
                      </a:pPr>
                      <a:r>
                        <a:rPr lang="en-US" sz="1100" u="none" strike="noStrike" dirty="0">
                          <a:effectLst/>
                        </a:rPr>
                        <a:t>basophil</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0.67</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2461234350"/>
                  </a:ext>
                </a:extLst>
              </a:tr>
              <a:tr h="190500">
                <a:tc>
                  <a:txBody>
                    <a:bodyPr/>
                    <a:lstStyle/>
                    <a:p>
                      <a:pPr algn="l" fontAlgn="b">
                        <a:buNone/>
                      </a:pPr>
                      <a:r>
                        <a:rPr lang="en-US" sz="1100" u="none" strike="noStrike">
                          <a:effectLst/>
                        </a:rPr>
                        <a:t>eosinophil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0.35</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1250467971"/>
                  </a:ext>
                </a:extLst>
              </a:tr>
              <a:tr h="190500">
                <a:tc>
                  <a:txBody>
                    <a:bodyPr/>
                    <a:lstStyle/>
                    <a:p>
                      <a:pPr algn="l" fontAlgn="b">
                        <a:buNone/>
                      </a:pPr>
                      <a:r>
                        <a:rPr lang="en-US" sz="1100" u="none" strike="noStrike">
                          <a:effectLst/>
                        </a:rPr>
                        <a:t>lymphocyte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08849518"/>
                  </a:ext>
                </a:extLst>
              </a:tr>
              <a:tr h="190500">
                <a:tc>
                  <a:txBody>
                    <a:bodyPr/>
                    <a:lstStyle/>
                    <a:p>
                      <a:pPr algn="l" fontAlgn="b">
                        <a:buNone/>
                      </a:pPr>
                      <a:r>
                        <a:rPr lang="en-US" sz="1100" u="none" strike="noStrike">
                          <a:effectLst/>
                        </a:rPr>
                        <a:t>monocyte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0.39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0.95</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51346666"/>
                  </a:ext>
                </a:extLst>
              </a:tr>
              <a:tr h="190500">
                <a:tc>
                  <a:txBody>
                    <a:bodyPr/>
                    <a:lstStyle/>
                    <a:p>
                      <a:pPr algn="l" fontAlgn="b">
                        <a:buNone/>
                      </a:pPr>
                      <a:r>
                        <a:rPr lang="en-US" sz="1100" u="none" strike="noStrike">
                          <a:effectLst/>
                        </a:rPr>
                        <a:t>neutrophil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45137186"/>
                  </a:ext>
                </a:extLst>
              </a:tr>
              <a:tr h="190500">
                <a:tc>
                  <a:txBody>
                    <a:bodyPr/>
                    <a:lstStyle/>
                    <a:p>
                      <a:pPr algn="l" fontAlgn="b">
                        <a:buNone/>
                      </a:pPr>
                      <a:r>
                        <a:rPr lang="en-US" sz="1100" u="none" strike="noStrike">
                          <a:effectLst/>
                        </a:rPr>
                        <a:t>accuracy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0.79</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tc>
                  <a:txBody>
                    <a:bodyPr/>
                    <a:lstStyle/>
                    <a:p>
                      <a:pPr algn="l" fontAlgn="b">
                        <a:buNone/>
                      </a:pP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018001717"/>
                  </a:ext>
                </a:extLst>
              </a:tr>
              <a:tr h="190500">
                <a:tc>
                  <a:txBody>
                    <a:bodyPr/>
                    <a:lstStyle/>
                    <a:p>
                      <a:pPr algn="l" fontAlgn="b">
                        <a:buNone/>
                      </a:pPr>
                      <a:r>
                        <a:rPr lang="en-US" sz="1100" u="none" strike="noStrike">
                          <a:effectLst/>
                        </a:rPr>
                        <a:t>macro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82380278"/>
                  </a:ext>
                </a:extLst>
              </a:tr>
              <a:tr h="190500">
                <a:tc>
                  <a:txBody>
                    <a:bodyPr/>
                    <a:lstStyle/>
                    <a:p>
                      <a:pPr algn="l" fontAlgn="b">
                        <a:buNone/>
                      </a:pPr>
                      <a:r>
                        <a:rPr lang="en-US" sz="1100" u="none" strike="noStrike">
                          <a:effectLst/>
                        </a:rPr>
                        <a:t>weighted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19704722"/>
                  </a:ext>
                </a:extLst>
              </a:tr>
            </a:tbl>
          </a:graphicData>
        </a:graphic>
      </p:graphicFrame>
      <p:graphicFrame>
        <p:nvGraphicFramePr>
          <p:cNvPr id="7" name="Table 6">
            <a:extLst>
              <a:ext uri="{FF2B5EF4-FFF2-40B4-BE49-F238E27FC236}">
                <a16:creationId xmlns:a16="http://schemas.microsoft.com/office/drawing/2014/main" id="{75B3543F-B507-6C76-6F31-6DDBF72A2F09}"/>
              </a:ext>
            </a:extLst>
          </p:cNvPr>
          <p:cNvGraphicFramePr>
            <a:graphicFrameLocks noGrp="1"/>
          </p:cNvGraphicFramePr>
          <p:nvPr>
            <p:extLst>
              <p:ext uri="{D42A27DB-BD31-4B8C-83A1-F6EECF244321}">
                <p14:modId xmlns:p14="http://schemas.microsoft.com/office/powerpoint/2010/main" val="968404065"/>
              </p:ext>
            </p:extLst>
          </p:nvPr>
        </p:nvGraphicFramePr>
        <p:xfrm>
          <a:off x="7920403" y="754063"/>
          <a:ext cx="3975100" cy="2095500"/>
        </p:xfrm>
        <a:graphic>
          <a:graphicData uri="http://schemas.openxmlformats.org/drawingml/2006/table">
            <a:tbl>
              <a:tblPr>
                <a:tableStyleId>{5C22544A-7EE6-4342-B048-85BDC9FD1C3A}</a:tableStyleId>
              </a:tblPr>
              <a:tblGrid>
                <a:gridCol w="1536700">
                  <a:extLst>
                    <a:ext uri="{9D8B030D-6E8A-4147-A177-3AD203B41FA5}">
                      <a16:colId xmlns:a16="http://schemas.microsoft.com/office/drawing/2014/main" val="763577892"/>
                    </a:ext>
                  </a:extLst>
                </a:gridCol>
                <a:gridCol w="609600">
                  <a:extLst>
                    <a:ext uri="{9D8B030D-6E8A-4147-A177-3AD203B41FA5}">
                      <a16:colId xmlns:a16="http://schemas.microsoft.com/office/drawing/2014/main" val="3027101094"/>
                    </a:ext>
                  </a:extLst>
                </a:gridCol>
                <a:gridCol w="609600">
                  <a:extLst>
                    <a:ext uri="{9D8B030D-6E8A-4147-A177-3AD203B41FA5}">
                      <a16:colId xmlns:a16="http://schemas.microsoft.com/office/drawing/2014/main" val="3785065"/>
                    </a:ext>
                  </a:extLst>
                </a:gridCol>
                <a:gridCol w="609600">
                  <a:extLst>
                    <a:ext uri="{9D8B030D-6E8A-4147-A177-3AD203B41FA5}">
                      <a16:colId xmlns:a16="http://schemas.microsoft.com/office/drawing/2014/main" val="3771491821"/>
                    </a:ext>
                  </a:extLst>
                </a:gridCol>
                <a:gridCol w="609600">
                  <a:extLst>
                    <a:ext uri="{9D8B030D-6E8A-4147-A177-3AD203B41FA5}">
                      <a16:colId xmlns:a16="http://schemas.microsoft.com/office/drawing/2014/main" val="3597250583"/>
                    </a:ext>
                  </a:extLst>
                </a:gridCol>
              </a:tblGrid>
              <a:tr h="190500">
                <a:tc>
                  <a:txBody>
                    <a:bodyPr/>
                    <a:lstStyle/>
                    <a:p>
                      <a:pPr algn="l" fontAlgn="b">
                        <a:buNone/>
                      </a:pPr>
                      <a:r>
                        <a:rPr lang="en-US" sz="1100" u="none" strike="noStrike">
                          <a:effectLst/>
                        </a:rPr>
                        <a:t>Tensor Flow</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Precision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Recall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f1-score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AUC</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90139090"/>
                  </a:ext>
                </a:extLst>
              </a:tr>
              <a:tr h="190500">
                <a:tc>
                  <a:txBody>
                    <a:bodyPr/>
                    <a:lstStyle/>
                    <a:p>
                      <a:pPr algn="l" fontAlgn="b">
                        <a:buNone/>
                      </a:pPr>
                      <a:r>
                        <a:rPr lang="en-US" sz="1100" u="none" strike="noStrike">
                          <a:effectLst/>
                        </a:rPr>
                        <a:t>Ig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51802940"/>
                  </a:ext>
                </a:extLst>
              </a:tr>
              <a:tr h="190500">
                <a:tc>
                  <a:txBody>
                    <a:bodyPr/>
                    <a:lstStyle/>
                    <a:p>
                      <a:pPr algn="l" fontAlgn="b">
                        <a:buNone/>
                      </a:pPr>
                      <a:r>
                        <a:rPr lang="en-US" sz="1100" u="none" strike="noStrike">
                          <a:effectLst/>
                        </a:rPr>
                        <a:t>basophil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0.94</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2673101407"/>
                  </a:ext>
                </a:extLst>
              </a:tr>
              <a:tr h="190500">
                <a:tc>
                  <a:txBody>
                    <a:bodyPr/>
                    <a:lstStyle/>
                    <a:p>
                      <a:pPr algn="l" fontAlgn="b">
                        <a:buNone/>
                      </a:pPr>
                      <a:r>
                        <a:rPr lang="en-US" sz="1100" u="none" strike="noStrike">
                          <a:effectLst/>
                        </a:rPr>
                        <a:t>eosinophil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0.96</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3632396969"/>
                  </a:ext>
                </a:extLst>
              </a:tr>
              <a:tr h="190500">
                <a:tc>
                  <a:txBody>
                    <a:bodyPr/>
                    <a:lstStyle/>
                    <a:p>
                      <a:pPr algn="l" fontAlgn="b">
                        <a:buNone/>
                      </a:pPr>
                      <a:r>
                        <a:rPr lang="en-US" sz="1100" u="none" strike="noStrike">
                          <a:effectLst/>
                        </a:rPr>
                        <a:t>lymphocyte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0.98</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1886901269"/>
                  </a:ext>
                </a:extLst>
              </a:tr>
              <a:tr h="190500">
                <a:tc>
                  <a:txBody>
                    <a:bodyPr/>
                    <a:lstStyle/>
                    <a:p>
                      <a:pPr algn="l" fontAlgn="b">
                        <a:buNone/>
                      </a:pPr>
                      <a:r>
                        <a:rPr lang="en-US" sz="1100" u="none" strike="noStrike">
                          <a:effectLst/>
                        </a:rPr>
                        <a:t>monocyte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0.94</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3001886472"/>
                  </a:ext>
                </a:extLst>
              </a:tr>
              <a:tr h="190500">
                <a:tc>
                  <a:txBody>
                    <a:bodyPr/>
                    <a:lstStyle/>
                    <a:p>
                      <a:pPr algn="l" fontAlgn="b">
                        <a:buNone/>
                      </a:pPr>
                      <a:r>
                        <a:rPr lang="en-US" sz="1100" u="none" strike="noStrike">
                          <a:effectLst/>
                        </a:rPr>
                        <a:t>neutrophil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0.97</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166326116"/>
                  </a:ext>
                </a:extLst>
              </a:tr>
              <a:tr h="190500">
                <a:tc>
                  <a:txBody>
                    <a:bodyPr/>
                    <a:lstStyle/>
                    <a:p>
                      <a:pPr algn="l" fontAlgn="b">
                        <a:buNone/>
                      </a:pPr>
                      <a:r>
                        <a:rPr lang="en-US" sz="1100" u="none" strike="noStrike">
                          <a:effectLst/>
                        </a:rPr>
                        <a:t>accuracy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0.74</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69951285"/>
                  </a:ext>
                </a:extLst>
              </a:tr>
              <a:tr h="190500">
                <a:tc>
                  <a:txBody>
                    <a:bodyPr/>
                    <a:lstStyle/>
                    <a:p>
                      <a:pPr algn="l" fontAlgn="b">
                        <a:buNone/>
                      </a:pPr>
                      <a:r>
                        <a:rPr lang="en-US" sz="1100" u="none" strike="noStrike">
                          <a:effectLst/>
                        </a:rPr>
                        <a:t>macro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12680756"/>
                  </a:ext>
                </a:extLst>
              </a:tr>
              <a:tr h="190500">
                <a:tc>
                  <a:txBody>
                    <a:bodyPr/>
                    <a:lstStyle/>
                    <a:p>
                      <a:pPr algn="l" fontAlgn="b">
                        <a:buNone/>
                      </a:pPr>
                      <a:r>
                        <a:rPr lang="en-US" sz="1100" u="none" strike="noStrike">
                          <a:effectLst/>
                        </a:rPr>
                        <a:t>weighted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13060762"/>
                  </a:ext>
                </a:extLst>
              </a:tr>
              <a:tr h="190500">
                <a:tc>
                  <a:txBody>
                    <a:bodyPr/>
                    <a:lstStyle/>
                    <a:p>
                      <a:pPr algn="l" fontAlgn="b">
                        <a:buNone/>
                      </a:pPr>
                      <a:r>
                        <a:rPr lang="en-US" sz="1100" u="none" strike="noStrike">
                          <a:effectLst/>
                        </a:rPr>
                        <a:t>5-k fold mean accuracy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FF0000"/>
                          </a:highlight>
                        </a:rPr>
                        <a:t>0.6239</a:t>
                      </a:r>
                      <a:endParaRPr lang="en-US" sz="1100" b="0" i="0" u="none" strike="noStrike" dirty="0">
                        <a:solidFill>
                          <a:srgbClr val="000000"/>
                        </a:solidFill>
                        <a:effectLst/>
                        <a:highlight>
                          <a:srgbClr val="FF0000"/>
                        </a:highligh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79379219"/>
                  </a:ext>
                </a:extLst>
              </a:tr>
            </a:tbl>
          </a:graphicData>
        </a:graphic>
      </p:graphicFrame>
      <p:graphicFrame>
        <p:nvGraphicFramePr>
          <p:cNvPr id="8" name="Table 7">
            <a:extLst>
              <a:ext uri="{FF2B5EF4-FFF2-40B4-BE49-F238E27FC236}">
                <a16:creationId xmlns:a16="http://schemas.microsoft.com/office/drawing/2014/main" id="{774B34B1-9D6E-135A-F9A5-3C2638882168}"/>
              </a:ext>
            </a:extLst>
          </p:cNvPr>
          <p:cNvGraphicFramePr>
            <a:graphicFrameLocks noGrp="1"/>
          </p:cNvGraphicFramePr>
          <p:nvPr>
            <p:extLst>
              <p:ext uri="{D42A27DB-BD31-4B8C-83A1-F6EECF244321}">
                <p14:modId xmlns:p14="http://schemas.microsoft.com/office/powerpoint/2010/main" val="3747187709"/>
              </p:ext>
            </p:extLst>
          </p:nvPr>
        </p:nvGraphicFramePr>
        <p:xfrm>
          <a:off x="7920403" y="4391513"/>
          <a:ext cx="3975100" cy="2095500"/>
        </p:xfrm>
        <a:graphic>
          <a:graphicData uri="http://schemas.openxmlformats.org/drawingml/2006/table">
            <a:tbl>
              <a:tblPr>
                <a:tableStyleId>{5C22544A-7EE6-4342-B048-85BDC9FD1C3A}</a:tableStyleId>
              </a:tblPr>
              <a:tblGrid>
                <a:gridCol w="1536700">
                  <a:extLst>
                    <a:ext uri="{9D8B030D-6E8A-4147-A177-3AD203B41FA5}">
                      <a16:colId xmlns:a16="http://schemas.microsoft.com/office/drawing/2014/main" val="2277395757"/>
                    </a:ext>
                  </a:extLst>
                </a:gridCol>
                <a:gridCol w="609600">
                  <a:extLst>
                    <a:ext uri="{9D8B030D-6E8A-4147-A177-3AD203B41FA5}">
                      <a16:colId xmlns:a16="http://schemas.microsoft.com/office/drawing/2014/main" val="3485288716"/>
                    </a:ext>
                  </a:extLst>
                </a:gridCol>
                <a:gridCol w="609600">
                  <a:extLst>
                    <a:ext uri="{9D8B030D-6E8A-4147-A177-3AD203B41FA5}">
                      <a16:colId xmlns:a16="http://schemas.microsoft.com/office/drawing/2014/main" val="3274254502"/>
                    </a:ext>
                  </a:extLst>
                </a:gridCol>
                <a:gridCol w="609600">
                  <a:extLst>
                    <a:ext uri="{9D8B030D-6E8A-4147-A177-3AD203B41FA5}">
                      <a16:colId xmlns:a16="http://schemas.microsoft.com/office/drawing/2014/main" val="801026802"/>
                    </a:ext>
                  </a:extLst>
                </a:gridCol>
                <a:gridCol w="609600">
                  <a:extLst>
                    <a:ext uri="{9D8B030D-6E8A-4147-A177-3AD203B41FA5}">
                      <a16:colId xmlns:a16="http://schemas.microsoft.com/office/drawing/2014/main" val="1200041168"/>
                    </a:ext>
                  </a:extLst>
                </a:gridCol>
              </a:tblGrid>
              <a:tr h="190500">
                <a:tc>
                  <a:txBody>
                    <a:bodyPr/>
                    <a:lstStyle/>
                    <a:p>
                      <a:pPr algn="l" fontAlgn="b">
                        <a:buNone/>
                      </a:pPr>
                      <a:r>
                        <a:rPr lang="en-US" sz="1100" u="none" strike="noStrike">
                          <a:effectLst/>
                        </a:rPr>
                        <a:t>Tensor Flow GridSearch</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Precision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Recall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f1-score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AUC</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46512435"/>
                  </a:ext>
                </a:extLst>
              </a:tr>
              <a:tr h="190500">
                <a:tc>
                  <a:txBody>
                    <a:bodyPr/>
                    <a:lstStyle/>
                    <a:p>
                      <a:pPr algn="l" fontAlgn="b">
                        <a:buNone/>
                      </a:pPr>
                      <a:r>
                        <a:rPr lang="en-US" sz="1100" u="none" strike="noStrike">
                          <a:effectLst/>
                        </a:rPr>
                        <a:t>Ig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0.91</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3228453950"/>
                  </a:ext>
                </a:extLst>
              </a:tr>
              <a:tr h="190500">
                <a:tc>
                  <a:txBody>
                    <a:bodyPr/>
                    <a:lstStyle/>
                    <a:p>
                      <a:pPr algn="l" fontAlgn="b">
                        <a:buNone/>
                      </a:pPr>
                      <a:r>
                        <a:rPr lang="en-US" sz="1100" u="none" strike="noStrike">
                          <a:effectLst/>
                        </a:rPr>
                        <a:t>basophil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0.44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0.95</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2770870265"/>
                  </a:ext>
                </a:extLst>
              </a:tr>
              <a:tr h="190500">
                <a:tc>
                  <a:txBody>
                    <a:bodyPr/>
                    <a:lstStyle/>
                    <a:p>
                      <a:pPr algn="l" fontAlgn="b">
                        <a:buNone/>
                      </a:pPr>
                      <a:r>
                        <a:rPr lang="en-US" sz="1100" u="none" strike="noStrike">
                          <a:effectLst/>
                        </a:rPr>
                        <a:t>eosinophil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0.99</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2293991902"/>
                  </a:ext>
                </a:extLst>
              </a:tr>
              <a:tr h="190500">
                <a:tc>
                  <a:txBody>
                    <a:bodyPr/>
                    <a:lstStyle/>
                    <a:p>
                      <a:pPr algn="l" fontAlgn="b">
                        <a:buNone/>
                      </a:pPr>
                      <a:r>
                        <a:rPr lang="en-US" sz="1100" u="none" strike="noStrike">
                          <a:effectLst/>
                        </a:rPr>
                        <a:t>lymphocyte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0.98</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3928932478"/>
                  </a:ext>
                </a:extLst>
              </a:tr>
              <a:tr h="190500">
                <a:tc>
                  <a:txBody>
                    <a:bodyPr/>
                    <a:lstStyle/>
                    <a:p>
                      <a:pPr algn="l" fontAlgn="b">
                        <a:buNone/>
                      </a:pPr>
                      <a:r>
                        <a:rPr lang="en-US" sz="1100" u="none" strike="noStrike">
                          <a:effectLst/>
                        </a:rPr>
                        <a:t>monocyte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0.54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0.67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0.96</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3612223174"/>
                  </a:ext>
                </a:extLst>
              </a:tr>
              <a:tr h="190500">
                <a:tc>
                  <a:txBody>
                    <a:bodyPr/>
                    <a:lstStyle/>
                    <a:p>
                      <a:pPr algn="l" fontAlgn="b">
                        <a:buNone/>
                      </a:pPr>
                      <a:r>
                        <a:rPr lang="en-US" sz="1100" u="none" strike="noStrike">
                          <a:effectLst/>
                        </a:rPr>
                        <a:t>neutrophil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0.92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0.87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0.98</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2377474459"/>
                  </a:ext>
                </a:extLst>
              </a:tr>
              <a:tr h="190500">
                <a:tc>
                  <a:txBody>
                    <a:bodyPr/>
                    <a:lstStyle/>
                    <a:p>
                      <a:pPr algn="l" fontAlgn="b">
                        <a:buNone/>
                      </a:pPr>
                      <a:r>
                        <a:rPr lang="en-US" sz="1100" u="none" strike="noStrike">
                          <a:effectLst/>
                        </a:rPr>
                        <a:t>accuracy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0.74</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tc>
                  <a:txBody>
                    <a:bodyPr/>
                    <a:lstStyle/>
                    <a:p>
                      <a:pPr algn="l" fontAlgn="b">
                        <a:buNone/>
                      </a:pP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135223548"/>
                  </a:ext>
                </a:extLst>
              </a:tr>
              <a:tr h="190500">
                <a:tc>
                  <a:txBody>
                    <a:bodyPr/>
                    <a:lstStyle/>
                    <a:p>
                      <a:pPr algn="l" fontAlgn="b">
                        <a:buNone/>
                      </a:pPr>
                      <a:r>
                        <a:rPr lang="en-US" sz="1100" u="none" strike="noStrike">
                          <a:effectLst/>
                        </a:rPr>
                        <a:t>macro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67122934"/>
                  </a:ext>
                </a:extLst>
              </a:tr>
              <a:tr h="190500">
                <a:tc>
                  <a:txBody>
                    <a:bodyPr/>
                    <a:lstStyle/>
                    <a:p>
                      <a:pPr algn="l" fontAlgn="b">
                        <a:buNone/>
                      </a:pPr>
                      <a:r>
                        <a:rPr lang="en-US" sz="1100" u="none" strike="noStrike">
                          <a:effectLst/>
                        </a:rPr>
                        <a:t>weighted avg</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0.73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72487571"/>
                  </a:ext>
                </a:extLst>
              </a:tr>
              <a:tr h="190500">
                <a:tc>
                  <a:txBody>
                    <a:bodyPr/>
                    <a:lstStyle/>
                    <a:p>
                      <a:pPr algn="l" fontAlgn="b">
                        <a:buNone/>
                      </a:pPr>
                      <a:r>
                        <a:rPr lang="en-US" sz="1100" u="none" strike="noStrike">
                          <a:effectLst/>
                        </a:rPr>
                        <a:t>5-k fold mean accuracy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highlight>
                            <a:srgbClr val="00FF00"/>
                          </a:highlight>
                        </a:rPr>
                        <a:t>0.7881</a:t>
                      </a:r>
                      <a:endParaRPr lang="en-US" sz="1100" b="0" i="0" u="none" strike="noStrike" dirty="0">
                        <a:solidFill>
                          <a:srgbClr val="000000"/>
                        </a:solidFill>
                        <a:effectLst/>
                        <a:highlight>
                          <a:srgbClr val="00FF00"/>
                        </a:highlight>
                        <a:latin typeface="Aptos Narrow" panose="020B0004020202020204" pitchFamily="34" charset="0"/>
                      </a:endParaRPr>
                    </a:p>
                  </a:txBody>
                  <a:tcPr marL="9525" marR="9525" marT="9525" marB="0" anchor="b"/>
                </a:tc>
                <a:tc>
                  <a:txBody>
                    <a:bodyPr/>
                    <a:lstStyle/>
                    <a:p>
                      <a:pPr algn="l" fontAlgn="b">
                        <a:buNone/>
                      </a:pP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94734234"/>
                  </a:ext>
                </a:extLst>
              </a:tr>
            </a:tbl>
          </a:graphicData>
        </a:graphic>
      </p:graphicFrame>
    </p:spTree>
    <p:extLst>
      <p:ext uri="{BB962C8B-B14F-4D97-AF65-F5344CB8AC3E}">
        <p14:creationId xmlns:p14="http://schemas.microsoft.com/office/powerpoint/2010/main" val="24781750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A14B83C-B379-41FC-8327-600DA7EFD5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CB018903-3549-4A3B-A9DF-B26757CAA9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21" name="Rectangle 20">
              <a:extLst>
                <a:ext uri="{FF2B5EF4-FFF2-40B4-BE49-F238E27FC236}">
                  <a16:creationId xmlns:a16="http://schemas.microsoft.com/office/drawing/2014/main" id="{9E5D3F77-D07F-4F7D-97A2-E366830206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DC6F5A2D-56A0-4ED7-A3E2-3CF67608FC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4">
                <a:lumMod val="75000"/>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0943156-C80D-0737-588E-336192A58F95}"/>
              </a:ext>
            </a:extLst>
          </p:cNvPr>
          <p:cNvSpPr>
            <a:spLocks noGrp="1"/>
          </p:cNvSpPr>
          <p:nvPr>
            <p:ph type="title"/>
          </p:nvPr>
        </p:nvSpPr>
        <p:spPr>
          <a:xfrm>
            <a:off x="549277" y="458033"/>
            <a:ext cx="5257798" cy="726224"/>
          </a:xfrm>
        </p:spPr>
        <p:txBody>
          <a:bodyPr vert="horz" wrap="square" lIns="91440" tIns="45720" rIns="91440" bIns="45720" rtlCol="0" anchor="ctr">
            <a:normAutofit/>
          </a:bodyPr>
          <a:lstStyle/>
          <a:p>
            <a:r>
              <a:rPr lang="en-US" sz="2200"/>
              <a:t>ROC AUC Curves KNN and RF</a:t>
            </a:r>
          </a:p>
        </p:txBody>
      </p:sp>
      <p:pic>
        <p:nvPicPr>
          <p:cNvPr id="6" name="Picture 5">
            <a:extLst>
              <a:ext uri="{FF2B5EF4-FFF2-40B4-BE49-F238E27FC236}">
                <a16:creationId xmlns:a16="http://schemas.microsoft.com/office/drawing/2014/main" id="{326530D0-49A0-8291-0BBA-418A84A3AC43}"/>
              </a:ext>
            </a:extLst>
          </p:cNvPr>
          <p:cNvPicPr>
            <a:picLocks noChangeAspect="1"/>
          </p:cNvPicPr>
          <p:nvPr/>
        </p:nvPicPr>
        <p:blipFill>
          <a:blip r:embed="rId3"/>
          <a:stretch>
            <a:fillRect/>
          </a:stretch>
        </p:blipFill>
        <p:spPr>
          <a:xfrm>
            <a:off x="550863" y="2055569"/>
            <a:ext cx="5453551" cy="4253769"/>
          </a:xfrm>
          <a:prstGeom prst="rect">
            <a:avLst/>
          </a:prstGeom>
          <a:effectLst>
            <a:outerShdw blurRad="508000" dist="101600" dir="5400000" algn="tl" rotWithShape="0">
              <a:prstClr val="black">
                <a:alpha val="10000"/>
              </a:prstClr>
            </a:outerShdw>
          </a:effectLst>
        </p:spPr>
      </p:pic>
      <p:pic>
        <p:nvPicPr>
          <p:cNvPr id="8" name="Picture 7">
            <a:extLst>
              <a:ext uri="{FF2B5EF4-FFF2-40B4-BE49-F238E27FC236}">
                <a16:creationId xmlns:a16="http://schemas.microsoft.com/office/drawing/2014/main" id="{84A98CDA-449D-4BB2-0808-AA04A5A8BB9D}"/>
              </a:ext>
            </a:extLst>
          </p:cNvPr>
          <p:cNvPicPr>
            <a:picLocks noChangeAspect="1"/>
          </p:cNvPicPr>
          <p:nvPr/>
        </p:nvPicPr>
        <p:blipFill>
          <a:blip r:embed="rId4"/>
          <a:stretch>
            <a:fillRect/>
          </a:stretch>
        </p:blipFill>
        <p:spPr>
          <a:xfrm>
            <a:off x="6185998" y="2054331"/>
            <a:ext cx="5455138" cy="4255007"/>
          </a:xfrm>
          <a:prstGeom prst="rect">
            <a:avLst/>
          </a:prstGeom>
          <a:effectLst>
            <a:outerShdw blurRad="508000" dist="101600" dir="5400000" algn="tl" rotWithShape="0">
              <a:prstClr val="black">
                <a:alpha val="10000"/>
              </a:prstClr>
            </a:outerShdw>
          </a:effectLst>
        </p:spPr>
      </p:pic>
    </p:spTree>
    <p:extLst>
      <p:ext uri="{BB962C8B-B14F-4D97-AF65-F5344CB8AC3E}">
        <p14:creationId xmlns:p14="http://schemas.microsoft.com/office/powerpoint/2010/main" val="26071511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A14B83C-B379-41FC-8327-600DA7EFD5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CB018903-3549-4A3B-A9DF-B26757CAA9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15" name="Rectangle 14">
              <a:extLst>
                <a:ext uri="{FF2B5EF4-FFF2-40B4-BE49-F238E27FC236}">
                  <a16:creationId xmlns:a16="http://schemas.microsoft.com/office/drawing/2014/main" id="{9E5D3F77-D07F-4F7D-97A2-E366830206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F5A2D-56A0-4ED7-A3E2-3CF67608FC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4">
                <a:lumMod val="75000"/>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5998E65-8351-CB48-1545-18E6EC901B8B}"/>
              </a:ext>
            </a:extLst>
          </p:cNvPr>
          <p:cNvSpPr>
            <a:spLocks noGrp="1"/>
          </p:cNvSpPr>
          <p:nvPr>
            <p:ph type="title"/>
          </p:nvPr>
        </p:nvSpPr>
        <p:spPr>
          <a:xfrm>
            <a:off x="549277" y="458033"/>
            <a:ext cx="5257798" cy="726224"/>
          </a:xfrm>
        </p:spPr>
        <p:txBody>
          <a:bodyPr vert="horz" wrap="square" lIns="91440" tIns="45720" rIns="91440" bIns="45720" rtlCol="0" anchor="ctr">
            <a:normAutofit/>
          </a:bodyPr>
          <a:lstStyle/>
          <a:p>
            <a:r>
              <a:rPr lang="en-US" sz="2200"/>
              <a:t>ROC AUC Curves Tensor Flow</a:t>
            </a:r>
          </a:p>
        </p:txBody>
      </p:sp>
      <p:pic>
        <p:nvPicPr>
          <p:cNvPr id="7" name="Picture 6">
            <a:extLst>
              <a:ext uri="{FF2B5EF4-FFF2-40B4-BE49-F238E27FC236}">
                <a16:creationId xmlns:a16="http://schemas.microsoft.com/office/drawing/2014/main" id="{079B4CF6-0418-5A74-94DA-1DAE5A29E10B}"/>
              </a:ext>
            </a:extLst>
          </p:cNvPr>
          <p:cNvPicPr>
            <a:picLocks noChangeAspect="1"/>
          </p:cNvPicPr>
          <p:nvPr/>
        </p:nvPicPr>
        <p:blipFill>
          <a:blip r:embed="rId3"/>
          <a:stretch>
            <a:fillRect/>
          </a:stretch>
        </p:blipFill>
        <p:spPr>
          <a:xfrm>
            <a:off x="550863" y="2055569"/>
            <a:ext cx="5453551" cy="4253769"/>
          </a:xfrm>
          <a:prstGeom prst="rect">
            <a:avLst/>
          </a:prstGeom>
          <a:effectLst>
            <a:outerShdw blurRad="508000" dist="101600" dir="5400000" algn="tl" rotWithShape="0">
              <a:prstClr val="black">
                <a:alpha val="10000"/>
              </a:prstClr>
            </a:outerShdw>
          </a:effectLst>
        </p:spPr>
      </p:pic>
      <p:pic>
        <p:nvPicPr>
          <p:cNvPr id="5" name="Picture 4">
            <a:extLst>
              <a:ext uri="{FF2B5EF4-FFF2-40B4-BE49-F238E27FC236}">
                <a16:creationId xmlns:a16="http://schemas.microsoft.com/office/drawing/2014/main" id="{FCF5E34E-6DA2-6856-FF2E-122569B24DAF}"/>
              </a:ext>
            </a:extLst>
          </p:cNvPr>
          <p:cNvPicPr>
            <a:picLocks noChangeAspect="1"/>
          </p:cNvPicPr>
          <p:nvPr/>
        </p:nvPicPr>
        <p:blipFill>
          <a:blip r:embed="rId4"/>
          <a:stretch>
            <a:fillRect/>
          </a:stretch>
        </p:blipFill>
        <p:spPr>
          <a:xfrm>
            <a:off x="6185998" y="2054331"/>
            <a:ext cx="5455138" cy="4255007"/>
          </a:xfrm>
          <a:prstGeom prst="rect">
            <a:avLst/>
          </a:prstGeom>
          <a:effectLst>
            <a:outerShdw blurRad="508000" dist="101600" dir="5400000" algn="tl" rotWithShape="0">
              <a:prstClr val="black">
                <a:alpha val="10000"/>
              </a:prstClr>
            </a:outerShdw>
          </a:effectLst>
        </p:spPr>
      </p:pic>
    </p:spTree>
    <p:extLst>
      <p:ext uri="{BB962C8B-B14F-4D97-AF65-F5344CB8AC3E}">
        <p14:creationId xmlns:p14="http://schemas.microsoft.com/office/powerpoint/2010/main" val="30360610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9" name="Rectangle 118">
            <a:extLst>
              <a:ext uri="{FF2B5EF4-FFF2-40B4-BE49-F238E27FC236}">
                <a16:creationId xmlns:a16="http://schemas.microsoft.com/office/drawing/2014/main" id="{0DF69BD6-A832-49C4-B5FE-69CC90B74E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3" name="Group 112">
            <a:extLst>
              <a:ext uri="{FF2B5EF4-FFF2-40B4-BE49-F238E27FC236}">
                <a16:creationId xmlns:a16="http://schemas.microsoft.com/office/drawing/2014/main" id="{CB018903-3549-4A3B-A9DF-B26757CAA9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114" name="Rectangle 113">
              <a:extLst>
                <a:ext uri="{FF2B5EF4-FFF2-40B4-BE49-F238E27FC236}">
                  <a16:creationId xmlns:a16="http://schemas.microsoft.com/office/drawing/2014/main" id="{9E5D3F77-D07F-4F7D-97A2-E366830206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DC6F5A2D-56A0-4ED7-A3E2-3CF67608FC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4">
                <a:lumMod val="75000"/>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560B6758-675B-B4C1-B261-347318397084}"/>
              </a:ext>
            </a:extLst>
          </p:cNvPr>
          <p:cNvSpPr>
            <a:spLocks noGrp="1"/>
          </p:cNvSpPr>
          <p:nvPr>
            <p:ph type="title"/>
          </p:nvPr>
        </p:nvSpPr>
        <p:spPr>
          <a:xfrm>
            <a:off x="549277" y="458033"/>
            <a:ext cx="5257798" cy="726224"/>
          </a:xfrm>
        </p:spPr>
        <p:txBody>
          <a:bodyPr vert="horz" wrap="square" lIns="91440" tIns="45720" rIns="91440" bIns="45720" rtlCol="0" anchor="ctr">
            <a:normAutofit/>
          </a:bodyPr>
          <a:lstStyle/>
          <a:p>
            <a:r>
              <a:rPr lang="en-US" sz="2200" kern="1200" dirty="0">
                <a:solidFill>
                  <a:schemeClr val="tx1"/>
                </a:solidFill>
                <a:latin typeface="+mj-lt"/>
                <a:ea typeface="+mj-ea"/>
                <a:cs typeface="+mj-cs"/>
              </a:rPr>
              <a:t>Confusion Matrixes KNN and RF</a:t>
            </a:r>
          </a:p>
        </p:txBody>
      </p:sp>
      <p:pic>
        <p:nvPicPr>
          <p:cNvPr id="4" name="Picture 3" descr="A chart of different colors&#10;&#10;AI-generated content may be incorrect.">
            <a:extLst>
              <a:ext uri="{FF2B5EF4-FFF2-40B4-BE49-F238E27FC236}">
                <a16:creationId xmlns:a16="http://schemas.microsoft.com/office/drawing/2014/main" id="{FD671196-6AE5-5E26-5594-164CA1EA3DB8}"/>
              </a:ext>
            </a:extLst>
          </p:cNvPr>
          <p:cNvPicPr>
            <a:picLocks noChangeAspect="1"/>
          </p:cNvPicPr>
          <p:nvPr/>
        </p:nvPicPr>
        <p:blipFill>
          <a:blip r:embed="rId3"/>
          <a:srcRect r="1" b="3451"/>
          <a:stretch>
            <a:fillRect/>
          </a:stretch>
        </p:blipFill>
        <p:spPr>
          <a:xfrm>
            <a:off x="550866" y="1557339"/>
            <a:ext cx="5453551" cy="4752000"/>
          </a:xfrm>
          <a:prstGeom prst="rect">
            <a:avLst/>
          </a:prstGeom>
          <a:effectLst>
            <a:outerShdw blurRad="508000" dist="101600" dir="5400000" algn="tl" rotWithShape="0">
              <a:prstClr val="black">
                <a:alpha val="10000"/>
              </a:prstClr>
            </a:outerShdw>
          </a:effectLst>
        </p:spPr>
      </p:pic>
      <p:pic>
        <p:nvPicPr>
          <p:cNvPr id="5" name="Content Placeholder 4" descr="A chart of different colors&#10;&#10;AI-generated content may be incorrect.">
            <a:extLst>
              <a:ext uri="{FF2B5EF4-FFF2-40B4-BE49-F238E27FC236}">
                <a16:creationId xmlns:a16="http://schemas.microsoft.com/office/drawing/2014/main" id="{C9301F2C-FC73-ED24-80DD-155DFB1C1560}"/>
              </a:ext>
            </a:extLst>
          </p:cNvPr>
          <p:cNvPicPr>
            <a:picLocks noChangeAspect="1"/>
          </p:cNvPicPr>
          <p:nvPr/>
        </p:nvPicPr>
        <p:blipFill>
          <a:blip r:embed="rId3"/>
          <a:srcRect r="1" b="3480"/>
          <a:stretch>
            <a:fillRect/>
          </a:stretch>
        </p:blipFill>
        <p:spPr>
          <a:xfrm>
            <a:off x="6185995" y="1557339"/>
            <a:ext cx="5455138" cy="4752000"/>
          </a:xfrm>
          <a:prstGeom prst="rect">
            <a:avLst/>
          </a:prstGeom>
          <a:effectLst>
            <a:outerShdw blurRad="508000" dist="101600" dir="5400000" algn="tl" rotWithShape="0">
              <a:prstClr val="black">
                <a:alpha val="10000"/>
              </a:prstClr>
            </a:outerShdw>
          </a:effectLst>
        </p:spPr>
      </p:pic>
    </p:spTree>
    <p:extLst>
      <p:ext uri="{BB962C8B-B14F-4D97-AF65-F5344CB8AC3E}">
        <p14:creationId xmlns:p14="http://schemas.microsoft.com/office/powerpoint/2010/main" val="1625645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DF69BD6-A832-49C4-B5FE-69CC90B74E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CB018903-3549-4A3B-A9DF-B26757CAA9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13" name="Rectangle 12">
              <a:extLst>
                <a:ext uri="{FF2B5EF4-FFF2-40B4-BE49-F238E27FC236}">
                  <a16:creationId xmlns:a16="http://schemas.microsoft.com/office/drawing/2014/main" id="{9E5D3F77-D07F-4F7D-97A2-E366830206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C6F5A2D-56A0-4ED7-A3E2-3CF67608FC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4">
                <a:lumMod val="75000"/>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0CE5E01-D294-52AC-F805-0BF48B985D77}"/>
              </a:ext>
            </a:extLst>
          </p:cNvPr>
          <p:cNvSpPr>
            <a:spLocks noGrp="1"/>
          </p:cNvSpPr>
          <p:nvPr>
            <p:ph type="title"/>
          </p:nvPr>
        </p:nvSpPr>
        <p:spPr>
          <a:xfrm>
            <a:off x="549277" y="458033"/>
            <a:ext cx="5257798" cy="726224"/>
          </a:xfrm>
        </p:spPr>
        <p:txBody>
          <a:bodyPr vert="horz" wrap="square" lIns="91440" tIns="45720" rIns="91440" bIns="45720" rtlCol="0" anchor="ctr">
            <a:normAutofit/>
          </a:bodyPr>
          <a:lstStyle/>
          <a:p>
            <a:r>
              <a:rPr lang="en-US" sz="2200" kern="1200">
                <a:solidFill>
                  <a:schemeClr val="tx1"/>
                </a:solidFill>
                <a:latin typeface="+mj-lt"/>
                <a:ea typeface="+mj-ea"/>
                <a:cs typeface="+mj-cs"/>
              </a:rPr>
              <a:t>Confusion Matrix Tensor Flow</a:t>
            </a:r>
          </a:p>
        </p:txBody>
      </p:sp>
      <p:pic>
        <p:nvPicPr>
          <p:cNvPr id="5" name="Picture 4" descr="A diagram of a number of cells&#10;&#10;AI-generated content may be incorrect.">
            <a:extLst>
              <a:ext uri="{FF2B5EF4-FFF2-40B4-BE49-F238E27FC236}">
                <a16:creationId xmlns:a16="http://schemas.microsoft.com/office/drawing/2014/main" id="{07608AEC-77B4-BD28-0928-B2649CBAE228}"/>
              </a:ext>
            </a:extLst>
          </p:cNvPr>
          <p:cNvPicPr>
            <a:picLocks noChangeAspect="1"/>
          </p:cNvPicPr>
          <p:nvPr/>
        </p:nvPicPr>
        <p:blipFill>
          <a:blip r:embed="rId3"/>
          <a:srcRect t="1141" r="1" b="2311"/>
          <a:stretch>
            <a:fillRect/>
          </a:stretch>
        </p:blipFill>
        <p:spPr>
          <a:xfrm>
            <a:off x="550866" y="1557339"/>
            <a:ext cx="5453551" cy="4752000"/>
          </a:xfrm>
          <a:prstGeom prst="rect">
            <a:avLst/>
          </a:prstGeom>
          <a:effectLst>
            <a:outerShdw blurRad="508000" dist="101600" dir="5400000" algn="tl" rotWithShape="0">
              <a:prstClr val="black">
                <a:alpha val="10000"/>
              </a:prstClr>
            </a:outerShdw>
          </a:effectLst>
        </p:spPr>
      </p:pic>
      <p:pic>
        <p:nvPicPr>
          <p:cNvPr id="4" name="Picture 3" descr="A chart of a number of cells&#10;&#10;AI-generated content may be incorrect.">
            <a:extLst>
              <a:ext uri="{FF2B5EF4-FFF2-40B4-BE49-F238E27FC236}">
                <a16:creationId xmlns:a16="http://schemas.microsoft.com/office/drawing/2014/main" id="{74F4E850-B156-86EB-3D96-387D07B14006}"/>
              </a:ext>
            </a:extLst>
          </p:cNvPr>
          <p:cNvPicPr>
            <a:picLocks noChangeAspect="1"/>
          </p:cNvPicPr>
          <p:nvPr/>
        </p:nvPicPr>
        <p:blipFill>
          <a:blip r:embed="rId4"/>
          <a:srcRect r="1" b="3480"/>
          <a:stretch>
            <a:fillRect/>
          </a:stretch>
        </p:blipFill>
        <p:spPr>
          <a:xfrm>
            <a:off x="6185995" y="1557339"/>
            <a:ext cx="5455138" cy="4752000"/>
          </a:xfrm>
          <a:prstGeom prst="rect">
            <a:avLst/>
          </a:prstGeom>
          <a:effectLst>
            <a:outerShdw blurRad="508000" dist="101600" dir="5400000" algn="tl" rotWithShape="0">
              <a:prstClr val="black">
                <a:alpha val="10000"/>
              </a:prstClr>
            </a:outerShdw>
          </a:effectLst>
        </p:spPr>
      </p:pic>
    </p:spTree>
    <p:extLst>
      <p:ext uri="{BB962C8B-B14F-4D97-AF65-F5344CB8AC3E}">
        <p14:creationId xmlns:p14="http://schemas.microsoft.com/office/powerpoint/2010/main" val="3024700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Oval 39">
            <a:extLst>
              <a:ext uri="{FF2B5EF4-FFF2-40B4-BE49-F238E27FC236}">
                <a16:creationId xmlns:a16="http://schemas.microsoft.com/office/drawing/2014/main" id="{A99050EE-26AF-4253-BD50-F0FCD965A8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0284" y="575361"/>
            <a:ext cx="5707277" cy="5707277"/>
          </a:xfrm>
          <a:prstGeom prst="ellipse">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86C659-CFB3-C941-69D9-71EF9E6E510B}"/>
              </a:ext>
            </a:extLst>
          </p:cNvPr>
          <p:cNvSpPr>
            <a:spLocks noGrp="1"/>
          </p:cNvSpPr>
          <p:nvPr>
            <p:ph type="title"/>
          </p:nvPr>
        </p:nvSpPr>
        <p:spPr>
          <a:xfrm>
            <a:off x="838200" y="1748452"/>
            <a:ext cx="4974771" cy="3587786"/>
          </a:xfrm>
        </p:spPr>
        <p:txBody>
          <a:bodyPr>
            <a:normAutofit/>
          </a:bodyPr>
          <a:lstStyle/>
          <a:p>
            <a:pPr algn="ctr"/>
            <a:r>
              <a:rPr lang="en-US">
                <a:solidFill>
                  <a:schemeClr val="bg1"/>
                </a:solidFill>
              </a:rPr>
              <a:t>Conclusion</a:t>
            </a:r>
          </a:p>
        </p:txBody>
      </p:sp>
      <p:grpSp>
        <p:nvGrpSpPr>
          <p:cNvPr id="42" name="Graphic 190">
            <a:extLst>
              <a:ext uri="{FF2B5EF4-FFF2-40B4-BE49-F238E27FC236}">
                <a16:creationId xmlns:a16="http://schemas.microsoft.com/office/drawing/2014/main" id="{00E015F5-1A99-4E40-BC3D-7707802996B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93117" y="1193254"/>
            <a:ext cx="1291642" cy="429215"/>
            <a:chOff x="2504802" y="1755501"/>
            <a:chExt cx="1598829" cy="531293"/>
          </a:xfrm>
          <a:solidFill>
            <a:schemeClr val="bg1"/>
          </a:solidFill>
        </p:grpSpPr>
        <p:sp>
          <p:nvSpPr>
            <p:cNvPr id="43" name="Freeform: Shape 42">
              <a:extLst>
                <a:ext uri="{FF2B5EF4-FFF2-40B4-BE49-F238E27FC236}">
                  <a16:creationId xmlns:a16="http://schemas.microsoft.com/office/drawing/2014/main" id="{3FE6F571-2BB7-46DA-A3D9-B32ADDC16A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A905CC16-753C-4B9F-B3E2-C456795AE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46" name="Graphic 212">
            <a:extLst>
              <a:ext uri="{FF2B5EF4-FFF2-40B4-BE49-F238E27FC236}">
                <a16:creationId xmlns:a16="http://schemas.microsoft.com/office/drawing/2014/main" id="{D0C78466-EB6E-45A0-99A6-A00789ACD9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97727" y="421588"/>
            <a:ext cx="1291468" cy="1291468"/>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8" name="Graphic 212">
            <a:extLst>
              <a:ext uri="{FF2B5EF4-FFF2-40B4-BE49-F238E27FC236}">
                <a16:creationId xmlns:a16="http://schemas.microsoft.com/office/drawing/2014/main" id="{E99F76E4-5DFD-4DBE-B042-66FBCD118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97727" y="421588"/>
            <a:ext cx="1291468" cy="1291468"/>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50" name="Graphic 4">
            <a:extLst>
              <a:ext uri="{FF2B5EF4-FFF2-40B4-BE49-F238E27FC236}">
                <a16:creationId xmlns:a16="http://schemas.microsoft.com/office/drawing/2014/main" id="{5468B3A9-705E-43C3-A742-0619B0D8F2E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0915" y="4748271"/>
            <a:ext cx="1330536" cy="1330521"/>
            <a:chOff x="5734037" y="3067039"/>
            <a:chExt cx="724483" cy="724489"/>
          </a:xfrm>
          <a:solidFill>
            <a:schemeClr val="bg1"/>
          </a:solidFill>
        </p:grpSpPr>
        <p:sp>
          <p:nvSpPr>
            <p:cNvPr id="51" name="Freeform: Shape 50">
              <a:extLst>
                <a:ext uri="{FF2B5EF4-FFF2-40B4-BE49-F238E27FC236}">
                  <a16:creationId xmlns:a16="http://schemas.microsoft.com/office/drawing/2014/main" id="{29D439AD-5D67-497C-B831-D17FC3E592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3F54BF2-C71C-45C5-9408-3B5E011B0F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2BBABE17-DB56-44AB-934B-63C07C79F0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CB483D20-A128-4076-AF54-88646172B8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E5EFA818-FDDA-49E9-B11F-E9DC1854A9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EA1F8728-F8F7-4828-A718-A15E7663EA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DA1F73F-AA1D-41D7-BAAB-292FD94A3E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9441DEA-C85E-4B9C-A48D-8437854C4C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15EBAA20-1368-4495-8D7C-820FAD8EC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FB92591-626C-4D2B-A3E6-EC8742D67B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392448D-513F-4528-9D8D-A151982041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1946BAE-1546-4EA4-A108-A799BF5D2C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42A8EC93-6A35-4D37-A8CB-59362BF875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AFC3ECA2-E914-4D83-ABF9-B9FFD96E9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712B1108-9AAC-4F10-A64F-0D6963E518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284CDA0C-B2AB-4791-83B1-C053C061D6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F857BF6B-E0CA-49C0-8827-B44CE8B928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6D7B06A7-ADDF-4F27-B11F-08422FC18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E8B0DA6C-71D7-4FCB-AE4C-035E0ADB50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EB078173-ADFB-480D-91A4-4D71C01098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AAA4027A-C97B-4C9A-B04C-EBE2112200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C06DA92D-C6D0-4C7D-98CF-D957691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D6601653-3941-4C9B-BD39-62EECE23AE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2BC4A394-4FFE-4BFE-9A59-2B624E071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EB4EABA5-FDCF-4F6F-8FF1-6FDFF50580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10F3C940-2320-488A-B24C-AB0A4FB53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F525BA82-37D8-47ED-AFF6-AE57124A4E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C2D78955-C80F-4DA3-83AA-D28A5A6FA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BC23DAAC-7C06-4012-8CBB-8E3126B68B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60D19F80-DC80-49EC-8EDD-7889092C18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11F50BB3-EA39-4693-BAE1-1101EF0A41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00EFD45B-69A8-47F6-A5BF-779F7EB49F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9E53C464-7272-4EBC-830B-CB29A96988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B6BF10CE-C2AD-487A-9402-8D5C746ECF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1064C7FE-F8EB-47EF-97FA-348A520599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A991C553-06A1-4F26-BBBC-80F7E11E7A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BCE9C081-2191-4C84-956E-F106BB015C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292F6F03-BC34-40C6-8F17-7A169CD72F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A5101B80-7351-4F0F-AB7D-3E40B4D266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0570EE1D-95AC-4660-8E96-7C8A36FEB6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385D9A56-2D15-4E0A-B981-E168F09064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28D0BA2F-9273-4EAA-AD17-C4EFE11403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512CC54E-7976-4DC9-984C-45C2A23A72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C8A3FC72-9FF9-41F6-97E0-45A0FEE946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48918C16-C9B6-40D5-93A0-DB547B644A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A05612C6-4858-4854-A3D3-90CF1E1C75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A8E88D77-C726-4008-849C-DA7361F88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24CFE7CA-C955-4365-90C3-6272CB9A3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38B43FC8-B81C-490A-A346-4C6235DA8A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214D0221-0C97-4C71-B535-7506956EF8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ED0C44EA-BD25-49A3-9EB8-9D8DED7C19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A3C9CCF2-15CC-4F7D-87F5-7FFEBAC9C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8AA321D8-1D2C-472C-A2DB-EBB74498DD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724680C1-4BB5-45DB-A558-82514418CF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C94F4CEF-82DD-4CFB-8EE3-4AB115F6A0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4F186C9C-C620-4426-A674-E40F808F66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8929942C-BA3F-40EF-94DD-4A5C22C5B7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D234974B-3555-465B-95A7-1C63CE7386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0E38F9FD-48AC-4C3E-9E75-D1C0B555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3AA72E26-5C3D-4231-9042-E00AE43E80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6684433D-3C9E-4C19-A801-D51CF3064F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DADB0C3D-A021-4F40-93B3-76B61334F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41781C18-F408-401D-8A86-99FFBB9895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D958D9F-E4B0-48B1-ADA4-3053AFB5D9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43EFCD46-F0FB-499C-81B9-3508FE5C8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2B6A130F-CB85-4BDA-8DDF-8DAAB2F7D0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9359DA40-CA94-4B1F-9BE6-C800BEEC77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73304FCD-8DAD-4BC8-A16E-84DDCA07FF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BCB4864C-8F67-4BE7-89CC-664EA25EC5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845F543D-67FC-4640-A2A1-69DA6D0528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DBDB2A9C-60E5-4F7E-BA2B-4DD1595FB9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72B10DA2-D88E-4952-BDB5-102E61B4B2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AC5F5BED-3698-4F52-9977-D8CA2DC031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19CCEBC-AD20-45B2-A751-42B40BB31C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3A978AD9-9A35-4B89-B3BC-61E54AD9EB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77D8C808-AFC9-42DD-B253-0048903791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EECD0BF1-7C64-407E-8306-4C447B1D32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953B0F94-AC35-4CB2-878D-1DC7D68BE9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08EA50C2-BB5F-4368-AA91-67B207C1AB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DE45A7FE-0A45-45F6-8417-EBDA5A12D8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DA8B8DC8-F88C-432E-A8C2-8D13FE874F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D02C5430-233D-49F7-B852-181D2B2F61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76DB286F-9E15-441C-8697-57007B76C1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534DC0EE-15B7-44AE-A7DC-8B5E22688A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4FBE9900-F640-4248-9C4C-EDBE5E00AF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37FF04AF-F86B-49F8-AAB5-DA696591A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710DCFEA-4572-47A3-A6BE-7B21F5758C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BA42ED8E-CCC8-478F-9EF4-625B633071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146DF8F4-DF09-4E6C-887F-C9269E56A5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7FF3916E-5C82-4956-A88B-81BFAC91B8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7E5CF7AE-ED45-4AB5-9AEB-56FC964BFA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7CFB132C-BEB1-4897-B1A4-97422811F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4EE49F21-E336-41BC-8256-85A9AB597F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62510EE-BDCD-4393-9AD7-2D0C9A722D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2420F94B-4F00-4C6C-97E3-BA5B5E6871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E712560A-A110-4132-85D5-21BBBFA8C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D1E3102B-23D5-43AE-A67D-583AAA52BA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9D5ABE4E-EB80-423C-BBCE-9C1B77D9B0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BEB8CCC5-38F5-4892-A00B-14B645BBDF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8860175F-F7D5-4464-AD61-5B435528FE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E28C20B0-98AA-4A5B-8CE1-236A3F6CA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8A56719F-13F0-4B75-8C04-DAACD8FD86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B30555DA-285C-4859-83DE-B16FF6D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67AF00E9-C8D6-41C4-9703-5468F51639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D07F88BD-A2E8-4F25-BB43-9372C6C9F3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DFAE35DA-8283-4F4B-8C00-FF8EFE39B3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4340DEBE-A255-48E2-B7B2-AE881651C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FE968FB9-507A-4F2E-B346-15995081B1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4DA99BD8-9C2B-46BF-AA27-ED405540D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50C84F67-D2C2-48DF-8537-DF99C6024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5CAEB9A-26A6-4FBF-916B-19FC9B0BFC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E4DEDE1B-4819-4E4B-849E-330D7DF56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C441B73E-F19C-4313-8F46-F600603B36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014FE805-EF51-4859-A6DF-CF75F9A0F5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624CF2A5-BD9E-4570-8560-063BC70F26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6BEC415C-7946-43B2-9AC8-348B6B5CD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1B615AD5-3365-43D4-8E16-377A2A2F97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9D184DFD-DD33-491E-90FF-6E4ECA2668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31B62FE1-0262-4B09-ABEA-8AA010137D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20C539C6-FAA9-4EBE-93D9-1F946E1449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8C6EF3FF-09E5-4099-A49B-CA364A6E83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B3C5E06F-8F1E-4771-AAE4-B34B1D6A3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538D5AE9-76CC-4AE4-B026-656EDCB01B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30F1A9B9-52AB-4527-BD4A-1802F7C960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46A57D78-C020-4EEF-971D-0C8802889A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7666D7A3-5ABF-4EDE-A0C5-F2099B2D86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13BC460A-E0FF-4658-A2FD-A3AF4D51DF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26467CC2-3AB3-4D37-8323-385B7399F7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563A1F58-33CE-4EDF-B902-3F43F69DA2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DDCFAB2F-7E88-4A57-999A-2506A1FE71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571BEB66-3787-441F-BB54-80C05C6F13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641DC095-611E-4979-8664-6C0EB878FC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210B9ECF-D859-4919-A9D6-3208548F00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4FBC31D4-7E98-452C-8A87-822DE0432C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E302346C-F328-435B-87ED-447C6F8542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B94F507E-9E94-432E-AE8A-A6CB2C5D05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1FFAC4F0-FD7F-4943-B60E-E276F8B23F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8A5D871-92FD-43C3-BF94-0B524FA7D3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A79A241-1665-453E-ADD4-18892D4F85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81EABE18-4189-4E07-93C9-9B76673E3E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B658A0EE-6F09-4EF7-B5E7-F23A556BDA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15EB019C-C95B-4DE3-BD17-DC20F8007A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2948B3ED-79C1-47C8-B712-0BFB5536C3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13387DB9-900B-422D-90F7-C5C7EB5D59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48FDCCF3-E6D6-4CD0-9D47-02FE785C7A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BC14E8F6-33F6-47CE-9A24-EA71D71496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F78CC38F-63FC-4552-B17B-8D79D3C8F8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8" name="Freeform: Shape 197">
              <a:extLst>
                <a:ext uri="{FF2B5EF4-FFF2-40B4-BE49-F238E27FC236}">
                  <a16:creationId xmlns:a16="http://schemas.microsoft.com/office/drawing/2014/main" id="{89042823-A002-49CE-B03D-ED1291DC13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99" name="Freeform: Shape 198">
              <a:extLst>
                <a:ext uri="{FF2B5EF4-FFF2-40B4-BE49-F238E27FC236}">
                  <a16:creationId xmlns:a16="http://schemas.microsoft.com/office/drawing/2014/main" id="{96EFC6CE-198B-489B-B1EE-72CE842628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0" name="Freeform: Shape 199">
              <a:extLst>
                <a:ext uri="{FF2B5EF4-FFF2-40B4-BE49-F238E27FC236}">
                  <a16:creationId xmlns:a16="http://schemas.microsoft.com/office/drawing/2014/main" id="{49FEA23D-54D9-45D7-9325-1E2F638C9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01" name="Freeform: Shape 200">
              <a:extLst>
                <a:ext uri="{FF2B5EF4-FFF2-40B4-BE49-F238E27FC236}">
                  <a16:creationId xmlns:a16="http://schemas.microsoft.com/office/drawing/2014/main" id="{2DB04EE3-370F-49CE-BCFE-C2999C3CF2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2" name="Freeform: Shape 201">
              <a:extLst>
                <a:ext uri="{FF2B5EF4-FFF2-40B4-BE49-F238E27FC236}">
                  <a16:creationId xmlns:a16="http://schemas.microsoft.com/office/drawing/2014/main" id="{8BCBCC34-797D-41A8-8AD1-7E03E1BBF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3" name="Freeform: Shape 202">
              <a:extLst>
                <a:ext uri="{FF2B5EF4-FFF2-40B4-BE49-F238E27FC236}">
                  <a16:creationId xmlns:a16="http://schemas.microsoft.com/office/drawing/2014/main" id="{AFF5C1F8-0EDE-4835-89E6-1FCB2EA395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4" name="Freeform: Shape 203">
              <a:extLst>
                <a:ext uri="{FF2B5EF4-FFF2-40B4-BE49-F238E27FC236}">
                  <a16:creationId xmlns:a16="http://schemas.microsoft.com/office/drawing/2014/main" id="{6171D504-6300-457C-AFCC-064DBB3FC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05" name="Freeform: Shape 204">
              <a:extLst>
                <a:ext uri="{FF2B5EF4-FFF2-40B4-BE49-F238E27FC236}">
                  <a16:creationId xmlns:a16="http://schemas.microsoft.com/office/drawing/2014/main" id="{62ACE739-C8C4-4495-B04C-C3AFC44811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6" name="Freeform: Shape 205">
              <a:extLst>
                <a:ext uri="{FF2B5EF4-FFF2-40B4-BE49-F238E27FC236}">
                  <a16:creationId xmlns:a16="http://schemas.microsoft.com/office/drawing/2014/main" id="{3F4771CD-CDCA-4FFE-8EF5-E42D1781E7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07" name="Freeform: Shape 206">
              <a:extLst>
                <a:ext uri="{FF2B5EF4-FFF2-40B4-BE49-F238E27FC236}">
                  <a16:creationId xmlns:a16="http://schemas.microsoft.com/office/drawing/2014/main" id="{A10C0BFE-A8F9-4E21-9DFD-37A4D26C62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8" name="Freeform: Shape 207">
              <a:extLst>
                <a:ext uri="{FF2B5EF4-FFF2-40B4-BE49-F238E27FC236}">
                  <a16:creationId xmlns:a16="http://schemas.microsoft.com/office/drawing/2014/main" id="{4D8D4EF9-4EF7-4538-A4AE-439F9335EA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9" name="Freeform: Shape 208">
              <a:extLst>
                <a:ext uri="{FF2B5EF4-FFF2-40B4-BE49-F238E27FC236}">
                  <a16:creationId xmlns:a16="http://schemas.microsoft.com/office/drawing/2014/main" id="{7E0500AB-5662-43B9-95C2-2EC80CC54F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0" name="Freeform: Shape 209">
              <a:extLst>
                <a:ext uri="{FF2B5EF4-FFF2-40B4-BE49-F238E27FC236}">
                  <a16:creationId xmlns:a16="http://schemas.microsoft.com/office/drawing/2014/main" id="{984021AD-A6A2-4CDA-A953-72FBA7598B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11" name="Freeform: Shape 210">
              <a:extLst>
                <a:ext uri="{FF2B5EF4-FFF2-40B4-BE49-F238E27FC236}">
                  <a16:creationId xmlns:a16="http://schemas.microsoft.com/office/drawing/2014/main" id="{FD1FBF47-CAC8-4385-9DC7-C9BB6167EA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2" name="Freeform: Shape 211">
              <a:extLst>
                <a:ext uri="{FF2B5EF4-FFF2-40B4-BE49-F238E27FC236}">
                  <a16:creationId xmlns:a16="http://schemas.microsoft.com/office/drawing/2014/main" id="{FBAEE482-005F-4288-8D66-09EA246C45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13" name="Freeform: Shape 212">
              <a:extLst>
                <a:ext uri="{FF2B5EF4-FFF2-40B4-BE49-F238E27FC236}">
                  <a16:creationId xmlns:a16="http://schemas.microsoft.com/office/drawing/2014/main" id="{2C5DCF49-33DE-4AFF-818E-42F59F280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4" name="Freeform: Shape 213">
              <a:extLst>
                <a:ext uri="{FF2B5EF4-FFF2-40B4-BE49-F238E27FC236}">
                  <a16:creationId xmlns:a16="http://schemas.microsoft.com/office/drawing/2014/main" id="{866903F3-208B-46D5-925B-254DC74291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5" name="Freeform: Shape 214">
              <a:extLst>
                <a:ext uri="{FF2B5EF4-FFF2-40B4-BE49-F238E27FC236}">
                  <a16:creationId xmlns:a16="http://schemas.microsoft.com/office/drawing/2014/main" id="{2550D219-E342-4A38-BB89-575C1EE7A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6" name="Freeform: Shape 215">
              <a:extLst>
                <a:ext uri="{FF2B5EF4-FFF2-40B4-BE49-F238E27FC236}">
                  <a16:creationId xmlns:a16="http://schemas.microsoft.com/office/drawing/2014/main" id="{5B5485FC-95D0-4660-9594-2C9BD3B776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17" name="Freeform: Shape 216">
              <a:extLst>
                <a:ext uri="{FF2B5EF4-FFF2-40B4-BE49-F238E27FC236}">
                  <a16:creationId xmlns:a16="http://schemas.microsoft.com/office/drawing/2014/main" id="{2EA358DA-C7E8-4DF8-B7D6-CC58295655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8" name="Freeform: Shape 217">
              <a:extLst>
                <a:ext uri="{FF2B5EF4-FFF2-40B4-BE49-F238E27FC236}">
                  <a16:creationId xmlns:a16="http://schemas.microsoft.com/office/drawing/2014/main" id="{7990E8BB-4369-4845-8436-A6F3FE1D11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19" name="Freeform: Shape 218">
              <a:extLst>
                <a:ext uri="{FF2B5EF4-FFF2-40B4-BE49-F238E27FC236}">
                  <a16:creationId xmlns:a16="http://schemas.microsoft.com/office/drawing/2014/main" id="{D6C050C5-1951-434B-A7FE-D271E73F8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grpSp>
        <p:nvGrpSpPr>
          <p:cNvPr id="221" name="Graphic 4">
            <a:extLst>
              <a:ext uri="{FF2B5EF4-FFF2-40B4-BE49-F238E27FC236}">
                <a16:creationId xmlns:a16="http://schemas.microsoft.com/office/drawing/2014/main" id="{773717CC-ECEE-4ABF-BA61-C59F468017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0915" y="4748271"/>
            <a:ext cx="1330536" cy="1330521"/>
            <a:chOff x="5734037" y="3067039"/>
            <a:chExt cx="724483" cy="724489"/>
          </a:xfrm>
          <a:solidFill>
            <a:schemeClr val="bg1">
              <a:alpha val="60000"/>
            </a:schemeClr>
          </a:solidFill>
        </p:grpSpPr>
        <p:sp>
          <p:nvSpPr>
            <p:cNvPr id="222" name="Freeform: Shape 221">
              <a:extLst>
                <a:ext uri="{FF2B5EF4-FFF2-40B4-BE49-F238E27FC236}">
                  <a16:creationId xmlns:a16="http://schemas.microsoft.com/office/drawing/2014/main" id="{9A4FAE41-62DF-4B8E-BD66-8EC206E0E3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564C7F1F-5546-40DC-A16B-C9A3E45777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24" name="Freeform: Shape 223">
              <a:extLst>
                <a:ext uri="{FF2B5EF4-FFF2-40B4-BE49-F238E27FC236}">
                  <a16:creationId xmlns:a16="http://schemas.microsoft.com/office/drawing/2014/main" id="{45583216-FC24-4B75-9703-DBEC401FF8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25" name="Freeform: Shape 224">
              <a:extLst>
                <a:ext uri="{FF2B5EF4-FFF2-40B4-BE49-F238E27FC236}">
                  <a16:creationId xmlns:a16="http://schemas.microsoft.com/office/drawing/2014/main" id="{2FD0A70D-2E7E-4048-8145-0F45EDBBCE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26" name="Freeform: Shape 225">
              <a:extLst>
                <a:ext uri="{FF2B5EF4-FFF2-40B4-BE49-F238E27FC236}">
                  <a16:creationId xmlns:a16="http://schemas.microsoft.com/office/drawing/2014/main" id="{B703C78E-D176-4455-B7B5-2DB4F418DB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27" name="Freeform: Shape 226">
              <a:extLst>
                <a:ext uri="{FF2B5EF4-FFF2-40B4-BE49-F238E27FC236}">
                  <a16:creationId xmlns:a16="http://schemas.microsoft.com/office/drawing/2014/main" id="{AD23B98E-D1FB-4BD9-BA4A-060BC8266E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28" name="Freeform: Shape 227">
              <a:extLst>
                <a:ext uri="{FF2B5EF4-FFF2-40B4-BE49-F238E27FC236}">
                  <a16:creationId xmlns:a16="http://schemas.microsoft.com/office/drawing/2014/main" id="{C1541992-EEDB-4D6B-BDA9-B66E58A170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29" name="Freeform: Shape 228">
              <a:extLst>
                <a:ext uri="{FF2B5EF4-FFF2-40B4-BE49-F238E27FC236}">
                  <a16:creationId xmlns:a16="http://schemas.microsoft.com/office/drawing/2014/main" id="{08072B3B-B852-4186-ACFE-F614251324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230" name="Freeform: Shape 229">
              <a:extLst>
                <a:ext uri="{FF2B5EF4-FFF2-40B4-BE49-F238E27FC236}">
                  <a16:creationId xmlns:a16="http://schemas.microsoft.com/office/drawing/2014/main" id="{7B5DD2CA-BCBA-4F3E-B472-84006768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1" name="Freeform: Shape 230">
              <a:extLst>
                <a:ext uri="{FF2B5EF4-FFF2-40B4-BE49-F238E27FC236}">
                  <a16:creationId xmlns:a16="http://schemas.microsoft.com/office/drawing/2014/main" id="{C7335DFE-05E4-4D45-B035-1D85E7648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2" name="Freeform: Shape 231">
              <a:extLst>
                <a:ext uri="{FF2B5EF4-FFF2-40B4-BE49-F238E27FC236}">
                  <a16:creationId xmlns:a16="http://schemas.microsoft.com/office/drawing/2014/main" id="{ADCF9375-A092-491A-960D-A4DBB376C3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3" name="Freeform: Shape 232">
              <a:extLst>
                <a:ext uri="{FF2B5EF4-FFF2-40B4-BE49-F238E27FC236}">
                  <a16:creationId xmlns:a16="http://schemas.microsoft.com/office/drawing/2014/main" id="{95341599-7E99-490F-9AF8-07EAE5C8D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4" name="Freeform: Shape 233">
              <a:extLst>
                <a:ext uri="{FF2B5EF4-FFF2-40B4-BE49-F238E27FC236}">
                  <a16:creationId xmlns:a16="http://schemas.microsoft.com/office/drawing/2014/main" id="{E1C55EB0-818A-46E6-8D53-5503100290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35" name="Freeform: Shape 234">
              <a:extLst>
                <a:ext uri="{FF2B5EF4-FFF2-40B4-BE49-F238E27FC236}">
                  <a16:creationId xmlns:a16="http://schemas.microsoft.com/office/drawing/2014/main" id="{319B036C-5BD8-4F3B-8935-96D50F410D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6" name="Freeform: Shape 235">
              <a:extLst>
                <a:ext uri="{FF2B5EF4-FFF2-40B4-BE49-F238E27FC236}">
                  <a16:creationId xmlns:a16="http://schemas.microsoft.com/office/drawing/2014/main" id="{A8445880-106C-4DC8-A250-D132F0D6F3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37" name="Freeform: Shape 236">
              <a:extLst>
                <a:ext uri="{FF2B5EF4-FFF2-40B4-BE49-F238E27FC236}">
                  <a16:creationId xmlns:a16="http://schemas.microsoft.com/office/drawing/2014/main" id="{952AA1DD-5DBE-43CD-9B85-63C7626929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38" name="Freeform: Shape 237">
              <a:extLst>
                <a:ext uri="{FF2B5EF4-FFF2-40B4-BE49-F238E27FC236}">
                  <a16:creationId xmlns:a16="http://schemas.microsoft.com/office/drawing/2014/main" id="{2A412466-ED73-4944-83CE-224B1769C2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9" name="Freeform: Shape 238">
              <a:extLst>
                <a:ext uri="{FF2B5EF4-FFF2-40B4-BE49-F238E27FC236}">
                  <a16:creationId xmlns:a16="http://schemas.microsoft.com/office/drawing/2014/main" id="{807E195A-10DB-494C-A547-E1D0C6F616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40" name="Freeform: Shape 239">
              <a:extLst>
                <a:ext uri="{FF2B5EF4-FFF2-40B4-BE49-F238E27FC236}">
                  <a16:creationId xmlns:a16="http://schemas.microsoft.com/office/drawing/2014/main" id="{4CD4AECE-734D-4B90-984F-B2ABFA2B6F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41" name="Freeform: Shape 240">
              <a:extLst>
                <a:ext uri="{FF2B5EF4-FFF2-40B4-BE49-F238E27FC236}">
                  <a16:creationId xmlns:a16="http://schemas.microsoft.com/office/drawing/2014/main" id="{2927072E-8001-4AD1-A4C4-2EDBA3BF87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42" name="Freeform: Shape 241">
              <a:extLst>
                <a:ext uri="{FF2B5EF4-FFF2-40B4-BE49-F238E27FC236}">
                  <a16:creationId xmlns:a16="http://schemas.microsoft.com/office/drawing/2014/main" id="{499D6F50-E593-46A3-81D8-73389276B2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43" name="Freeform: Shape 242">
              <a:extLst>
                <a:ext uri="{FF2B5EF4-FFF2-40B4-BE49-F238E27FC236}">
                  <a16:creationId xmlns:a16="http://schemas.microsoft.com/office/drawing/2014/main" id="{7A96E600-84B4-452B-AE40-295FC5807E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44" name="Freeform: Shape 243">
              <a:extLst>
                <a:ext uri="{FF2B5EF4-FFF2-40B4-BE49-F238E27FC236}">
                  <a16:creationId xmlns:a16="http://schemas.microsoft.com/office/drawing/2014/main" id="{CBBA17AC-C1AB-4BFC-A051-457275D1D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45" name="Freeform: Shape 244">
              <a:extLst>
                <a:ext uri="{FF2B5EF4-FFF2-40B4-BE49-F238E27FC236}">
                  <a16:creationId xmlns:a16="http://schemas.microsoft.com/office/drawing/2014/main" id="{488E850C-90D5-4D0F-A57D-7809327EF3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46" name="Freeform: Shape 245">
              <a:extLst>
                <a:ext uri="{FF2B5EF4-FFF2-40B4-BE49-F238E27FC236}">
                  <a16:creationId xmlns:a16="http://schemas.microsoft.com/office/drawing/2014/main" id="{9F98D808-AB13-4D8D-B4C5-9D3215346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47" name="Freeform: Shape 246">
              <a:extLst>
                <a:ext uri="{FF2B5EF4-FFF2-40B4-BE49-F238E27FC236}">
                  <a16:creationId xmlns:a16="http://schemas.microsoft.com/office/drawing/2014/main" id="{95AFFBC0-FF37-4117-86FA-21ABDA17AB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48" name="Freeform: Shape 247">
              <a:extLst>
                <a:ext uri="{FF2B5EF4-FFF2-40B4-BE49-F238E27FC236}">
                  <a16:creationId xmlns:a16="http://schemas.microsoft.com/office/drawing/2014/main" id="{ED0AC42A-17B0-4154-968C-CAE2A04C28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49" name="Freeform: Shape 248">
              <a:extLst>
                <a:ext uri="{FF2B5EF4-FFF2-40B4-BE49-F238E27FC236}">
                  <a16:creationId xmlns:a16="http://schemas.microsoft.com/office/drawing/2014/main" id="{4A7A31A0-8490-4B9D-B9CC-7FF28053EB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50" name="Freeform: Shape 249">
              <a:extLst>
                <a:ext uri="{FF2B5EF4-FFF2-40B4-BE49-F238E27FC236}">
                  <a16:creationId xmlns:a16="http://schemas.microsoft.com/office/drawing/2014/main" id="{8188899C-6A74-43D8-B36C-F86B278C89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51" name="Freeform: Shape 250">
              <a:extLst>
                <a:ext uri="{FF2B5EF4-FFF2-40B4-BE49-F238E27FC236}">
                  <a16:creationId xmlns:a16="http://schemas.microsoft.com/office/drawing/2014/main" id="{1537EAA6-95B6-4674-A7B9-40F9AB7F5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2" name="Freeform: Shape 251">
              <a:extLst>
                <a:ext uri="{FF2B5EF4-FFF2-40B4-BE49-F238E27FC236}">
                  <a16:creationId xmlns:a16="http://schemas.microsoft.com/office/drawing/2014/main" id="{F4B29507-C08F-4764-B703-0EB33A0FAC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3" name="Freeform: Shape 252">
              <a:extLst>
                <a:ext uri="{FF2B5EF4-FFF2-40B4-BE49-F238E27FC236}">
                  <a16:creationId xmlns:a16="http://schemas.microsoft.com/office/drawing/2014/main" id="{4200E500-6A99-47FC-A30F-FA4C85DA8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4" name="Freeform: Shape 253">
              <a:extLst>
                <a:ext uri="{FF2B5EF4-FFF2-40B4-BE49-F238E27FC236}">
                  <a16:creationId xmlns:a16="http://schemas.microsoft.com/office/drawing/2014/main" id="{9558677C-76AD-451F-AEEE-C5FEE4179C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5" name="Freeform: Shape 254">
              <a:extLst>
                <a:ext uri="{FF2B5EF4-FFF2-40B4-BE49-F238E27FC236}">
                  <a16:creationId xmlns:a16="http://schemas.microsoft.com/office/drawing/2014/main" id="{79E472E5-A81A-44E7-AEBA-C3A593497B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6" name="Freeform: Shape 255">
              <a:extLst>
                <a:ext uri="{FF2B5EF4-FFF2-40B4-BE49-F238E27FC236}">
                  <a16:creationId xmlns:a16="http://schemas.microsoft.com/office/drawing/2014/main" id="{5CD54F54-9E41-4635-A533-6CC6515E13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7" name="Freeform: Shape 256">
              <a:extLst>
                <a:ext uri="{FF2B5EF4-FFF2-40B4-BE49-F238E27FC236}">
                  <a16:creationId xmlns:a16="http://schemas.microsoft.com/office/drawing/2014/main" id="{B22D6F46-74C0-49D9-8CD8-BC125E973D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58" name="Freeform: Shape 257">
              <a:extLst>
                <a:ext uri="{FF2B5EF4-FFF2-40B4-BE49-F238E27FC236}">
                  <a16:creationId xmlns:a16="http://schemas.microsoft.com/office/drawing/2014/main" id="{C6FAA6EC-EDF6-4522-ACD8-8D4F7FF872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59" name="Freeform: Shape 258">
              <a:extLst>
                <a:ext uri="{FF2B5EF4-FFF2-40B4-BE49-F238E27FC236}">
                  <a16:creationId xmlns:a16="http://schemas.microsoft.com/office/drawing/2014/main" id="{5F8364DC-ED1A-482D-A418-7941B199CB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0" name="Freeform: Shape 259">
              <a:extLst>
                <a:ext uri="{FF2B5EF4-FFF2-40B4-BE49-F238E27FC236}">
                  <a16:creationId xmlns:a16="http://schemas.microsoft.com/office/drawing/2014/main" id="{1896D361-70A8-4528-940B-F306550F88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1" name="Freeform: Shape 260">
              <a:extLst>
                <a:ext uri="{FF2B5EF4-FFF2-40B4-BE49-F238E27FC236}">
                  <a16:creationId xmlns:a16="http://schemas.microsoft.com/office/drawing/2014/main" id="{4D1CB00A-0CE1-4E25-ADCE-9562845F5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2" name="Freeform: Shape 261">
              <a:extLst>
                <a:ext uri="{FF2B5EF4-FFF2-40B4-BE49-F238E27FC236}">
                  <a16:creationId xmlns:a16="http://schemas.microsoft.com/office/drawing/2014/main" id="{E1B6761E-B7C6-4218-B95F-F6DEC0066D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3" name="Freeform: Shape 262">
              <a:extLst>
                <a:ext uri="{FF2B5EF4-FFF2-40B4-BE49-F238E27FC236}">
                  <a16:creationId xmlns:a16="http://schemas.microsoft.com/office/drawing/2014/main" id="{CA081177-DAC3-4667-91A1-4CC885D4A1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4" name="Freeform: Shape 263">
              <a:extLst>
                <a:ext uri="{FF2B5EF4-FFF2-40B4-BE49-F238E27FC236}">
                  <a16:creationId xmlns:a16="http://schemas.microsoft.com/office/drawing/2014/main" id="{435007DC-BB8D-43BA-9598-AE79AA262E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65" name="Freeform: Shape 264">
              <a:extLst>
                <a:ext uri="{FF2B5EF4-FFF2-40B4-BE49-F238E27FC236}">
                  <a16:creationId xmlns:a16="http://schemas.microsoft.com/office/drawing/2014/main" id="{46628B8A-02EC-44EF-B52C-5EBAFBCF9C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6" name="Freeform: Shape 265">
              <a:extLst>
                <a:ext uri="{FF2B5EF4-FFF2-40B4-BE49-F238E27FC236}">
                  <a16:creationId xmlns:a16="http://schemas.microsoft.com/office/drawing/2014/main" id="{2DACEC99-8F4C-495C-8EAA-670A3A02ED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7" name="Freeform: Shape 266">
              <a:extLst>
                <a:ext uri="{FF2B5EF4-FFF2-40B4-BE49-F238E27FC236}">
                  <a16:creationId xmlns:a16="http://schemas.microsoft.com/office/drawing/2014/main" id="{C8EFEAD4-1425-4357-9D8A-F326DABC6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8" name="Freeform: Shape 267">
              <a:extLst>
                <a:ext uri="{FF2B5EF4-FFF2-40B4-BE49-F238E27FC236}">
                  <a16:creationId xmlns:a16="http://schemas.microsoft.com/office/drawing/2014/main" id="{FDA70E94-A082-47D4-B4F8-142AEF1DC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9" name="Freeform: Shape 268">
              <a:extLst>
                <a:ext uri="{FF2B5EF4-FFF2-40B4-BE49-F238E27FC236}">
                  <a16:creationId xmlns:a16="http://schemas.microsoft.com/office/drawing/2014/main" id="{10E96E8A-1EEA-4F1D-8CFE-12DC9B9E7A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0" name="Freeform: Shape 269">
              <a:extLst>
                <a:ext uri="{FF2B5EF4-FFF2-40B4-BE49-F238E27FC236}">
                  <a16:creationId xmlns:a16="http://schemas.microsoft.com/office/drawing/2014/main" id="{B12D7CC4-A548-4FF7-A6B2-9151CFA9E3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1" name="Freeform: Shape 270">
              <a:extLst>
                <a:ext uri="{FF2B5EF4-FFF2-40B4-BE49-F238E27FC236}">
                  <a16:creationId xmlns:a16="http://schemas.microsoft.com/office/drawing/2014/main" id="{CB3F1C68-B597-4669-87F8-C80124ABE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72" name="Freeform: Shape 271">
              <a:extLst>
                <a:ext uri="{FF2B5EF4-FFF2-40B4-BE49-F238E27FC236}">
                  <a16:creationId xmlns:a16="http://schemas.microsoft.com/office/drawing/2014/main" id="{A57037D2-0958-4F34-815F-C8CA7F86AE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73" name="Freeform: Shape 272">
              <a:extLst>
                <a:ext uri="{FF2B5EF4-FFF2-40B4-BE49-F238E27FC236}">
                  <a16:creationId xmlns:a16="http://schemas.microsoft.com/office/drawing/2014/main" id="{30AF3969-3F11-4157-B4B9-33B1314623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274" name="Freeform: Shape 273">
              <a:extLst>
                <a:ext uri="{FF2B5EF4-FFF2-40B4-BE49-F238E27FC236}">
                  <a16:creationId xmlns:a16="http://schemas.microsoft.com/office/drawing/2014/main" id="{51D613E3-18F5-4426-ADEB-DEC123E16B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75" name="Freeform: Shape 274">
              <a:extLst>
                <a:ext uri="{FF2B5EF4-FFF2-40B4-BE49-F238E27FC236}">
                  <a16:creationId xmlns:a16="http://schemas.microsoft.com/office/drawing/2014/main" id="{1DC25548-A3A9-4018-A29B-6972D353F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276" name="Freeform: Shape 275">
              <a:extLst>
                <a:ext uri="{FF2B5EF4-FFF2-40B4-BE49-F238E27FC236}">
                  <a16:creationId xmlns:a16="http://schemas.microsoft.com/office/drawing/2014/main" id="{7EDE6372-94D2-435D-BD43-A20072D807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77" name="Freeform: Shape 276">
              <a:extLst>
                <a:ext uri="{FF2B5EF4-FFF2-40B4-BE49-F238E27FC236}">
                  <a16:creationId xmlns:a16="http://schemas.microsoft.com/office/drawing/2014/main" id="{729575A6-77E2-4199-8F0A-27C89330A0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78" name="Freeform: Shape 277">
              <a:extLst>
                <a:ext uri="{FF2B5EF4-FFF2-40B4-BE49-F238E27FC236}">
                  <a16:creationId xmlns:a16="http://schemas.microsoft.com/office/drawing/2014/main" id="{12EB506D-59AD-4011-80F8-36A2BDB954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79" name="Freeform: Shape 278">
              <a:extLst>
                <a:ext uri="{FF2B5EF4-FFF2-40B4-BE49-F238E27FC236}">
                  <a16:creationId xmlns:a16="http://schemas.microsoft.com/office/drawing/2014/main" id="{92FD46FA-14EB-46A2-B4A3-ECD1F49BAC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80" name="Freeform: Shape 279">
              <a:extLst>
                <a:ext uri="{FF2B5EF4-FFF2-40B4-BE49-F238E27FC236}">
                  <a16:creationId xmlns:a16="http://schemas.microsoft.com/office/drawing/2014/main" id="{1CD84E07-49A9-40E3-B34C-91C156C9C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81" name="Freeform: Shape 280">
              <a:extLst>
                <a:ext uri="{FF2B5EF4-FFF2-40B4-BE49-F238E27FC236}">
                  <a16:creationId xmlns:a16="http://schemas.microsoft.com/office/drawing/2014/main" id="{F3090306-C384-44A0-8C38-77397133BA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82" name="Freeform: Shape 281">
              <a:extLst>
                <a:ext uri="{FF2B5EF4-FFF2-40B4-BE49-F238E27FC236}">
                  <a16:creationId xmlns:a16="http://schemas.microsoft.com/office/drawing/2014/main" id="{3515E97E-31A4-4273-AB55-8EAD74CB9E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83" name="Freeform: Shape 282">
              <a:extLst>
                <a:ext uri="{FF2B5EF4-FFF2-40B4-BE49-F238E27FC236}">
                  <a16:creationId xmlns:a16="http://schemas.microsoft.com/office/drawing/2014/main" id="{792F63CA-0494-43E2-A0AA-37C35C8326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84" name="Freeform: Shape 283">
              <a:extLst>
                <a:ext uri="{FF2B5EF4-FFF2-40B4-BE49-F238E27FC236}">
                  <a16:creationId xmlns:a16="http://schemas.microsoft.com/office/drawing/2014/main" id="{5389A040-E4CC-4CE7-8B9F-40ECA9ACE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85" name="Freeform: Shape 284">
              <a:extLst>
                <a:ext uri="{FF2B5EF4-FFF2-40B4-BE49-F238E27FC236}">
                  <a16:creationId xmlns:a16="http://schemas.microsoft.com/office/drawing/2014/main" id="{1BA51B23-705C-49BE-B606-8A9B623E0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86" name="Freeform: Shape 285">
              <a:extLst>
                <a:ext uri="{FF2B5EF4-FFF2-40B4-BE49-F238E27FC236}">
                  <a16:creationId xmlns:a16="http://schemas.microsoft.com/office/drawing/2014/main" id="{B16EF17A-F451-4B5B-9052-33A9116E9D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87" name="Freeform: Shape 286">
              <a:extLst>
                <a:ext uri="{FF2B5EF4-FFF2-40B4-BE49-F238E27FC236}">
                  <a16:creationId xmlns:a16="http://schemas.microsoft.com/office/drawing/2014/main" id="{1B20B7D1-27D7-4E1A-A317-E9E7A105A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88" name="Freeform: Shape 287">
              <a:extLst>
                <a:ext uri="{FF2B5EF4-FFF2-40B4-BE49-F238E27FC236}">
                  <a16:creationId xmlns:a16="http://schemas.microsoft.com/office/drawing/2014/main" id="{1E3FADAF-FD1D-45B2-A40D-EBDD536E75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89" name="Freeform: Shape 288">
              <a:extLst>
                <a:ext uri="{FF2B5EF4-FFF2-40B4-BE49-F238E27FC236}">
                  <a16:creationId xmlns:a16="http://schemas.microsoft.com/office/drawing/2014/main" id="{301257BA-BCE2-4479-A04F-A9DBFAF92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90" name="Freeform: Shape 289">
              <a:extLst>
                <a:ext uri="{FF2B5EF4-FFF2-40B4-BE49-F238E27FC236}">
                  <a16:creationId xmlns:a16="http://schemas.microsoft.com/office/drawing/2014/main" id="{619D0ABC-04D9-405A-A52F-5EEC01762A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91" name="Freeform: Shape 290">
              <a:extLst>
                <a:ext uri="{FF2B5EF4-FFF2-40B4-BE49-F238E27FC236}">
                  <a16:creationId xmlns:a16="http://schemas.microsoft.com/office/drawing/2014/main" id="{123AE5C7-608A-47A7-B7A1-55662B70BF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92" name="Freeform: Shape 291">
              <a:extLst>
                <a:ext uri="{FF2B5EF4-FFF2-40B4-BE49-F238E27FC236}">
                  <a16:creationId xmlns:a16="http://schemas.microsoft.com/office/drawing/2014/main" id="{957BDA1A-3081-45EB-A31E-3F98EC6DC3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93" name="Freeform: Shape 292">
              <a:extLst>
                <a:ext uri="{FF2B5EF4-FFF2-40B4-BE49-F238E27FC236}">
                  <a16:creationId xmlns:a16="http://schemas.microsoft.com/office/drawing/2014/main" id="{683DDA50-C794-4DC5-8297-CFDEB8DCB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94" name="Freeform: Shape 293">
              <a:extLst>
                <a:ext uri="{FF2B5EF4-FFF2-40B4-BE49-F238E27FC236}">
                  <a16:creationId xmlns:a16="http://schemas.microsoft.com/office/drawing/2014/main" id="{FA42024A-A832-4635-9CE6-B968232CE8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5" name="Freeform: Shape 294">
              <a:extLst>
                <a:ext uri="{FF2B5EF4-FFF2-40B4-BE49-F238E27FC236}">
                  <a16:creationId xmlns:a16="http://schemas.microsoft.com/office/drawing/2014/main" id="{564D00AA-3E68-4F56-80A0-08D5DFFB6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6" name="Freeform: Shape 295">
              <a:extLst>
                <a:ext uri="{FF2B5EF4-FFF2-40B4-BE49-F238E27FC236}">
                  <a16:creationId xmlns:a16="http://schemas.microsoft.com/office/drawing/2014/main" id="{D988A711-E3E8-4172-AFE1-60E93FF10A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7" name="Freeform: Shape 296">
              <a:extLst>
                <a:ext uri="{FF2B5EF4-FFF2-40B4-BE49-F238E27FC236}">
                  <a16:creationId xmlns:a16="http://schemas.microsoft.com/office/drawing/2014/main" id="{7A89FF34-EE34-461C-A3EF-73AC3801B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98" name="Freeform: Shape 297">
              <a:extLst>
                <a:ext uri="{FF2B5EF4-FFF2-40B4-BE49-F238E27FC236}">
                  <a16:creationId xmlns:a16="http://schemas.microsoft.com/office/drawing/2014/main" id="{80D55E43-BE59-444D-B32B-9C0306A126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9" name="Freeform: Shape 298">
              <a:extLst>
                <a:ext uri="{FF2B5EF4-FFF2-40B4-BE49-F238E27FC236}">
                  <a16:creationId xmlns:a16="http://schemas.microsoft.com/office/drawing/2014/main" id="{639C823F-B16B-4DF7-BA6E-0D832AAB27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00" name="Freeform: Shape 299">
              <a:extLst>
                <a:ext uri="{FF2B5EF4-FFF2-40B4-BE49-F238E27FC236}">
                  <a16:creationId xmlns:a16="http://schemas.microsoft.com/office/drawing/2014/main" id="{2E623C08-172F-41EA-90CB-59ED0D583B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1" name="Freeform: Shape 300">
              <a:extLst>
                <a:ext uri="{FF2B5EF4-FFF2-40B4-BE49-F238E27FC236}">
                  <a16:creationId xmlns:a16="http://schemas.microsoft.com/office/drawing/2014/main" id="{94C0577F-0FF9-47D5-8C6D-FC7B4CC31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02" name="Freeform: Shape 301">
              <a:extLst>
                <a:ext uri="{FF2B5EF4-FFF2-40B4-BE49-F238E27FC236}">
                  <a16:creationId xmlns:a16="http://schemas.microsoft.com/office/drawing/2014/main" id="{30C80E9D-7909-4C52-ACAD-80FF874F99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03" name="Freeform: Shape 302">
              <a:extLst>
                <a:ext uri="{FF2B5EF4-FFF2-40B4-BE49-F238E27FC236}">
                  <a16:creationId xmlns:a16="http://schemas.microsoft.com/office/drawing/2014/main" id="{2B9598CE-4E74-4A54-BAB8-59379D2114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304" name="Freeform: Shape 303">
              <a:extLst>
                <a:ext uri="{FF2B5EF4-FFF2-40B4-BE49-F238E27FC236}">
                  <a16:creationId xmlns:a16="http://schemas.microsoft.com/office/drawing/2014/main" id="{E7188EAA-47E1-4B73-8682-C74A0421BE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05" name="Freeform: Shape 304">
              <a:extLst>
                <a:ext uri="{FF2B5EF4-FFF2-40B4-BE49-F238E27FC236}">
                  <a16:creationId xmlns:a16="http://schemas.microsoft.com/office/drawing/2014/main" id="{36900E8B-61F2-411F-B29F-A9CDC6E81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306" name="Freeform: Shape 305">
              <a:extLst>
                <a:ext uri="{FF2B5EF4-FFF2-40B4-BE49-F238E27FC236}">
                  <a16:creationId xmlns:a16="http://schemas.microsoft.com/office/drawing/2014/main" id="{0A25598A-334A-487D-9604-4753EAE81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7" name="Freeform: Shape 306">
              <a:extLst>
                <a:ext uri="{FF2B5EF4-FFF2-40B4-BE49-F238E27FC236}">
                  <a16:creationId xmlns:a16="http://schemas.microsoft.com/office/drawing/2014/main" id="{C8DBE472-045A-491C-AB7C-4153EE2B00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8" name="Freeform: Shape 307">
              <a:extLst>
                <a:ext uri="{FF2B5EF4-FFF2-40B4-BE49-F238E27FC236}">
                  <a16:creationId xmlns:a16="http://schemas.microsoft.com/office/drawing/2014/main" id="{2F6DD374-5D5F-48BB-8135-8F37EE2C23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9" name="Freeform: Shape 308">
              <a:extLst>
                <a:ext uri="{FF2B5EF4-FFF2-40B4-BE49-F238E27FC236}">
                  <a16:creationId xmlns:a16="http://schemas.microsoft.com/office/drawing/2014/main" id="{386B8A5A-00D0-4291-937B-931B3F19CD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10" name="Freeform: Shape 309">
              <a:extLst>
                <a:ext uri="{FF2B5EF4-FFF2-40B4-BE49-F238E27FC236}">
                  <a16:creationId xmlns:a16="http://schemas.microsoft.com/office/drawing/2014/main" id="{89C10BFA-8067-495D-810E-1F4085F7B4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1" name="Freeform: Shape 310">
              <a:extLst>
                <a:ext uri="{FF2B5EF4-FFF2-40B4-BE49-F238E27FC236}">
                  <a16:creationId xmlns:a16="http://schemas.microsoft.com/office/drawing/2014/main" id="{51F94E69-8294-4AB3-A457-3BD4ACF085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12" name="Freeform: Shape 311">
              <a:extLst>
                <a:ext uri="{FF2B5EF4-FFF2-40B4-BE49-F238E27FC236}">
                  <a16:creationId xmlns:a16="http://schemas.microsoft.com/office/drawing/2014/main" id="{AD2859C5-45C5-4EE2-8272-0FA7A0235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3" name="Freeform: Shape 312">
              <a:extLst>
                <a:ext uri="{FF2B5EF4-FFF2-40B4-BE49-F238E27FC236}">
                  <a16:creationId xmlns:a16="http://schemas.microsoft.com/office/drawing/2014/main" id="{14AFB321-1B9D-41AF-9686-8C689A3F4B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14" name="Freeform: Shape 313">
              <a:extLst>
                <a:ext uri="{FF2B5EF4-FFF2-40B4-BE49-F238E27FC236}">
                  <a16:creationId xmlns:a16="http://schemas.microsoft.com/office/drawing/2014/main" id="{5C4403F4-D893-4E4C-8DFE-E79AE6A62A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5" name="Freeform: Shape 314">
              <a:extLst>
                <a:ext uri="{FF2B5EF4-FFF2-40B4-BE49-F238E27FC236}">
                  <a16:creationId xmlns:a16="http://schemas.microsoft.com/office/drawing/2014/main" id="{BA894316-677B-4B51-AF19-0D3FAF96A7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16" name="Freeform: Shape 315">
              <a:extLst>
                <a:ext uri="{FF2B5EF4-FFF2-40B4-BE49-F238E27FC236}">
                  <a16:creationId xmlns:a16="http://schemas.microsoft.com/office/drawing/2014/main" id="{07FDE9AD-8F5A-44B0-AC7E-30148150D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17" name="Freeform: Shape 316">
              <a:extLst>
                <a:ext uri="{FF2B5EF4-FFF2-40B4-BE49-F238E27FC236}">
                  <a16:creationId xmlns:a16="http://schemas.microsoft.com/office/drawing/2014/main" id="{A4D0E6BA-489D-4EA4-994E-225F7D078B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18" name="Freeform: Shape 317">
              <a:extLst>
                <a:ext uri="{FF2B5EF4-FFF2-40B4-BE49-F238E27FC236}">
                  <a16:creationId xmlns:a16="http://schemas.microsoft.com/office/drawing/2014/main" id="{7EDFBCCB-EC92-4860-BBDB-2EC6355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9" name="Freeform: Shape 318">
              <a:extLst>
                <a:ext uri="{FF2B5EF4-FFF2-40B4-BE49-F238E27FC236}">
                  <a16:creationId xmlns:a16="http://schemas.microsoft.com/office/drawing/2014/main" id="{459DBA8E-2EB0-4C51-A161-2C595B89D4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0" name="Freeform: Shape 319">
              <a:extLst>
                <a:ext uri="{FF2B5EF4-FFF2-40B4-BE49-F238E27FC236}">
                  <a16:creationId xmlns:a16="http://schemas.microsoft.com/office/drawing/2014/main" id="{FB1BA285-9A95-49B7-A098-F38400D92B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21" name="Freeform: Shape 320">
              <a:extLst>
                <a:ext uri="{FF2B5EF4-FFF2-40B4-BE49-F238E27FC236}">
                  <a16:creationId xmlns:a16="http://schemas.microsoft.com/office/drawing/2014/main" id="{D29C405E-90F5-4AB5-8B5F-3CA2F1815A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22" name="Freeform: Shape 321">
              <a:extLst>
                <a:ext uri="{FF2B5EF4-FFF2-40B4-BE49-F238E27FC236}">
                  <a16:creationId xmlns:a16="http://schemas.microsoft.com/office/drawing/2014/main" id="{F7214FFD-3321-412F-9CA5-4BC6E874F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23" name="Freeform: Shape 322">
              <a:extLst>
                <a:ext uri="{FF2B5EF4-FFF2-40B4-BE49-F238E27FC236}">
                  <a16:creationId xmlns:a16="http://schemas.microsoft.com/office/drawing/2014/main" id="{5F16C3D8-64A1-443D-92A7-EA97518A63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24" name="Freeform: Shape 323">
              <a:extLst>
                <a:ext uri="{FF2B5EF4-FFF2-40B4-BE49-F238E27FC236}">
                  <a16:creationId xmlns:a16="http://schemas.microsoft.com/office/drawing/2014/main" id="{7E4EFAB9-436A-4B6B-A16B-8DA3F614A8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25" name="Freeform: Shape 324">
              <a:extLst>
                <a:ext uri="{FF2B5EF4-FFF2-40B4-BE49-F238E27FC236}">
                  <a16:creationId xmlns:a16="http://schemas.microsoft.com/office/drawing/2014/main" id="{037DDFC3-D7A5-443D-8417-D723296DA7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26" name="Freeform: Shape 325">
              <a:extLst>
                <a:ext uri="{FF2B5EF4-FFF2-40B4-BE49-F238E27FC236}">
                  <a16:creationId xmlns:a16="http://schemas.microsoft.com/office/drawing/2014/main" id="{253AC142-F4B4-47E8-BBEE-F7D0F8547F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27" name="Freeform: Shape 326">
              <a:extLst>
                <a:ext uri="{FF2B5EF4-FFF2-40B4-BE49-F238E27FC236}">
                  <a16:creationId xmlns:a16="http://schemas.microsoft.com/office/drawing/2014/main" id="{890AAA82-94E2-41D0-AE92-9C87195CCB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28" name="Freeform: Shape 327">
              <a:extLst>
                <a:ext uri="{FF2B5EF4-FFF2-40B4-BE49-F238E27FC236}">
                  <a16:creationId xmlns:a16="http://schemas.microsoft.com/office/drawing/2014/main" id="{FD33B856-EF4E-40FC-BDA0-9E26203D03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29" name="Freeform: Shape 328">
              <a:extLst>
                <a:ext uri="{FF2B5EF4-FFF2-40B4-BE49-F238E27FC236}">
                  <a16:creationId xmlns:a16="http://schemas.microsoft.com/office/drawing/2014/main" id="{24AEBF58-C8A2-4D00-9AFB-B5012AEA36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0" name="Freeform: Shape 329">
              <a:extLst>
                <a:ext uri="{FF2B5EF4-FFF2-40B4-BE49-F238E27FC236}">
                  <a16:creationId xmlns:a16="http://schemas.microsoft.com/office/drawing/2014/main" id="{21270E55-4211-4529-BDC3-29B80BDF5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1" name="Freeform: Shape 330">
              <a:extLst>
                <a:ext uri="{FF2B5EF4-FFF2-40B4-BE49-F238E27FC236}">
                  <a16:creationId xmlns:a16="http://schemas.microsoft.com/office/drawing/2014/main" id="{16DD7E91-EFBB-4DD7-B30F-4A13C20BED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2" name="Freeform: Shape 331">
              <a:extLst>
                <a:ext uri="{FF2B5EF4-FFF2-40B4-BE49-F238E27FC236}">
                  <a16:creationId xmlns:a16="http://schemas.microsoft.com/office/drawing/2014/main" id="{96260F31-66FB-4E2C-801E-701C2B859A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3" name="Freeform: Shape 332">
              <a:extLst>
                <a:ext uri="{FF2B5EF4-FFF2-40B4-BE49-F238E27FC236}">
                  <a16:creationId xmlns:a16="http://schemas.microsoft.com/office/drawing/2014/main" id="{B5FEE1C9-3961-4400-AD3E-B5AD93A474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4" name="Freeform: Shape 333">
              <a:extLst>
                <a:ext uri="{FF2B5EF4-FFF2-40B4-BE49-F238E27FC236}">
                  <a16:creationId xmlns:a16="http://schemas.microsoft.com/office/drawing/2014/main" id="{34E1BE05-269F-4A13-99FE-2A973A0E77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35" name="Freeform: Shape 334">
              <a:extLst>
                <a:ext uri="{FF2B5EF4-FFF2-40B4-BE49-F238E27FC236}">
                  <a16:creationId xmlns:a16="http://schemas.microsoft.com/office/drawing/2014/main" id="{2D591FBD-65C6-46C4-AF19-875D652DCF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6" name="Freeform: Shape 335">
              <a:extLst>
                <a:ext uri="{FF2B5EF4-FFF2-40B4-BE49-F238E27FC236}">
                  <a16:creationId xmlns:a16="http://schemas.microsoft.com/office/drawing/2014/main" id="{85F7E635-CB45-4346-BBFB-10FF0576AF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7" name="Freeform: Shape 336">
              <a:extLst>
                <a:ext uri="{FF2B5EF4-FFF2-40B4-BE49-F238E27FC236}">
                  <a16:creationId xmlns:a16="http://schemas.microsoft.com/office/drawing/2014/main" id="{3BDAC885-F0B3-4D66-8587-4384652983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8" name="Freeform: Shape 337">
              <a:extLst>
                <a:ext uri="{FF2B5EF4-FFF2-40B4-BE49-F238E27FC236}">
                  <a16:creationId xmlns:a16="http://schemas.microsoft.com/office/drawing/2014/main" id="{3427A7E1-71C9-42CC-9CAF-53642DC4D0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9" name="Freeform: Shape 338">
              <a:extLst>
                <a:ext uri="{FF2B5EF4-FFF2-40B4-BE49-F238E27FC236}">
                  <a16:creationId xmlns:a16="http://schemas.microsoft.com/office/drawing/2014/main" id="{20BF60C4-2E5D-473E-96B6-D22BB8536F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0" name="Freeform: Shape 339">
              <a:extLst>
                <a:ext uri="{FF2B5EF4-FFF2-40B4-BE49-F238E27FC236}">
                  <a16:creationId xmlns:a16="http://schemas.microsoft.com/office/drawing/2014/main" id="{C4703732-1088-4448-ACC0-D8BD901B2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1" name="Freeform: Shape 340">
              <a:extLst>
                <a:ext uri="{FF2B5EF4-FFF2-40B4-BE49-F238E27FC236}">
                  <a16:creationId xmlns:a16="http://schemas.microsoft.com/office/drawing/2014/main" id="{6777D706-23BF-4962-98D3-D5AE7DF4E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42" name="Freeform: Shape 341">
              <a:extLst>
                <a:ext uri="{FF2B5EF4-FFF2-40B4-BE49-F238E27FC236}">
                  <a16:creationId xmlns:a16="http://schemas.microsoft.com/office/drawing/2014/main" id="{783FF777-4C59-44D0-9441-2B40E0A70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3" name="Freeform: Shape 342">
              <a:extLst>
                <a:ext uri="{FF2B5EF4-FFF2-40B4-BE49-F238E27FC236}">
                  <a16:creationId xmlns:a16="http://schemas.microsoft.com/office/drawing/2014/main" id="{2037F33C-65F4-44B6-9CB2-D32D1552C6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4" name="Freeform: Shape 343">
              <a:extLst>
                <a:ext uri="{FF2B5EF4-FFF2-40B4-BE49-F238E27FC236}">
                  <a16:creationId xmlns:a16="http://schemas.microsoft.com/office/drawing/2014/main" id="{E73BA403-F3FD-4D76-A516-5698375D6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5" name="Freeform: Shape 344">
              <a:extLst>
                <a:ext uri="{FF2B5EF4-FFF2-40B4-BE49-F238E27FC236}">
                  <a16:creationId xmlns:a16="http://schemas.microsoft.com/office/drawing/2014/main" id="{0AF0D29B-415A-4327-A4B4-B5DC8F0AC0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6" name="Freeform: Shape 345">
              <a:extLst>
                <a:ext uri="{FF2B5EF4-FFF2-40B4-BE49-F238E27FC236}">
                  <a16:creationId xmlns:a16="http://schemas.microsoft.com/office/drawing/2014/main" id="{374A9388-F55E-4F94-817D-5BFF0B59E7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7" name="Freeform: Shape 346">
              <a:extLst>
                <a:ext uri="{FF2B5EF4-FFF2-40B4-BE49-F238E27FC236}">
                  <a16:creationId xmlns:a16="http://schemas.microsoft.com/office/drawing/2014/main" id="{30C52183-F223-4E0A-B713-C91589CEB8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8" name="Freeform: Shape 347">
              <a:extLst>
                <a:ext uri="{FF2B5EF4-FFF2-40B4-BE49-F238E27FC236}">
                  <a16:creationId xmlns:a16="http://schemas.microsoft.com/office/drawing/2014/main" id="{A6BEE030-DC6B-4CB1-A01B-95CC82552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49" name="Freeform: Shape 348">
              <a:extLst>
                <a:ext uri="{FF2B5EF4-FFF2-40B4-BE49-F238E27FC236}">
                  <a16:creationId xmlns:a16="http://schemas.microsoft.com/office/drawing/2014/main" id="{2D41CF67-37BB-443C-85CF-2A05174FD4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50" name="Freeform: Shape 349">
              <a:extLst>
                <a:ext uri="{FF2B5EF4-FFF2-40B4-BE49-F238E27FC236}">
                  <a16:creationId xmlns:a16="http://schemas.microsoft.com/office/drawing/2014/main" id="{65A449CF-396F-45B8-B268-6824A4E89B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1" name="Freeform: Shape 350">
              <a:extLst>
                <a:ext uri="{FF2B5EF4-FFF2-40B4-BE49-F238E27FC236}">
                  <a16:creationId xmlns:a16="http://schemas.microsoft.com/office/drawing/2014/main" id="{9C20A7EF-7013-4D6C-ADD8-868A931DF2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2" name="Freeform: Shape 351">
              <a:extLst>
                <a:ext uri="{FF2B5EF4-FFF2-40B4-BE49-F238E27FC236}">
                  <a16:creationId xmlns:a16="http://schemas.microsoft.com/office/drawing/2014/main" id="{F787692C-3BA9-4D4D-82F8-E497797AAE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3" name="Freeform: Shape 352">
              <a:extLst>
                <a:ext uri="{FF2B5EF4-FFF2-40B4-BE49-F238E27FC236}">
                  <a16:creationId xmlns:a16="http://schemas.microsoft.com/office/drawing/2014/main" id="{A6D539D6-A55E-40F5-83AC-A77340524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54" name="Freeform: Shape 353">
              <a:extLst>
                <a:ext uri="{FF2B5EF4-FFF2-40B4-BE49-F238E27FC236}">
                  <a16:creationId xmlns:a16="http://schemas.microsoft.com/office/drawing/2014/main" id="{D4D7922F-CA55-4202-B99F-ED303E7044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5" name="Freeform: Shape 354">
              <a:extLst>
                <a:ext uri="{FF2B5EF4-FFF2-40B4-BE49-F238E27FC236}">
                  <a16:creationId xmlns:a16="http://schemas.microsoft.com/office/drawing/2014/main" id="{4120C846-A602-4B6C-9C07-11D2B0F8A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56" name="Freeform: Shape 355">
              <a:extLst>
                <a:ext uri="{FF2B5EF4-FFF2-40B4-BE49-F238E27FC236}">
                  <a16:creationId xmlns:a16="http://schemas.microsoft.com/office/drawing/2014/main" id="{84B5D527-4684-45F5-84CE-73642492DB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57" name="Freeform: Shape 356">
              <a:extLst>
                <a:ext uri="{FF2B5EF4-FFF2-40B4-BE49-F238E27FC236}">
                  <a16:creationId xmlns:a16="http://schemas.microsoft.com/office/drawing/2014/main" id="{FF31CF21-8169-4D45-A115-9CF8D37189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358" name="Freeform: Shape 357">
              <a:extLst>
                <a:ext uri="{FF2B5EF4-FFF2-40B4-BE49-F238E27FC236}">
                  <a16:creationId xmlns:a16="http://schemas.microsoft.com/office/drawing/2014/main" id="{DA8762B9-9CD8-4676-93F5-6C9358A94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59" name="Freeform: Shape 358">
              <a:extLst>
                <a:ext uri="{FF2B5EF4-FFF2-40B4-BE49-F238E27FC236}">
                  <a16:creationId xmlns:a16="http://schemas.microsoft.com/office/drawing/2014/main" id="{A183E80A-70D1-4F52-A92D-D396648CCB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360" name="Freeform: Shape 359">
              <a:extLst>
                <a:ext uri="{FF2B5EF4-FFF2-40B4-BE49-F238E27FC236}">
                  <a16:creationId xmlns:a16="http://schemas.microsoft.com/office/drawing/2014/main" id="{83FBB0F7-E17E-4890-9B66-3625BA1468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61" name="Freeform: Shape 360">
              <a:extLst>
                <a:ext uri="{FF2B5EF4-FFF2-40B4-BE49-F238E27FC236}">
                  <a16:creationId xmlns:a16="http://schemas.microsoft.com/office/drawing/2014/main" id="{708E7BF1-2D4D-44AB-A5CC-0ED91B846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62" name="Freeform: Shape 361">
              <a:extLst>
                <a:ext uri="{FF2B5EF4-FFF2-40B4-BE49-F238E27FC236}">
                  <a16:creationId xmlns:a16="http://schemas.microsoft.com/office/drawing/2014/main" id="{4B468C4E-6F63-4172-AE1F-8965744DBC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63" name="Freeform: Shape 362">
              <a:extLst>
                <a:ext uri="{FF2B5EF4-FFF2-40B4-BE49-F238E27FC236}">
                  <a16:creationId xmlns:a16="http://schemas.microsoft.com/office/drawing/2014/main" id="{974C7149-F567-4D55-8F48-511DCF3A81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64" name="Freeform: Shape 363">
              <a:extLst>
                <a:ext uri="{FF2B5EF4-FFF2-40B4-BE49-F238E27FC236}">
                  <a16:creationId xmlns:a16="http://schemas.microsoft.com/office/drawing/2014/main" id="{54A551FA-7E10-4D28-9A10-B9A06C0780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65" name="Freeform: Shape 364">
              <a:extLst>
                <a:ext uri="{FF2B5EF4-FFF2-40B4-BE49-F238E27FC236}">
                  <a16:creationId xmlns:a16="http://schemas.microsoft.com/office/drawing/2014/main" id="{1D04F3C0-CE2C-4B8D-A5BD-0E994FD8D9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66" name="Freeform: Shape 365">
              <a:extLst>
                <a:ext uri="{FF2B5EF4-FFF2-40B4-BE49-F238E27FC236}">
                  <a16:creationId xmlns:a16="http://schemas.microsoft.com/office/drawing/2014/main" id="{D2EA9230-DD52-48A9-B268-56744EA506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67" name="Freeform: Shape 366">
              <a:extLst>
                <a:ext uri="{FF2B5EF4-FFF2-40B4-BE49-F238E27FC236}">
                  <a16:creationId xmlns:a16="http://schemas.microsoft.com/office/drawing/2014/main" id="{043A05F5-A8CF-4D01-AF12-95D1ECAE46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68" name="Freeform: Shape 367">
              <a:extLst>
                <a:ext uri="{FF2B5EF4-FFF2-40B4-BE49-F238E27FC236}">
                  <a16:creationId xmlns:a16="http://schemas.microsoft.com/office/drawing/2014/main" id="{1F47C6BC-BD1A-4291-B018-05E5A72E4B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69" name="Freeform: Shape 368">
              <a:extLst>
                <a:ext uri="{FF2B5EF4-FFF2-40B4-BE49-F238E27FC236}">
                  <a16:creationId xmlns:a16="http://schemas.microsoft.com/office/drawing/2014/main" id="{E5B89844-FD17-4048-A3F5-35E390C6E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70" name="Freeform: Shape 369">
              <a:extLst>
                <a:ext uri="{FF2B5EF4-FFF2-40B4-BE49-F238E27FC236}">
                  <a16:creationId xmlns:a16="http://schemas.microsoft.com/office/drawing/2014/main" id="{B5593F34-8B0E-4D34-9781-B594E2F5D7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71" name="Freeform: Shape 370">
              <a:extLst>
                <a:ext uri="{FF2B5EF4-FFF2-40B4-BE49-F238E27FC236}">
                  <a16:creationId xmlns:a16="http://schemas.microsoft.com/office/drawing/2014/main" id="{4428E4BB-2263-4D19-8254-C9B54B8565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72" name="Freeform: Shape 371">
              <a:extLst>
                <a:ext uri="{FF2B5EF4-FFF2-40B4-BE49-F238E27FC236}">
                  <a16:creationId xmlns:a16="http://schemas.microsoft.com/office/drawing/2014/main" id="{2366216E-6EA2-4872-8370-C5EC22520F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73" name="Freeform: Shape 372">
              <a:extLst>
                <a:ext uri="{FF2B5EF4-FFF2-40B4-BE49-F238E27FC236}">
                  <a16:creationId xmlns:a16="http://schemas.microsoft.com/office/drawing/2014/main" id="{D66F8E3F-BF33-4F99-A1F0-EB5885BF2C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74" name="Freeform: Shape 373">
              <a:extLst>
                <a:ext uri="{FF2B5EF4-FFF2-40B4-BE49-F238E27FC236}">
                  <a16:creationId xmlns:a16="http://schemas.microsoft.com/office/drawing/2014/main" id="{EB506747-ED9D-43EA-BD67-DF7971849E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75" name="Freeform: Shape 374">
              <a:extLst>
                <a:ext uri="{FF2B5EF4-FFF2-40B4-BE49-F238E27FC236}">
                  <a16:creationId xmlns:a16="http://schemas.microsoft.com/office/drawing/2014/main" id="{AC803CE8-FFF7-40EA-AF62-102724C324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76" name="Freeform: Shape 375">
              <a:extLst>
                <a:ext uri="{FF2B5EF4-FFF2-40B4-BE49-F238E27FC236}">
                  <a16:creationId xmlns:a16="http://schemas.microsoft.com/office/drawing/2014/main" id="{7EF6FFCA-06CC-4395-AEB0-425719A42D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77" name="Freeform: Shape 376">
              <a:extLst>
                <a:ext uri="{FF2B5EF4-FFF2-40B4-BE49-F238E27FC236}">
                  <a16:creationId xmlns:a16="http://schemas.microsoft.com/office/drawing/2014/main" id="{0D95F285-AAC0-4F32-8665-2677878BD3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78" name="Freeform: Shape 377">
              <a:extLst>
                <a:ext uri="{FF2B5EF4-FFF2-40B4-BE49-F238E27FC236}">
                  <a16:creationId xmlns:a16="http://schemas.microsoft.com/office/drawing/2014/main" id="{8DFCCA2E-BF12-4D26-A5A4-A03387546A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79" name="Freeform: Shape 378">
              <a:extLst>
                <a:ext uri="{FF2B5EF4-FFF2-40B4-BE49-F238E27FC236}">
                  <a16:creationId xmlns:a16="http://schemas.microsoft.com/office/drawing/2014/main" id="{2ABEAC60-6AC3-4D6A-95F9-2E79F6BE00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0" name="Freeform: Shape 379">
              <a:extLst>
                <a:ext uri="{FF2B5EF4-FFF2-40B4-BE49-F238E27FC236}">
                  <a16:creationId xmlns:a16="http://schemas.microsoft.com/office/drawing/2014/main" id="{FA6015B7-49FE-4729-B2F4-585F0F305F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1" name="Freeform: Shape 380">
              <a:extLst>
                <a:ext uri="{FF2B5EF4-FFF2-40B4-BE49-F238E27FC236}">
                  <a16:creationId xmlns:a16="http://schemas.microsoft.com/office/drawing/2014/main" id="{D611DEB1-76FE-4625-9449-88E52D15F4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82" name="Freeform: Shape 381">
              <a:extLst>
                <a:ext uri="{FF2B5EF4-FFF2-40B4-BE49-F238E27FC236}">
                  <a16:creationId xmlns:a16="http://schemas.microsoft.com/office/drawing/2014/main" id="{97F031C1-1AA7-4CA7-ADD3-E0577626E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3" name="Freeform: Shape 382">
              <a:extLst>
                <a:ext uri="{FF2B5EF4-FFF2-40B4-BE49-F238E27FC236}">
                  <a16:creationId xmlns:a16="http://schemas.microsoft.com/office/drawing/2014/main" id="{96F5D0CB-22E6-4536-8403-F42527F31F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84" name="Freeform: Shape 383">
              <a:extLst>
                <a:ext uri="{FF2B5EF4-FFF2-40B4-BE49-F238E27FC236}">
                  <a16:creationId xmlns:a16="http://schemas.microsoft.com/office/drawing/2014/main" id="{A32718AB-7401-4F66-9C77-E06C3CF7CD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5" name="Freeform: Shape 384">
              <a:extLst>
                <a:ext uri="{FF2B5EF4-FFF2-40B4-BE49-F238E27FC236}">
                  <a16:creationId xmlns:a16="http://schemas.microsoft.com/office/drawing/2014/main" id="{85B6B5F1-D1E4-45A3-8117-348D02D2A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6" name="Freeform: Shape 385">
              <a:extLst>
                <a:ext uri="{FF2B5EF4-FFF2-40B4-BE49-F238E27FC236}">
                  <a16:creationId xmlns:a16="http://schemas.microsoft.com/office/drawing/2014/main" id="{534869FD-184C-42DB-B9DA-293DB67E5E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7" name="Freeform: Shape 386">
              <a:extLst>
                <a:ext uri="{FF2B5EF4-FFF2-40B4-BE49-F238E27FC236}">
                  <a16:creationId xmlns:a16="http://schemas.microsoft.com/office/drawing/2014/main" id="{A781504F-CAFD-4201-B288-8B4A809B43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388" name="Freeform: Shape 387">
              <a:extLst>
                <a:ext uri="{FF2B5EF4-FFF2-40B4-BE49-F238E27FC236}">
                  <a16:creationId xmlns:a16="http://schemas.microsoft.com/office/drawing/2014/main" id="{D9FC8348-2BA6-4631-8AA7-D63CD898C5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9" name="Freeform: Shape 388">
              <a:extLst>
                <a:ext uri="{FF2B5EF4-FFF2-40B4-BE49-F238E27FC236}">
                  <a16:creationId xmlns:a16="http://schemas.microsoft.com/office/drawing/2014/main" id="{C1AF95A2-64EA-45E2-A43B-1EBD56910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390" name="Freeform: Shape 389">
              <a:extLst>
                <a:ext uri="{FF2B5EF4-FFF2-40B4-BE49-F238E27FC236}">
                  <a16:creationId xmlns:a16="http://schemas.microsoft.com/office/drawing/2014/main" id="{CFC80050-240D-434A-BFCB-DE4DA4FAFB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sp>
        <p:nvSpPr>
          <p:cNvPr id="3" name="Content Placeholder 2">
            <a:extLst>
              <a:ext uri="{FF2B5EF4-FFF2-40B4-BE49-F238E27FC236}">
                <a16:creationId xmlns:a16="http://schemas.microsoft.com/office/drawing/2014/main" id="{EAD4E35C-0E7C-2A97-4667-D61E4C2418D6}"/>
              </a:ext>
            </a:extLst>
          </p:cNvPr>
          <p:cNvSpPr>
            <a:spLocks noGrp="1"/>
          </p:cNvSpPr>
          <p:nvPr>
            <p:ph idx="1"/>
          </p:nvPr>
        </p:nvSpPr>
        <p:spPr>
          <a:xfrm>
            <a:off x="6477270" y="1130846"/>
            <a:ext cx="4974771" cy="4351338"/>
          </a:xfrm>
        </p:spPr>
        <p:txBody>
          <a:bodyPr>
            <a:normAutofit/>
          </a:bodyPr>
          <a:lstStyle/>
          <a:p>
            <a:pPr marL="0" indent="0">
              <a:buNone/>
            </a:pPr>
            <a:r>
              <a:rPr lang="en-US" dirty="0">
                <a:solidFill>
                  <a:schemeClr val="bg1"/>
                </a:solidFill>
              </a:rPr>
              <a:t>The Tensor Flow model using the grid search best parameters was chosen for the final model.</a:t>
            </a:r>
          </a:p>
          <a:p>
            <a:pPr marL="0" indent="0">
              <a:buNone/>
            </a:pPr>
            <a:r>
              <a:rPr lang="en-US" dirty="0">
                <a:solidFill>
                  <a:schemeClr val="bg1"/>
                </a:solidFill>
              </a:rPr>
              <a:t>It had the highest AUC for the cell types</a:t>
            </a:r>
          </a:p>
          <a:p>
            <a:pPr marL="0" indent="0">
              <a:buNone/>
            </a:pPr>
            <a:r>
              <a:rPr lang="en-US" dirty="0">
                <a:solidFill>
                  <a:schemeClr val="bg1"/>
                </a:solidFill>
              </a:rPr>
              <a:t>It had the best overall metrics</a:t>
            </a:r>
          </a:p>
        </p:txBody>
      </p:sp>
    </p:spTree>
    <p:extLst>
      <p:ext uri="{BB962C8B-B14F-4D97-AF65-F5344CB8AC3E}">
        <p14:creationId xmlns:p14="http://schemas.microsoft.com/office/powerpoint/2010/main" val="549315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4" name="Oval 73">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2E8A7D-6FCE-153E-FD91-8B99CEEB4203}"/>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Further Study</a:t>
            </a:r>
          </a:p>
        </p:txBody>
      </p:sp>
      <p:grpSp>
        <p:nvGrpSpPr>
          <p:cNvPr id="77" name="Group 76">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78" name="Freeform: Shape 77">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79" name="Freeform: Shape 78">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8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81"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82" name="Oval 81">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83" name="Oval 82">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E83F6F-324C-A77D-9F59-0205CE6B72E3}"/>
              </a:ext>
            </a:extLst>
          </p:cNvPr>
          <p:cNvSpPr>
            <a:spLocks noGrp="1"/>
          </p:cNvSpPr>
          <p:nvPr>
            <p:ph idx="1"/>
          </p:nvPr>
        </p:nvSpPr>
        <p:spPr>
          <a:xfrm>
            <a:off x="6234868" y="1130846"/>
            <a:ext cx="5217173" cy="4351338"/>
          </a:xfrm>
        </p:spPr>
        <p:txBody>
          <a:bodyPr>
            <a:normAutofit/>
          </a:bodyPr>
          <a:lstStyle/>
          <a:p>
            <a:r>
              <a:rPr lang="en-US" dirty="0">
                <a:solidFill>
                  <a:schemeClr val="bg1"/>
                </a:solidFill>
              </a:rPr>
              <a:t>Use original full-sized images</a:t>
            </a:r>
          </a:p>
          <a:p>
            <a:r>
              <a:rPr lang="en-US" dirty="0">
                <a:solidFill>
                  <a:schemeClr val="bg1"/>
                </a:solidFill>
              </a:rPr>
              <a:t>Use transformed images</a:t>
            </a:r>
          </a:p>
          <a:p>
            <a:r>
              <a:rPr lang="en-US" dirty="0">
                <a:solidFill>
                  <a:schemeClr val="bg1"/>
                </a:solidFill>
              </a:rPr>
              <a:t>Use images from other microscope types and stains</a:t>
            </a:r>
          </a:p>
        </p:txBody>
      </p:sp>
      <p:grpSp>
        <p:nvGrpSpPr>
          <p:cNvPr id="84"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85" name="Freeform: Shape 84">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0724639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TotalTime>
  <Words>1040</Words>
  <Application>Microsoft Office PowerPoint</Application>
  <PresentationFormat>Widescreen</PresentationFormat>
  <Paragraphs>294</Paragraphs>
  <Slides>14</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Aptos Narrow</vt:lpstr>
      <vt:lpstr>Arial</vt:lpstr>
      <vt:lpstr>Office Theme</vt:lpstr>
      <vt:lpstr>WBC Image Recognition</vt:lpstr>
      <vt:lpstr>WBCs Imaging Medical Importance</vt:lpstr>
      <vt:lpstr>Importance of Automated WBC Image Recognition</vt:lpstr>
      <vt:lpstr>WBC Types in Data Set</vt:lpstr>
      <vt:lpstr>Data Set</vt:lpstr>
      <vt:lpstr>Data Wrangling</vt:lpstr>
      <vt:lpstr>Modeling</vt:lpstr>
      <vt:lpstr>Model Metrics</vt:lpstr>
      <vt:lpstr>ROC AUC Curves KNN and RF</vt:lpstr>
      <vt:lpstr>ROC AUC Curves Tensor Flow</vt:lpstr>
      <vt:lpstr>Confusion Matrixes KNN and RF</vt:lpstr>
      <vt:lpstr>Confusion Matrix Tensor Flow</vt:lpstr>
      <vt:lpstr>Conclusion</vt:lpstr>
      <vt:lpstr>Further Study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jeremy jex</dc:creator>
  <cp:lastModifiedBy>jeremy jex</cp:lastModifiedBy>
  <cp:revision>2</cp:revision>
  <dcterms:created xsi:type="dcterms:W3CDTF">2025-10-06T00:19:12Z</dcterms:created>
  <dcterms:modified xsi:type="dcterms:W3CDTF">2025-10-06T01:44:32Z</dcterms:modified>
</cp:coreProperties>
</file>